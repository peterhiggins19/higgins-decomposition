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settle. Look at the room. Acknowledge the conference. Authorship line is now corrected per HUF-STD-001 — human-only on the title slide; AI Use Declaration is on the final slide where it belongs.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Settle. Open with their geometry, not yours. By the end of this beat the room knows you are operating inside Aitchison geometry, not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MC-4 in three-conjunct form — memorise word-for-word: 'natively in Aitchison geometry, with formal change detection, at the carrier level — combined into one observable stack.' 30 seconds for the claim. The audience now knows what is being claimed and that four ways to defeat it are coming in Beat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Explain the operators in their language. Blue = classical CoDa. Gold = small supporting metrics that ship alongside. The L2 → TV correction note is the moment trust starts forming — that trust carries you through Beat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Japan is the easiest case — everyone knows the story. Step-Δ Aitchison spike at 2011–2012, ~3× over neighbouring years. 17 helmsman flips. Post-shock trajectory is complex, not just a clean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minutes. The talk's centre of gravity. Read the null caveat directly off the slide — do not paraphrase. The visibility of the caveat is what earns the right to ask Q3 in Beat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Name the step-change, the carrier (coal), the 15 flips. Move on. The UK closes the triptych and shows the protocol distinguishes archetypes.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 CHN GBR IND JPN — memorise word-for-word. The four non-firing countries matter — they show the protocol discriminates, does not over-fire, does not just produce a positive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You actually want these answers — you do not have them. Q3 is the most methodologically consequential — order Q&amp;A Q3-first.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Metric (20 sec) — INV-050. Case (20 sec) — INV-051. Prior-art (60 sec) — name Morais Thomas-Agnan &amp; Simioni 2017 and Arata &amp; Onozaki 2017. Category (30 sec) — humility, no preconceived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The work is open. The repositories are public. The closing line is yours: 'The talk is an ascent waypoint, not the summit.' Thank you. I'll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backstop. If the room asks any of these, you have prepared material on disk. The slide is a reference, not a teaching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slide. AI Use Declaration per HUF-STD-001. Audience members who care will read it. The slide doesn't need to be delivered verbally — it's the documentary record. If anyone asks, point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Compositional monitoring of energy-mix drift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  <a:latin typeface="Calibri"/>
              </a:rPr>
              <a:t>A compositional change-detection protocol read natively in Aitchison geometry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2240280"/>
            <a:ext cx="3657600" cy="0"/>
          </a:xfrm>
          <a:prstGeom prst="line">
            <a:avLst/>
          </a:prstGeom>
          <a:ln w="31750">
            <a:solidFill>
              <a:srgbClr val="F0C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F0C020"/>
                </a:solidFill>
                <a:latin typeface="Calibri"/>
              </a:rPr>
              <a:t>CoDaWork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CCCCCC"/>
                </a:solidFill>
                <a:latin typeface="Calibri"/>
              </a:rPr>
              <a:t>11th International Workshop on Compositional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Coimbra, Portugal  ·  1–5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P. Higgins   ·   Independent researcher   ·   Rogue Wave Audio, Markham, Ontario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AI Use Declaration — final slide  ·  HUF-STD-001 compliant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1 — The simplex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"Energy generation is a composition."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A country's electricity mix is a vector of carrier shares that sums to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CCCCCC"/>
                </a:solidFill>
                <a:latin typeface="Calibri"/>
              </a:rPr>
              <a:t>Carriers (EMBER · 9 on the 8-simplex):   coal · gas · oil · nuclear · hydro · wind · solar · bioenergy · other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3429000"/>
            <a:ext cx="3657600" cy="0"/>
          </a:xfrm>
          <a:prstGeom prst="line">
            <a:avLst/>
          </a:prstGeom>
          <a:ln w="19050">
            <a:solidFill>
              <a:srgbClr val="F0C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Closure, perturbation, Aitchison distance, the simplex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the geometry on which this entire talk operates.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1 / 10  ·  1 min  ·  the handshake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18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6E6E"/>
                </a:solidFill>
                <a:latin typeface="Calibri"/>
              </a:rPr>
              <a:t>Window  2000–2025   ·   Data:  EMBER  (CC BY 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2 — The data and the central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"No monitoring framework combines all three conjuncts."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06040" cy="2103120"/>
          </a:xfrm>
          <a:prstGeom prst="rect">
            <a:avLst/>
          </a:prstGeom>
          <a:solidFill>
            <a:srgbClr val="2A2A3A"/>
          </a:solidFill>
          <a:ln w="1905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23317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Aitchison-native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2331720" cy="11887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Read in the simplex's own geometry — closure, CLR, ILR-Helmert.  Not approximated; not lifted into a Euclidean ambient.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828800"/>
            <a:ext cx="2606040" cy="2103120"/>
          </a:xfrm>
          <a:prstGeom prst="rect">
            <a:avLst/>
          </a:prstGeom>
          <a:solidFill>
            <a:srgbClr val="2A2A3A"/>
          </a:solidFill>
          <a:ln w="1905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83280" y="1965960"/>
            <a:ext cx="23317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Formal change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06040"/>
            <a:ext cx="2331720" cy="11887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Metric / pivot displacement quantified with TV distance and K-eff.  Trajectory captured, not just snapshot.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2606040" cy="2103120"/>
          </a:xfrm>
          <a:prstGeom prst="rect">
            <a:avLst/>
          </a:prstGeom>
          <a:solidFill>
            <a:srgbClr val="2A2A3A"/>
          </a:solidFill>
          <a:ln w="1905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72200" y="1965960"/>
            <a:ext cx="23317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Carrier-level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40"/>
            <a:ext cx="2331720" cy="11887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The helmsman channel names which carrier moved.  Structural change is decomposable.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1">
                <a:solidFill>
                  <a:srgbClr val="F0C020"/>
                </a:solidFill>
                <a:latin typeface="Calibri"/>
              </a:rPr>
              <a:t>Combined into one observable stack.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Calibri"/>
              </a:rPr>
              <a:t>This conjunction is the falsifiable claim of the talk.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2 / 10  ·  1 min  ·  the spine snaps into 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554480"/>
            <a:ext cx="8229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00" i="1">
                <a:solidFill>
                  <a:srgbClr val="B4B4B4"/>
                </a:solidFill>
                <a:latin typeface="Calibri"/>
              </a:rPr>
              <a:t>Monitoring frame:  Magnitude · Identity · Trend · Composition   —   this talk addresses Composition.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3 — The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"Perturbation, Aitchison distance, TV distance, K-eff."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2011680" cy="1554480"/>
          </a:xfrm>
          <a:prstGeom prst="rect">
            <a:avLst/>
          </a:prstGeom>
          <a:solidFill>
            <a:srgbClr val="2A2A3A"/>
          </a:solidFill>
          <a:ln w="1524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Perturbation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231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compositional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803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classical CoDa operator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828800"/>
            <a:ext cx="2011680" cy="1554480"/>
          </a:xfrm>
          <a:prstGeom prst="rect">
            <a:avLst/>
          </a:prstGeom>
          <a:solidFill>
            <a:srgbClr val="2A2A3A"/>
          </a:solidFill>
          <a:ln w="1524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468880" y="19659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Aitchison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the simplex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8803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classical CoDa operator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2011680" cy="1554480"/>
          </a:xfrm>
          <a:prstGeom prst="rect">
            <a:avLst/>
          </a:prstGeom>
          <a:solidFill>
            <a:srgbClr val="2A2A3A"/>
          </a:solidFill>
          <a:ln w="1524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TV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structural velocity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803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small supporting metric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828800"/>
            <a:ext cx="2011680" cy="1554480"/>
          </a:xfrm>
          <a:prstGeom prst="rect">
            <a:avLst/>
          </a:prstGeom>
          <a:solidFill>
            <a:srgbClr val="2A2A3A"/>
          </a:solidFill>
          <a:ln w="1524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19659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K-eff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231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concentration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80360"/>
            <a:ext cx="18288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small supporting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0C020"/>
                </a:solidFill>
                <a:latin typeface="Calibri"/>
              </a:rPr>
              <a:t>INV-050 CANONICAL  ·  TV distance / Aitchison distance pair-invariance verified across 101 datasets.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  <a:latin typeface="Calibri"/>
              </a:rPr>
              <a:t>Self-discipline note: L2 → TV correction is on the record.  We tell on ourselves when we mislabel.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3 / 10  ·  2 min  ·  conservative, well-documented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44568"/>
            <a:ext cx="8229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00" i="1">
                <a:solidFill>
                  <a:srgbClr val="B4B4B4"/>
                </a:solidFill>
                <a:latin typeface="Calibri"/>
              </a:rPr>
              <a:t>The mathematics is not new;  the monitoring application may be.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4 — Japan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"Japan, Fukushima, 2011–2012, the spike."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743200" cy="2194560"/>
          </a:xfrm>
          <a:prstGeom prst="rect">
            <a:avLst/>
          </a:prstGeom>
          <a:solidFill>
            <a:srgbClr val="2A2A3A"/>
          </a:solidFill>
          <a:ln w="2540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Step-Δ Aitchison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7200" b="1" i="0">
                <a:solidFill>
                  <a:srgbClr val="F0C020"/>
                </a:solidFill>
                <a:latin typeface="Calibri"/>
              </a:rPr>
              <a:t>×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27432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  <a:latin typeface="Calibri"/>
              </a:rPr>
              <a:t>over neighbouring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52120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Trajectory:  abrupt external shock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331720"/>
            <a:ext cx="5212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Carrier-level attribution:  nuclear → fossil substitution post-2011.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88920"/>
            <a:ext cx="5212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Helmsman flips:  17  (highest in the 8-country corpus).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46120"/>
            <a:ext cx="5212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Deceptive-drift transitions: 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03320"/>
            <a:ext cx="5212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1">
                <a:solidFill>
                  <a:srgbClr val="F0C020"/>
                </a:solidFill>
                <a:latin typeface="Calibri"/>
              </a:rPr>
              <a:t>Protocol verdict:  regime change.  Shock loud and unambiguous.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4 / 10  ·  2 min  ·  the warm-up 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5 — Germany  ·  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"Germany, the trajectory, the deceptive drift, p = 0.0016 — with the null caveat."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2926080" cy="1463040"/>
          </a:xfrm>
          <a:prstGeom prst="rect">
            <a:avLst/>
          </a:prstGeom>
          <a:solidFill>
            <a:srgbClr val="2A2A3A"/>
          </a:solidFill>
          <a:ln w="2540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2926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p-value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9260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5400" b="1" i="0">
                <a:solidFill>
                  <a:srgbClr val="F0C020"/>
                </a:solidFill>
                <a:latin typeface="Calibri"/>
              </a:rPr>
              <a:t>0.0016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Trajectory:  continuous arc toward the renewable vertex.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4884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IR class:  OVERDAMPED_EXTREME (smooth convergence).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Helmsman flips:  13.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8036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1">
                <a:solidFill>
                  <a:srgbClr val="66AAFF"/>
                </a:solidFill>
                <a:latin typeface="Calibri"/>
              </a:rPr>
              <a:t>Reading at monthly grain  ·  the packet's headline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2A2A3A"/>
          </a:solidFill>
          <a:ln w="1905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1">
                <a:solidFill>
                  <a:srgbClr val="F0C020"/>
                </a:solidFill>
                <a:latin typeface="Calibri"/>
              </a:rPr>
              <a:t>Null-model caveat — read out loud: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Computed against the series' own empirical-frequency baseline.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This is a weaker null than a Dirichlet, permutation, or bootstrap null.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5 / 10  ·  3 min  ·  the longest beat  ·  read the caveat off the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6 — United Kingdom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"The UK coal exit registers as a regime change."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06040" cy="2194560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Japan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Abrupt  ·  external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66AAFF"/>
                </a:solidFill>
                <a:latin typeface="Calibri"/>
              </a:rPr>
              <a:t>shock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828800"/>
            <a:ext cx="2606040" cy="2194560"/>
          </a:xfrm>
          <a:prstGeom prst="rect">
            <a:avLst/>
          </a:prstGeom>
          <a:solidFill>
            <a:srgbClr val="352A1A"/>
          </a:solidFill>
          <a:ln w="2540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83280" y="1965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1460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Abrupt  ·  policy-driven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108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0C020"/>
                </a:solidFill>
                <a:latin typeface="Calibri"/>
              </a:rPr>
              <a:t>regime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520440"/>
            <a:ext cx="23317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Helmsman flips: 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606040" cy="2194560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72200" y="1965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Germany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51460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Continuous  ·  policy-driven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108960"/>
            <a:ext cx="2331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66AAFF"/>
                </a:solidFill>
                <a:latin typeface="Calibri"/>
              </a:rPr>
              <a:t>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The protocol discriminates among three archetypes of structural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6 / 10  ·  1 min  ·  three shapes, one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7 — Beyond the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"5 of 9 countries reproduce the deceptive-drift signature."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4023360" cy="2286000"/>
          </a:xfrm>
          <a:prstGeom prst="rect">
            <a:avLst/>
          </a:prstGeom>
          <a:solidFill>
            <a:srgbClr val="2A2A3A"/>
          </a:solidFill>
          <a:ln w="2540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40233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0C020"/>
                </a:solidFill>
                <a:latin typeface="Calibri"/>
              </a:rPr>
              <a:t>Signature fires (5)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374904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AUS  ·  Australia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07208"/>
            <a:ext cx="374904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CHN  ·  China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99816"/>
            <a:ext cx="374904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GBR  ·  United Kingdom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92424"/>
            <a:ext cx="374904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IND  · 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85032"/>
            <a:ext cx="374904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JPN  ·  Japan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828800"/>
            <a:ext cx="4023360" cy="2286000"/>
          </a:xfrm>
          <a:prstGeom prst="rect">
            <a:avLst/>
          </a:prstGeom>
          <a:solidFill>
            <a:srgbClr val="2A2A3A"/>
          </a:solidFill>
          <a:ln w="1524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40233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66AAFF"/>
                </a:solidFill>
                <a:latin typeface="Calibri"/>
              </a:rPr>
              <a:t>Does not fire (4)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14600"/>
            <a:ext cx="374904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DEU  ·  loud drift at annual grain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898648"/>
            <a:ext cx="374904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FRA  ·  loosening regime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82696"/>
            <a:ext cx="374904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USA  ·  stable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666744"/>
            <a:ext cx="374904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WLD  ·  aggregate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0C020"/>
                </a:solidFill>
                <a:latin typeface="Calibri"/>
              </a:rPr>
              <a:t>INV-051 CANONICAL  ·  the protocol discriminates  ·  it does not over-fire.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7 / 10  ·  1 min  ·  cross-country pattern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8 — Three open questions for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"I do not have these answers.  I am asking you."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8046720" cy="841248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F0C020"/>
                </a:solidFill>
                <a:latin typeface="Calibr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92807"/>
            <a:ext cx="67665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Concentration vs Aitchison norm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49424"/>
            <a:ext cx="6766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Calibri"/>
              </a:rPr>
              <a:t>Are K-eff (concentration) and Aitchison-norm tightening the same observable, or different facets?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79776"/>
            <a:ext cx="8046720" cy="841248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871216"/>
            <a:ext cx="7315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F0C020"/>
                </a:solidFill>
                <a:latin typeface="Calibri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43784"/>
            <a:ext cx="67665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Right family of simplex distances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6766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Calibri"/>
              </a:rPr>
              <a:t>Which family of valid simplex distances is appropriate for testing verdict-invariance across the trajectory? (INV-050 follow-up)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30752"/>
            <a:ext cx="8046720" cy="841248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822191"/>
            <a:ext cx="7315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F0C020"/>
                </a:solidFill>
                <a:latin typeface="Calibri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94760"/>
            <a:ext cx="67665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Right null model for compositional change-point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51376"/>
            <a:ext cx="6766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Calibri"/>
              </a:rPr>
              <a:t>What null is appropriate for the deceptive-drift p-value? Dirichlet? Permutation? Bootstrap? (INV-051 follow-up — methodologically consequential)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8 / 10  ·  1 min  ·  the formal handoff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9 — How to defeat this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"A defeater must combine all three conjuncts."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4023360" cy="1280160"/>
          </a:xfrm>
          <a:prstGeom prst="rect">
            <a:avLst/>
          </a:prstGeom>
          <a:solidFill>
            <a:srgbClr val="2A2A3A"/>
          </a:solidFill>
          <a:ln w="15240">
            <a:solidFill>
              <a:srgbClr val="7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Metric defeat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37490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70C070"/>
                </a:solidFill>
                <a:latin typeface="Calibri"/>
              </a:rPr>
              <a:t>show the verdict flips under a different valid simplex metric  ·  preempted by INV-050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783080"/>
            <a:ext cx="4023360" cy="1280160"/>
          </a:xfrm>
          <a:prstGeom prst="rect">
            <a:avLst/>
          </a:prstGeom>
          <a:solidFill>
            <a:srgbClr val="2A2A3A"/>
          </a:solidFill>
          <a:ln w="15240">
            <a:solidFill>
              <a:srgbClr val="7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46320" y="1874519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Case defeat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240280"/>
            <a:ext cx="37490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70C070"/>
                </a:solidFill>
                <a:latin typeface="Calibri"/>
              </a:rPr>
              <a:t>show signature fires uniformly everywhere (no discrimination)  ·  preempted by INV-051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39"/>
            <a:ext cx="4023360" cy="1280160"/>
          </a:xfrm>
          <a:prstGeom prst="rect">
            <a:avLst/>
          </a:prstGeom>
          <a:solidFill>
            <a:srgbClr val="2A2A3A"/>
          </a:solidFill>
          <a:ln w="1905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383279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Prior-art defeat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37490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F0C020"/>
                </a:solidFill>
                <a:latin typeface="Calibri"/>
              </a:rPr>
              <a:t>show the three-conjunct conjunction already exists  ·  Morais et al. 2017/18  ·  Arata &amp; Onozaki 2017 closest adjacent  ·  3 areas pending  ·  open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3291839"/>
            <a:ext cx="4023360" cy="1280160"/>
          </a:xfrm>
          <a:prstGeom prst="rect">
            <a:avLst/>
          </a:prstGeom>
          <a:solidFill>
            <a:srgbClr val="2A2A3A"/>
          </a:solidFill>
          <a:ln w="1905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3383279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Category defeat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749039"/>
            <a:ext cx="37490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F0C020"/>
                </a:solidFill>
                <a:latin typeface="Calibri"/>
              </a:rPr>
              <a:t>show this is an application note within existing CoDa, not a new monitoring category  ·  we have no preconceived answer  ·  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1">
                <a:solidFill>
                  <a:srgbClr val="F0C020"/>
                </a:solidFill>
                <a:latin typeface="Calibri"/>
              </a:rPr>
              <a:t>A defeater must combine all three conjuncts.  Inspection is invited.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Beat 9 / 10  ·  2 min  ·  the room's invitation to do its job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Beat 10 —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"Two repositories, one self-discipline note, thank you."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023360" cy="1371600"/>
          </a:xfrm>
          <a:prstGeom prst="rect">
            <a:avLst/>
          </a:prstGeom>
          <a:solidFill>
            <a:srgbClr val="2A2A3A"/>
          </a:solidFill>
          <a:ln w="1524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37490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higgins-decomposition (Hs)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Deterministic engines  ·  CNT v3.1.0 / CNQ v2.0.0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63 Investigation Catalog entries  ·  Hs Change Control v1.0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828800"/>
            <a:ext cx="4023360" cy="1371600"/>
          </a:xfrm>
          <a:prstGeom prst="rect">
            <a:avLst/>
          </a:prstGeom>
          <a:solidFill>
            <a:srgbClr val="2A2A3A"/>
          </a:solidFill>
          <a:ln w="1524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846320" y="1965960"/>
            <a:ext cx="37490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Higgins-Unity-Framework (HUF)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468880"/>
            <a:ext cx="37490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MC-4 framing  ·  EITT  ·  HUF Governance Charter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834640"/>
            <a:ext cx="37490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KILL-001 (19 named failure modes)  ·  case studies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F0C020"/>
                </a:solidFill>
                <a:latin typeface="Calibri"/>
              </a:rPr>
              <a:t>Self-discipline note:  L2 → TV correction is on the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  <a:latin typeface="Calibri"/>
              </a:rPr>
              <a:t>Hashes carry the receipts.  Anyone with the raw CSV can verify any plate in ~2 minutes.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4343400"/>
            <a:ext cx="4572000" cy="0"/>
          </a:xfrm>
          <a:prstGeom prst="line">
            <a:avLst/>
          </a:prstGeom>
          <a:ln w="25400">
            <a:solidFill>
              <a:srgbClr val="F0C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1">
                <a:solidFill>
                  <a:srgbClr val="F0C020"/>
                </a:solidFill>
                <a:latin typeface="Calibri"/>
              </a:rPr>
              <a:t>The talk is an ascent waypoint, not the summit.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  <a:latin typeface="Calibri"/>
              </a:rPr>
              <a:t>Thank you.  I'll take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Q&amp;A bench  ·  extended material on disk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1">
                <a:solidFill>
                  <a:srgbClr val="F0C020"/>
                </a:solidFill>
                <a:latin typeface="Calibri"/>
              </a:rPr>
              <a:t>"What sits behind the slides if the room asks."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EITT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737360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Entropy-Invariant Time Transformer — Shannon entropy conserved under geometric-mean temporal compression; 0.18% / 341:1.  papers/EITT_CANONICAL_EXPLANATION_2026-05-12.md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Twin-quaternion factoring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240280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INV-029 CANONICAL  ·  D=8 factoring verified at IEEE machine floor (3.33e-16) on EMBER China.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CHSH joint-coherence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43200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INV-035 CANONICAL  ·  0.88 within Tsirelson bound.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46120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KILL-001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246120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19 named failure modes  ·  published falsifiability artifact (HUF, 2026-03-23).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40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HUF Governance Charter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749040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9 articles (April 2026)  ·  parent doctrine for Hs Change Control v1.0.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51959"/>
            <a:ext cx="21945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Bread the Hs 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59"/>
            <a:ext cx="6126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verbal pedagogy  ·  the dinner-table version of the framework  ·  papers/BREAD_THE_HS_WAY_2026-05-12.md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AI Use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F0C020"/>
                </a:solidFill>
                <a:latin typeface="Calibri"/>
              </a:rPr>
              <a:t>per HUF Publication Standards (HUF-STD-001) — conforming to scientific community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  <a:latin typeface="Calibri"/>
              </a:rPr>
              <a:t>ICMJE  ·  COPE  ·  Nature/Springer  ·  Science/AAAS  ·  WAME  ·  EU AI Act (2024)  ·  arXiv  ·  ACM  ·  IEEE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8412480" cy="594360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AI tools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Claude (Anthropic)  ·  ChatGPT (OpenAI)  ·  Copilot (Microsoft)  ·  Gemini (Google)  ·  Grok (xAI)   —   the HUF AI Collective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8412480" cy="777240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Tasks performed by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Drafting of supporting documents and slides  ·  consistency editing  ·  cross-checking claims across documents  ·  literature-search assistance for prior-art areas  ·  falsifiability-condition enumeration (KILL-001)  ·  adversarial review for overclaim and drift catching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29000"/>
            <a:ext cx="8412480" cy="685800"/>
          </a:xfrm>
          <a:prstGeom prst="rect">
            <a:avLst/>
          </a:prstGeom>
          <a:solidFill>
            <a:srgbClr val="2A2A3A"/>
          </a:solidFill>
          <a:ln w="19050">
            <a:solidFill>
              <a:srgbClr val="F0C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347472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Author responsibility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8229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The author (P. Higgins, Rogue Wave Audio) retains full responsibility for all scientific claims, data interpretation, methodological choices, and conclusions. All AI-generated content has been reviewed and verified. AI tools are NOT listed as authors.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2A2A3A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0C020"/>
                </a:solidFill>
                <a:latin typeface="Calibri"/>
              </a:rPr>
              <a:t>AI use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HUF AI Collective cross-check protocol  ·  HUF Governance Charter Articles II–IV  ·  SAFE-001 cognitive-agent safety doctrine  ·  dates of use: March – May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Calibri"/>
              </a:rPr>
              <a:t>Authority: huf-gov/standards/HUF_PUBLICATION_STANDARDS.json  · 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