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9144000" cy="914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800" b="1" i="0">
                <a:solidFill>
                  <a:srgbClr val="EEEEEE"/>
                </a:solidFill>
                <a:latin typeface="Calibri"/>
              </a:rPr>
              <a:t>Compositional monitoring of energy-mix drift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9164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800" b="0" i="1">
                <a:solidFill>
                  <a:srgbClr val="F2B632"/>
                </a:solidFill>
                <a:latin typeface="Calibri"/>
              </a:rPr>
              <a:t>Which carrier did the structural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EEEEEE"/>
                </a:solidFill>
                <a:latin typeface="Calibri"/>
              </a:rPr>
              <a:t>Not only which carrier got bigger — which carrier moved the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F2B632"/>
                </a:solidFill>
                <a:latin typeface="Calibri"/>
              </a:rPr>
              <a:t>Follow along on the repository — the slide deck, manuscript, and live projector are all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EEEEEE"/>
                </a:solidFill>
                <a:latin typeface="Calibri"/>
              </a:rPr>
              <a:t>Hˢ runs any compositional dataset the CoDa community can describe — the views in this talk are reproducible on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F2B632"/>
                </a:solidFill>
                <a:latin typeface="Calibri"/>
              </a:rPr>
              <a:t>Operationalizing compositional analysis — a runnable standard for researchers and the AI assistants they choose.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0">
                <a:solidFill>
                  <a:srgbClr val="B8B8B8"/>
                </a:solidFill>
                <a:latin typeface="Calibri"/>
              </a:rPr>
              <a:t>CoDaWork 2026  ·  Coimbra, Portugal  ·  1–5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1" i="0">
                <a:solidFill>
                  <a:srgbClr val="EEEEEE"/>
                </a:solidFill>
                <a:latin typeface="Calibri"/>
              </a:rPr>
              <a:t>P. Higgins  ·  Rogue Wave Audio / Binaural Test Lab  ·  Markham, Ontario, Canada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1" i="0">
                <a:solidFill>
                  <a:srgbClr val="F2B632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87568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EEEEEE"/>
                </a:solidFill>
                <a:latin typeface="Calibri"/>
              </a:rPr>
              <a:t>PeterHiggins@RogueWaveAudio.com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53328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EEEEEE"/>
                </a:solidFill>
                <a:latin typeface="Calibri"/>
              </a:rPr>
              <a:t>github.com / PeterHiggins19 / higgins-decomposition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0">
                <a:solidFill>
                  <a:srgbClr val="B8B8B8"/>
                </a:solidFill>
                <a:latin typeface="Calibri"/>
              </a:rPr>
              <a:t>Community folder:  CODA-Association/   ·   Hand-out in UN-6 locales (EN · FR · ES · RU · ZH · 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086600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000" b="0" i="1">
                <a:solidFill>
                  <a:srgbClr val="B8B8B8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The size view hides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A carrier can be small in share and large in structural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  <a:latin typeface="Calibri"/>
              </a:rPr>
              <a:t>Germany electricity, 25 years — the standard stacked-area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4937760" cy="1463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Coal and lignite recede.  Nuclear phases out.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Gas holds.  Solar and wind grow steadily.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Wind passes coal in the late 2010s.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83080"/>
            <a:ext cx="3657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F2B632"/>
                </a:solidFill>
                <a:latin typeface="Calibri"/>
              </a:rPr>
              <a:t>What the size view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331720"/>
            <a:ext cx="384048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  <a:latin typeface="Calibri"/>
              </a:rPr>
              <a:t>Germany Solar, 2005 → 2006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788920"/>
            <a:ext cx="384048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starting share        0.21  %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structural Power Share  71.1 %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Activation Coefficient   ≈ 333 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434840"/>
            <a:ext cx="3840480" cy="10972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C98A1C"/>
                </a:solidFill>
                <a:latin typeface="Calibri"/>
              </a:rPr>
              <a:t>Solar acted at 333 × its size,</a:t>
            </a:r>
          </a:p>
          <a:p>
            <a:pPr algn="l"/>
            <a:r>
              <a:rPr sz="1300" b="0" i="1">
                <a:solidFill>
                  <a:srgbClr val="C98A1C"/>
                </a:solidFill>
                <a:latin typeface="Calibri"/>
              </a:rPr>
              <a:t>four years before the share view</a:t>
            </a:r>
          </a:p>
          <a:p>
            <a:pPr algn="l"/>
            <a:r>
              <a:rPr sz="1300" b="0" i="1">
                <a:solidFill>
                  <a:srgbClr val="C98A1C"/>
                </a:solidFill>
                <a:latin typeface="Calibri"/>
              </a:rPr>
              <a:t>calls solar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877824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F2B632"/>
                </a:solidFill>
                <a:latin typeface="Calibri"/>
              </a:rPr>
              <a:t>This talk is the reason that number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Mathematics: standard compositional data analysis.  Application: monitoring frame may be new.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Five viewpoints, one observable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Each viewpoint answers one question.  Together: an auditable transition event.</a:t>
            </a:r>
          </a:p>
        </p:txBody>
      </p:sp>
      <p:pic>
        <p:nvPicPr>
          <p:cNvPr id="4" name="Picture 3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937760" cy="377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645920"/>
            <a:ext cx="41148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057400"/>
            <a:ext cx="41148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what share each carrier 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606040"/>
            <a:ext cx="41148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Helmsman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017520"/>
            <a:ext cx="41148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which carrier has the largest CLR move at a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566160"/>
            <a:ext cx="41148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Helmsman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977639"/>
            <a:ext cx="41148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when the steering carrier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526280"/>
            <a:ext cx="41148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Power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937760"/>
            <a:ext cx="41148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how much squared CLR motion each carrier did.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486400"/>
            <a:ext cx="41148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Activation Coefficient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897880"/>
            <a:ext cx="41148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Power Share ÷ starting share — the yeast 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9037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All five derive from CLR + ILR-Helmert.  Pure CoDa geometry; no new mathematics.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The Activation Coefficient — the yeast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How much structural work a carrier does, relative to how much of the mix it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200" b="1" i="0">
                <a:solidFill>
                  <a:srgbClr val="F2B632"/>
                </a:solidFill>
                <a:latin typeface="Consolas"/>
              </a:rPr>
              <a:t>α_i(t)  =  Power Share_i(t)  ÷  starting share_i(t)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alibri"/>
              </a:rPr>
              <a:t>α ≈ 1     carrier does work proportional to its size — ordinary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1" i="0">
                <a:solidFill>
                  <a:srgbClr val="F2B632"/>
                </a:solidFill>
                <a:latin typeface="Calibri"/>
              </a:rPr>
              <a:t>α ≫ 1     carrier acts far above its size — hidden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B8B8B8"/>
                </a:solidFill>
                <a:latin typeface="Calibri"/>
              </a:rPr>
              <a:t>α &lt; 1     carrier carries less work than its size suggests — coasting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1" i="0">
                <a:solidFill>
                  <a:srgbClr val="EEEEEE"/>
                </a:solidFill>
                <a:latin typeface="Calibri"/>
              </a:rPr>
              <a:t>Worked example — Germany Solar 2005 → 2006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877824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starting share      0.21  %     small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Power Share         71.1  %     most of the work</a:t>
            </a:r>
          </a:p>
          <a:p>
            <a:pPr algn="l"/>
            <a:r>
              <a:rPr sz="1400" b="0" i="0">
                <a:solidFill>
                  <a:srgbClr val="EEEEEE"/>
                </a:solidFill>
                <a:latin typeface="Consolas"/>
              </a:rPr>
              <a:t>α                   ≈ 333 ×     yeast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C98A1C"/>
                </a:solidFill>
                <a:latin typeface="Calibri"/>
              </a:rPr>
              <a:t>Yeast is 2% of a loaf by mass and does 100% of the rising. Same shape.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9037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B8B8B8"/>
                </a:solidFill>
                <a:latin typeface="Calibri"/>
              </a:rPr>
              <a:t>The Energiewende's structural beginning, four years before solar appears in the share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Three archetypes — one instrument, three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Same protocol applied to three transitions that look fundamentally different.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Germany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deliberate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continuous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Energiewende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2000 → 2025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solar + wind absorb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structural work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before size dominates.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external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loop and reorganise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Fukushima 2011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displaces nuclear,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causes 2011–2013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multi-year compositional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reorganisation.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9164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F2B632"/>
                </a:solidFill>
                <a:latin typeface="Calibri"/>
              </a:rPr>
              <a:t>United Kingdom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0312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EEEEEE"/>
                </a:solidFill>
                <a:latin typeface="Calibri"/>
              </a:rPr>
              <a:t>regime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42316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200" b="0" i="1">
                <a:solidFill>
                  <a:srgbClr val="B8B8B8"/>
                </a:solidFill>
                <a:latin typeface="Calibri"/>
              </a:rPr>
              <a:t>jump and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971800"/>
            <a:ext cx="274320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Coal exit 2012–2020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from &gt; 30 % to &lt; 2 %.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Wind, solar, others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absorb displaced</a:t>
            </a:r>
          </a:p>
          <a:p>
            <a:pPr algn="l"/>
            <a:r>
              <a:rPr sz="1300" b="0" i="0">
                <a:solidFill>
                  <a:srgbClr val="EEEEEE"/>
                </a:solidFill>
                <a:latin typeface="Calibri"/>
              </a:rPr>
              <a:t>structural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7665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F2B632"/>
                </a:solidFill>
                <a:latin typeface="Calibri"/>
              </a:rPr>
              <a:t>Three different transition regimes.  One operational protocol reads them 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Germany — share-and-work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Energiewende read as a single smooth arc on the simplex (chart pair: shares + structural work).</a:t>
            </a:r>
          </a:p>
        </p:txBody>
      </p:sp>
      <p:pic>
        <p:nvPicPr>
          <p:cNvPr id="4" name="Picture 3" descr="fig2_ger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822960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F2B632"/>
                </a:solidFill>
                <a:latin typeface="Calibri"/>
              </a:rPr>
              <a:t>Solar 2005–2006:  0.21 % share  ·  71.1 % structural work  ·  α ≈ 333 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Tiny share, dominant work.  The yeast-factor signature, four years before the share view shows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>Germany — share + work  ·  navigation chart on next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Germany — course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The Helmsman trajectory: where the composition went, year by year.</a:t>
            </a:r>
          </a:p>
        </p:txBody>
      </p:sp>
      <p:pic>
        <p:nvPicPr>
          <p:cNvPr id="4" name="Picture 3" descr="fig6_nav_d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71600"/>
            <a:ext cx="5943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91440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0">
                <a:solidFill>
                  <a:srgbClr val="F2B632"/>
                </a:solidFill>
                <a:latin typeface="Calibri"/>
              </a:rPr>
              <a:t>Course directness 0.41  —  continuous arc toward the renewable vertex.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Smooth, monotone reorientation — no loops, no flips.  Deliberate transition as a sustained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>Germany — navigation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Japan — share-and-work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Fukushima 2011: external shock displaces nuclear, multi-year compositional reorganisation.</a:t>
            </a:r>
          </a:p>
        </p:txBody>
      </p:sp>
      <p:pic>
        <p:nvPicPr>
          <p:cNvPr id="4" name="Picture 3" descr="fig3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822960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F2B632"/>
                </a:solidFill>
                <a:latin typeface="Calibri"/>
              </a:rPr>
              <a:t>Aitchison distance 2011 → 2012  ≈ 3 × neighbouring-year baseline  ·  helmsman flips 17 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The instrument detects both the shock and the multi-year reorganisation that followed.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>Japan — share + work  ·  navigation chart on next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Japan — course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The Helmsman trajectory: looping reorganisation, not a single step.</a:t>
            </a:r>
          </a:p>
        </p:txBody>
      </p:sp>
      <p:pic>
        <p:nvPicPr>
          <p:cNvPr id="4" name="Picture 3" descr="fig6_nav_j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71600"/>
            <a:ext cx="5943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91440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0">
                <a:solidFill>
                  <a:srgbClr val="F2B632"/>
                </a:solidFill>
                <a:latin typeface="Calibri"/>
              </a:rPr>
              <a:t>Course directness 0.09  —  loop-and-reorganise archetype.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Trajectory revisits and reroutes — the system searches for a new composition, not a planned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>Japan — navigation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United Kingdom — share-and-work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Coal exit as policy-driven regime change, absorbed across multiple renewable carriers.</a:t>
            </a:r>
          </a:p>
        </p:txBody>
      </p:sp>
      <p:pic>
        <p:nvPicPr>
          <p:cNvPr id="4" name="Picture 3" descr="fig4_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822960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F2B632"/>
                </a:solidFill>
                <a:latin typeface="Calibri"/>
              </a:rPr>
              <a:t>Coal:  &gt; 30 %  →  &lt; 2 %.   Wind, solar, and other renewables absorb the displaced structural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Displaced work redistributes across several carriers — not one substitute, but several.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>United Kingdom — share + work  ·  navigation chart on next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United Kingdom — course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The Helmsman trajectory: a jump from the coal vertex, then a return toward stability.</a:t>
            </a:r>
          </a:p>
        </p:txBody>
      </p:sp>
      <p:pic>
        <p:nvPicPr>
          <p:cNvPr id="4" name="Picture 3" descr="fig6_nav_g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71600"/>
            <a:ext cx="5943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91440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0">
                <a:solidFill>
                  <a:srgbClr val="F2B632"/>
                </a:solidFill>
                <a:latin typeface="Calibri"/>
              </a:rPr>
              <a:t>Course directness 0.36  —  jump-and-return archetype.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Sharp departure from the coal vertex, then re-stabilisation — regime change as one decisive displacement.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>United Kingdom — navigation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Cross-country signature — 5 of 9 reproduce the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From three case archetypes to a corpus-level result.</a:t>
            </a:r>
          </a:p>
        </p:txBody>
      </p:sp>
      <p:pic>
        <p:nvPicPr>
          <p:cNvPr id="4" name="Picture 3" descr="fig5_cross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694944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91440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F2B632"/>
                </a:solidFill>
                <a:latin typeface="Calibri"/>
              </a:rPr>
              <a:t>fires   AUS · CHN · GBR · IND · JPN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B8B8B8"/>
                </a:solidFill>
                <a:latin typeface="Calibri"/>
              </a:rPr>
              <a:t>quiet   DEU (annual) · FRA · USA · WLD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2694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100" b="0" i="1">
                <a:solidFill>
                  <a:srgbClr val="C98A1C"/>
                </a:solidFill>
                <a:latin typeface="Calibri"/>
              </a:rPr>
              <a:t>A useful detector should not fire everywhere.  Discrimination is itself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EEEEEE"/>
                </a:solidFill>
                <a:latin typeface="Calibri"/>
              </a:rPr>
              <a:t>What the stack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1">
                <a:solidFill>
                  <a:srgbClr val="B8B8B8"/>
                </a:solidFill>
                <a:latin typeface="Calibri"/>
              </a:rPr>
              <a:t>One observable, five distinct questions, one reproducible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2880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carriers are big.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size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60604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is at the wheel.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0604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Helmsman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38328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the steering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38328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Helmsman trajectory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HOW MUCH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16052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work each carrier did.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16052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Power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15544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F2B632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93776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EEEEEE"/>
                </a:solidFill>
                <a:latin typeface="Calibri"/>
              </a:rPr>
              <a:t>a small carrier mattered.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B8B8B8"/>
                </a:solidFill>
                <a:latin typeface="Calibri"/>
              </a:rPr>
              <a:t>Activation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85800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F2B632"/>
                </a:solidFill>
                <a:latin typeface="Calibri"/>
              </a:rPr>
              <a:t>The stack does not replace interpretation.  It gives interpretation a reproducible object.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178040"/>
            <a:ext cx="91440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800" b="0" i="0">
                <a:solidFill>
                  <a:srgbClr val="B8B8B8"/>
                </a:solidFill>
                <a:latin typeface="Calibri"/>
              </a:rPr>
              <a:t>AI Use Declaration (HUF-STD-001 v1.1):  research design, mathematical content, code, and scientific responsibility remain with the named author.  AI assistants (Claude, ChatGPT, Grok) used for drafting, sweeps, and reviews.  Author retains full responsibility.   Apache-2.0 code  ·  CC BY 4.0 docs.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406640"/>
            <a:ext cx="64008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900" b="0" i="1">
                <a:solidFill>
                  <a:srgbClr val="B8B8B8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7406640"/>
            <a:ext cx="9144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