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316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CADCFC"/>
                </a:solidFill>
                <a:latin typeface="Calibri"/>
              </a:rPr>
              <a:t>CoDaWork 2026  ·  Coimbra, Portugal  ·  1-5 June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31673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Compositional Monitoring of</a:t>
            </a:r>
          </a:p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Energy-Mix Drift on the Simplex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316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9954E"/>
                </a:solidFill>
                <a:latin typeface="Calibri"/>
              </a:rPr>
              <a:t>Premier Data Output — CNT v3.1.0 + CNQ v2.0.0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316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CADCFC"/>
                </a:solidFill>
                <a:latin typeface="Calibri"/>
              </a:rPr>
              <a:t>9-country EMBER electricity-generation corpus  ·  2000-2025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3167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P. Higgins,  Rogue Wave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949440"/>
            <a:ext cx="1316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ADCFC"/>
                </a:solidFill>
                <a:latin typeface="Calibri"/>
              </a:rPr>
              <a:t>Document v2  ·  2026-05-14  ·  AI Use Declaration on final slide  ·  HUF-STD-001 compliant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498079"/>
            <a:ext cx="1316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9954E"/>
                </a:solidFill>
                <a:latin typeface="Calibri"/>
              </a:rPr>
              <a:t>The instrument reads.  The expert decides.  The hashes carry the receipts.  The vocabulary holds the 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libri"/>
              </a:rPr>
              <a:t>What is in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For each of the 9 EMBER countries (AUS, CHN, DEU, FRA, GBR, IND, JPN, USA, WLD), 6 key plates: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3716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1.  Country cover - input metadata + headline metrics + hash receipts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2.  Stage 1 mid-series plate (Section view) - XY scatter + XZ bearings + YZ CLR for representative year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3.  Stage 1 course plot - full trajectory overview across 2000-2025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4.  Stage 2/3 helmsman analysis - frequency chart + carrier attribution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5.  ILR-Helmert Triplet Plate (NEW dual-view companion) - three orthogonal scatter projections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6.  CNQ dashboard - Higgins scale Hs(t), angular velocity w(t), K_eff + TV(t),</a:t>
            </a:r>
          </a:p>
          <a:p>
            <a:pPr algn="l"/>
            <a:r>
              <a:rPr sz="1400" b="0" i="0">
                <a:solidFill>
                  <a:srgbClr val="101010"/>
                </a:solidFill>
                <a:latin typeface="Consolas"/>
              </a:rPr>
              <a:t>                      helmsman s(t), spike detector, diagnostics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For complete per-year detail (all 27 plates x 9 countries + all 7 stage 2/3 pages + all CNQ panels),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492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see the companion master PDFs: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Consolas"/>
              </a:rPr>
              <a:t>    CodaWork2026_PremierDataOutput_2026-05-13.pdf      (325 pages - Section + Stage 2/3 + CNQ)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01010"/>
                </a:solidFill>
                <a:latin typeface="Consolas"/>
              </a:rPr>
              <a:t>    dual_view/CodaWork2026_DualViewStage1Output_2026-05-13.pdf  (503 pages - Section + Triplet)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76656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nsolas"/>
              </a:rPr>
              <a:t>Engine versions:  CNT v3.1.0 (schema 3.1.0) + CNQ v2.0.0 (schema cnq/2.0.0)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04088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nsolas"/>
              </a:rPr>
              <a:t>Hash discipline:  content_sha256 + engine_signature on every JSON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315200"/>
            <a:ext cx="1371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onsolas"/>
              </a:rPr>
              <a:t>Standards:       HUF-STD-001 (publication) + HUF-STD-002 (tensor train v1.0)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8096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9954E"/>
                </a:solidFill>
                <a:latin typeface="Calibri"/>
              </a:rPr>
              <a:t>The instrument reads.   The expert decides.   The hashes carry the receipts.   The vocabulary holds the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AUS  Australia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cover</a:t>
            </a:r>
          </a:p>
        </p:txBody>
      </p:sp>
      <p:pic>
        <p:nvPicPr>
          <p:cNvPr id="3" name="Picture 2" descr="AUS_01_cover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Stage 1 - XY/XZ/YZ orthogonal projections (representative year)</a:t>
            </a:r>
          </a:p>
        </p:txBody>
      </p:sp>
      <p:pic>
        <p:nvPicPr>
          <p:cNvPr id="3" name="Picture 2" descr="AUS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Stage 1 - course plot (full trajectory 2000-2025)</a:t>
            </a:r>
          </a:p>
        </p:txBody>
      </p:sp>
      <p:pic>
        <p:nvPicPr>
          <p:cNvPr id="3" name="Picture 2" descr="AUS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Stage 2/3 - helmsman frequency + carrier attribution</a:t>
            </a:r>
          </a:p>
        </p:txBody>
      </p:sp>
      <p:pic>
        <p:nvPicPr>
          <p:cNvPr id="3" name="Picture 2" descr="AUS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Stage 1 - ILR-Helmert Triplet (orthonormal companion view)</a:t>
            </a:r>
          </a:p>
        </p:txBody>
      </p:sp>
      <p:pic>
        <p:nvPicPr>
          <p:cNvPr id="3" name="Picture 2" descr="AUS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AUS  Australia  ·  CNQ v2.0.0 - quaternion-view dashboard</a:t>
            </a:r>
          </a:p>
        </p:txBody>
      </p:sp>
      <p:pic>
        <p:nvPicPr>
          <p:cNvPr id="3" name="Picture 2" descr="AUS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AUS  ·  HUF-STD-002 link 4 vector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CHN  China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cover</a:t>
            </a:r>
          </a:p>
        </p:txBody>
      </p:sp>
      <p:pic>
        <p:nvPicPr>
          <p:cNvPr id="3" name="Picture 2" descr="CHN_01_cover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Stage 1 - XY/XZ/YZ orthogonal projections (representative year)</a:t>
            </a:r>
          </a:p>
        </p:txBody>
      </p:sp>
      <p:pic>
        <p:nvPicPr>
          <p:cNvPr id="3" name="Picture 2" descr="CHN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Stage 1 - course plot (full trajectory 2000-2025)</a:t>
            </a:r>
          </a:p>
        </p:txBody>
      </p:sp>
      <p:pic>
        <p:nvPicPr>
          <p:cNvPr id="3" name="Picture 2" descr="CHN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Stage 2/3 - helmsman frequency + carrier attribution</a:t>
            </a:r>
          </a:p>
        </p:txBody>
      </p:sp>
      <p:pic>
        <p:nvPicPr>
          <p:cNvPr id="3" name="Picture 2" descr="CHN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Stage 1 - ILR-Helmert Triplet (orthonormal companion view)</a:t>
            </a:r>
          </a:p>
        </p:txBody>
      </p:sp>
      <p:pic>
        <p:nvPicPr>
          <p:cNvPr id="3" name="Picture 2" descr="CHN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CHN  China  ·  CNQ v2.0.0 - quaternion-view dashboard</a:t>
            </a:r>
          </a:p>
        </p:txBody>
      </p:sp>
      <p:pic>
        <p:nvPicPr>
          <p:cNvPr id="3" name="Picture 2" descr="CHN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CHN  ·  HUF-STD-002 link 4 vector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DEU  Germany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cover</a:t>
            </a:r>
          </a:p>
        </p:txBody>
      </p:sp>
      <p:pic>
        <p:nvPicPr>
          <p:cNvPr id="3" name="Picture 2" descr="DEU_01_cover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Stage 1 - XY/XZ/YZ orthogonal projections (representative year)</a:t>
            </a:r>
          </a:p>
        </p:txBody>
      </p:sp>
      <p:pic>
        <p:nvPicPr>
          <p:cNvPr id="3" name="Picture 2" descr="DEU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Stage 1 - course plot (full trajectory 2000-2025)</a:t>
            </a:r>
          </a:p>
        </p:txBody>
      </p:sp>
      <p:pic>
        <p:nvPicPr>
          <p:cNvPr id="3" name="Picture 2" descr="DEU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Stage 2/3 - helmsman frequency + carrier attribution</a:t>
            </a:r>
          </a:p>
        </p:txBody>
      </p:sp>
      <p:pic>
        <p:nvPicPr>
          <p:cNvPr id="3" name="Picture 2" descr="DEU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Stage 1 - ILR-Helmert Triplet (orthonormal companion view)</a:t>
            </a:r>
          </a:p>
        </p:txBody>
      </p:sp>
      <p:pic>
        <p:nvPicPr>
          <p:cNvPr id="3" name="Picture 2" descr="DEU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DEU  Germany  ·  CNQ v2.0.0 - quaternion-view dashboard</a:t>
            </a:r>
          </a:p>
        </p:txBody>
      </p:sp>
      <p:pic>
        <p:nvPicPr>
          <p:cNvPr id="3" name="Picture 2" descr="DEU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DEU  ·  HUF-STD-002 link 4 vector output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FRA  France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cover</a:t>
            </a:r>
          </a:p>
        </p:txBody>
      </p:sp>
      <p:pic>
        <p:nvPicPr>
          <p:cNvPr id="3" name="Picture 2" descr="FRA_01_cover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Stage 1 - XY/XZ/YZ orthogonal projections (representative year)</a:t>
            </a:r>
          </a:p>
        </p:txBody>
      </p:sp>
      <p:pic>
        <p:nvPicPr>
          <p:cNvPr id="3" name="Picture 2" descr="FRA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Stage 1 - course plot (full trajectory 2000-2025)</a:t>
            </a:r>
          </a:p>
        </p:txBody>
      </p:sp>
      <p:pic>
        <p:nvPicPr>
          <p:cNvPr id="3" name="Picture 2" descr="FRA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Stage 2/3 - helmsman frequency + carrier attribution</a:t>
            </a:r>
          </a:p>
        </p:txBody>
      </p:sp>
      <p:pic>
        <p:nvPicPr>
          <p:cNvPr id="3" name="Picture 2" descr="FRA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Stage 1 - ILR-Helmert Triplet (orthonormal companion view)</a:t>
            </a:r>
          </a:p>
        </p:txBody>
      </p:sp>
      <p:pic>
        <p:nvPicPr>
          <p:cNvPr id="3" name="Picture 2" descr="FRA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FRA  France  ·  CNQ v2.0.0 - quaternion-view dashboard</a:t>
            </a:r>
          </a:p>
        </p:txBody>
      </p:sp>
      <p:pic>
        <p:nvPicPr>
          <p:cNvPr id="3" name="Picture 2" descr="FRA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FRA  ·  HUF-STD-002 link 4 vector output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GBR  United Kingdom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cover</a:t>
            </a:r>
          </a:p>
        </p:txBody>
      </p:sp>
      <p:pic>
        <p:nvPicPr>
          <p:cNvPr id="3" name="Picture 2" descr="GBR_01_cover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Stage 1 - XY/XZ/YZ orthogonal projections (representative year)</a:t>
            </a:r>
          </a:p>
        </p:txBody>
      </p:sp>
      <p:pic>
        <p:nvPicPr>
          <p:cNvPr id="3" name="Picture 2" descr="GBR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Stage 1 - course plot (full trajectory 2000-2025)</a:t>
            </a:r>
          </a:p>
        </p:txBody>
      </p:sp>
      <p:pic>
        <p:nvPicPr>
          <p:cNvPr id="3" name="Picture 2" descr="GBR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Stage 2/3 - helmsman frequency + carrier attribution</a:t>
            </a:r>
          </a:p>
        </p:txBody>
      </p:sp>
      <p:pic>
        <p:nvPicPr>
          <p:cNvPr id="3" name="Picture 2" descr="GBR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Stage 1 - ILR-Helmert Triplet (orthonormal companion view)</a:t>
            </a:r>
          </a:p>
        </p:txBody>
      </p:sp>
      <p:pic>
        <p:nvPicPr>
          <p:cNvPr id="3" name="Picture 2" descr="GBR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GBR  United Kingdom  ·  CNQ v2.0.0 - quaternion-view dashboard</a:t>
            </a:r>
          </a:p>
        </p:txBody>
      </p:sp>
      <p:pic>
        <p:nvPicPr>
          <p:cNvPr id="3" name="Picture 2" descr="GBR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GBR  ·  HUF-STD-002 link 4 vector output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IND 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cover</a:t>
            </a:r>
          </a:p>
        </p:txBody>
      </p:sp>
      <p:pic>
        <p:nvPicPr>
          <p:cNvPr id="3" name="Picture 2" descr="IND_01_cover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Stage 1 - XY/XZ/YZ orthogonal projections (representative year)</a:t>
            </a:r>
          </a:p>
        </p:txBody>
      </p:sp>
      <p:pic>
        <p:nvPicPr>
          <p:cNvPr id="3" name="Picture 2" descr="IND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Stage 1 - course plot (full trajectory 2000-2025)</a:t>
            </a:r>
          </a:p>
        </p:txBody>
      </p:sp>
      <p:pic>
        <p:nvPicPr>
          <p:cNvPr id="3" name="Picture 2" descr="IND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Stage 2/3 - helmsman frequency + carrier attribution</a:t>
            </a:r>
          </a:p>
        </p:txBody>
      </p:sp>
      <p:pic>
        <p:nvPicPr>
          <p:cNvPr id="3" name="Picture 2" descr="IND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Stage 1 - ILR-Helmert Triplet (orthonormal companion view)</a:t>
            </a:r>
          </a:p>
        </p:txBody>
      </p:sp>
      <p:pic>
        <p:nvPicPr>
          <p:cNvPr id="3" name="Picture 2" descr="IND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IND  India  ·  CNQ v2.0.0 - quaternion-view dashboard</a:t>
            </a:r>
          </a:p>
        </p:txBody>
      </p:sp>
      <p:pic>
        <p:nvPicPr>
          <p:cNvPr id="3" name="Picture 2" descr="IND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IND  ·  HUF-STD-002 link 4 vector output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JPN 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cover</a:t>
            </a:r>
          </a:p>
        </p:txBody>
      </p:sp>
      <p:pic>
        <p:nvPicPr>
          <p:cNvPr id="3" name="Picture 2" descr="JPN_01_cover-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Stage 1 - XY/XZ/YZ orthogonal projections (representative year)</a:t>
            </a:r>
          </a:p>
        </p:txBody>
      </p:sp>
      <p:pic>
        <p:nvPicPr>
          <p:cNvPr id="3" name="Picture 2" descr="JPN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Stage 1 - course plot (full trajectory 2000-2025)</a:t>
            </a:r>
          </a:p>
        </p:txBody>
      </p:sp>
      <p:pic>
        <p:nvPicPr>
          <p:cNvPr id="3" name="Picture 2" descr="JPN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Stage 2/3 - helmsman frequency + carrier attribution</a:t>
            </a:r>
          </a:p>
        </p:txBody>
      </p:sp>
      <p:pic>
        <p:nvPicPr>
          <p:cNvPr id="3" name="Picture 2" descr="JPN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Stage 1 - ILR-Helmert Triplet (orthonormal companion view)</a:t>
            </a:r>
          </a:p>
        </p:txBody>
      </p:sp>
      <p:pic>
        <p:nvPicPr>
          <p:cNvPr id="3" name="Picture 2" descr="JPN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JPN  Japan  ·  CNQ v2.0.0 - quaternion-view dashboard</a:t>
            </a:r>
          </a:p>
        </p:txBody>
      </p:sp>
      <p:pic>
        <p:nvPicPr>
          <p:cNvPr id="3" name="Picture 2" descr="JPN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JPN  ·  HUF-STD-002 link 4 vector output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USA  United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25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cover</a:t>
            </a:r>
          </a:p>
        </p:txBody>
      </p:sp>
      <p:pic>
        <p:nvPicPr>
          <p:cNvPr id="3" name="Picture 2" descr="USA_01_cover-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Stage 1 - XY/XZ/YZ orthogonal projections (representative year)</a:t>
            </a:r>
          </a:p>
        </p:txBody>
      </p:sp>
      <p:pic>
        <p:nvPicPr>
          <p:cNvPr id="3" name="Picture 2" descr="USA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Stage 1 - course plot (full trajectory 2000-2025)</a:t>
            </a:r>
          </a:p>
        </p:txBody>
      </p:sp>
      <p:pic>
        <p:nvPicPr>
          <p:cNvPr id="3" name="Picture 2" descr="USA_03_cours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Stage 2/3 - helmsman frequency + carrier attribution</a:t>
            </a:r>
          </a:p>
        </p:txBody>
      </p:sp>
      <p:pic>
        <p:nvPicPr>
          <p:cNvPr id="3" name="Picture 2" descr="USA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Stage 1 - ILR-Helmert Triplet (orthonormal companion view)</a:t>
            </a:r>
          </a:p>
        </p:txBody>
      </p:sp>
      <p:pic>
        <p:nvPicPr>
          <p:cNvPr id="3" name="Picture 2" descr="USA_05_triplet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USA  United States  ·  CNQ v2.0.0 - quaternion-view dashboard</a:t>
            </a:r>
          </a:p>
        </p:txBody>
      </p:sp>
      <p:pic>
        <p:nvPicPr>
          <p:cNvPr id="3" name="Picture 2" descr="USA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USA  ·  HUF-STD-002 link 4 vector output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3716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§ WLD 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1371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CADCFC"/>
                </a:solidFill>
                <a:latin typeface="Calibri"/>
              </a:rPr>
              <a:t>EMBER electricity-generation series  ·  2000-2025  ·  N = 26  ·  D =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CADCFC"/>
                </a:solidFill>
                <a:latin typeface="Calibri"/>
              </a:rPr>
              <a:t>Stage 1 plates (Section + Triplet)  ·  Stage 2/3 navigation  ·  CNQ quaternion view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cover</a:t>
            </a:r>
          </a:p>
        </p:txBody>
      </p:sp>
      <p:pic>
        <p:nvPicPr>
          <p:cNvPr id="3" name="Picture 2" descr="WLD_01_cover-2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Stage 1 - XY/XZ/YZ orthogonal projections (representative year)</a:t>
            </a:r>
          </a:p>
        </p:txBody>
      </p:sp>
      <p:pic>
        <p:nvPicPr>
          <p:cNvPr id="3" name="Picture 2" descr="WLD_02_mi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Stage 1 - course plot (full trajectory 2000-2025)</a:t>
            </a:r>
          </a:p>
        </p:txBody>
      </p:sp>
      <p:pic>
        <p:nvPicPr>
          <p:cNvPr id="3" name="Picture 2" descr="WLD_03_cours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Stage 2/3 - helmsman frequency + carrier attribution</a:t>
            </a:r>
          </a:p>
        </p:txBody>
      </p:sp>
      <p:pic>
        <p:nvPicPr>
          <p:cNvPr id="3" name="Picture 2" descr="WLD_04_helm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Stage 1 - ILR-Helmert Triplet (orthonormal companion view)</a:t>
            </a:r>
          </a:p>
        </p:txBody>
      </p:sp>
      <p:pic>
        <p:nvPicPr>
          <p:cNvPr id="3" name="Picture 2" descr="WLD_05_triple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389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§ WLD  World  ·  CNQ v2.0.0 - quaternion-view dashboard</a:t>
            </a:r>
          </a:p>
        </p:txBody>
      </p:sp>
      <p:pic>
        <p:nvPicPr>
          <p:cNvPr id="3" name="Picture 2" descr="WLD_06_cnq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868680"/>
            <a:ext cx="11119104" cy="6949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7818120"/>
            <a:ext cx="1389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555555"/>
                </a:solidFill>
                <a:latin typeface="Calibri"/>
              </a:rPr>
              <a:t>CNT v3.1.0 + CNQ v2.0.0  ·  WLD  ·  HUF-STD-002 link 4 vector output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353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AI Use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353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per HUF Publication Standards (HUF-STD-001) - conforming to scientific community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353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9954E"/>
                </a:solidFill>
                <a:latin typeface="Calibri"/>
              </a:rPr>
              <a:t>ICMJE  ·  COPE  ·  Nature/Springer  ·  Science/AAAS  ·  WAME  ·  EU AI Act 2024  ·  arXiv  ·  ACM  ·  IEEE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3533120" cy="548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AI tools used:    Claude (Anthropic), ChatGPT (OpenAI), Copilot (Microsoft),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Gemini (Google), Grok (xAI) - the HUF AI Collective.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Tasks performed by AI:    plate-generator scripting; layout design; consistency editing;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cross-checking engine output against the canonical JSON;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data-output PDF/PPTX assembly; dual-view triplet plate authoring.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Author responsibility:    The author (P. Higgins, Rogue Wave Audio) retains full responsibility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for all data interpretation, methodological choices, and conclusions.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All output has been produced by deterministic, hash-chained engines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(CNT v3.1.0 + CNQ v2.0.0). AI tools are NOT listed as authors.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AI use governance:        HUF AI Collective cross-check protocol  ·  HUF Governance Charter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Articles II-IV  ·  SAFE-001 cognitive-agent safety doctrine.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Dates of use:             March 2026 - May 2026 (conference-preparation arc).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Standards reference:      huf-gov/standards/HUF_PUBLICATION_STANDARDS.json  ·  v1.0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huf-gov/standards/HUF_TENSOR_TRAIN_IO_STANDARD.json  ·  v1.0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Data reproducibility:     content_sha256 + engine_signature on every JSON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                          REPRODUCIBILITY_CHECKLIST.md at repo root.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589520"/>
            <a:ext cx="1353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9954E"/>
                </a:solidFill>
                <a:latin typeface="Calibri"/>
              </a:rPr>
              <a:t>The instrument reads.  The expert decides.  The hashes carry the receipts.  The vocabulary holds the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