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54480"/>
            <a:ext cx="9144000" cy="13716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EEEEEE"/>
                </a:solidFill>
                <a:latin typeface="Calibri"/>
              </a:rPr>
              <a:t>Compositional monitoring of energy-mix drift on the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91440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800" b="0" i="1">
                <a:solidFill>
                  <a:srgbClr val="F2B632"/>
                </a:solidFill>
                <a:latin typeface="Calibri"/>
              </a:rPr>
              <a:t>Which carrier did the structural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1">
                <a:solidFill>
                  <a:srgbClr val="EEEEEE"/>
                </a:solidFill>
                <a:latin typeface="Calibri"/>
              </a:rPr>
              <a:t>Not only which carrier got bigger — which carrier moved the composition.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0">
                <a:solidFill>
                  <a:srgbClr val="B8B8B8"/>
                </a:solidFill>
                <a:latin typeface="Calibri"/>
              </a:rPr>
              <a:t>CoDaWork 2026  ·  Coimbra, Portugal  ·  1–5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0">
                <a:solidFill>
                  <a:srgbClr val="B8B8B8"/>
                </a:solidFill>
                <a:latin typeface="Calibri"/>
              </a:rPr>
              <a:t>P. Higgins  ·  Rogue Wave Audio / Binaural Test Lab  ·  Markham, Ontario, Canada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F2B632"/>
                </a:solidFill>
                <a:latin typeface="Calibri"/>
              </a:rPr>
              <a:t>Operationalizing compositional analysis — a runnable standard for researchers and the AI assistants they choose.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04088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00" b="0" i="1">
                <a:solidFill>
                  <a:srgbClr val="B8B8B8"/>
                </a:solidFill>
                <a:latin typeface="Calibri"/>
              </a:rPr>
              <a:t>The instrument reads.   The expert decides.   The hashes carry the receipts.   The vocabulary holds the 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The size view hides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A carrier can be small in share and large in structural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1" i="0">
                <a:solidFill>
                  <a:srgbClr val="EEEEEE"/>
                </a:solidFill>
                <a:latin typeface="Calibri"/>
              </a:rPr>
              <a:t>World electricity, 25 years — the standard stacked-area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4937760" cy="1463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Coal stays dominant.  Gas grows.  Nuclear declines.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Solar appears as a thin yellow sliver after 2010.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Wind grows steadily but stays visually small until 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83080"/>
            <a:ext cx="3657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What the size view misses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331720"/>
            <a:ext cx="384048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1" i="0">
                <a:solidFill>
                  <a:srgbClr val="EEEEEE"/>
                </a:solidFill>
                <a:latin typeface="Calibri"/>
              </a:rPr>
              <a:t>USA Solar, 2012 → 2013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788920"/>
            <a:ext cx="3840480" cy="13716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starting share        0.107 %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structural Power Share  81.7 %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Activation Coefficient   ≈ 760 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434840"/>
            <a:ext cx="3840480" cy="9144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C98A1C"/>
                </a:solidFill>
                <a:latin typeface="Calibri"/>
              </a:rPr>
              <a:t>Solar acted at 760 × its size.</a:t>
            </a:r>
          </a:p>
          <a:p>
            <a:pPr algn="l"/>
            <a:r>
              <a:rPr sz="1300" b="0" i="1">
                <a:solidFill>
                  <a:srgbClr val="C98A1C"/>
                </a:solidFill>
                <a:latin typeface="Calibri"/>
              </a:rPr>
              <a:t>No size view shows that.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877824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F2B632"/>
                </a:solidFill>
                <a:latin typeface="Calibri"/>
              </a:rPr>
              <a:t>This talk is the reason that number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85800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B8B8B8"/>
                </a:solidFill>
                <a:latin typeface="Calibri"/>
              </a:rPr>
              <a:t>Mathematics: standard compositional data analysis.  Application: monitoring frame may be new.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Five viewpoints, one observable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Each viewpoint answers one question.  Together: an auditable transition event.</a:t>
            </a:r>
          </a:p>
        </p:txBody>
      </p:sp>
      <p:pic>
        <p:nvPicPr>
          <p:cNvPr id="4" name="Picture 3" descr="fig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120640" cy="391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69164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57400"/>
            <a:ext cx="36576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what share each carrier has.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51460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Helmsman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88036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which carrier has the largest CLR move at a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42900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Helmsman trajectory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794760"/>
            <a:ext cx="36576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when the steering carrier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25196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Power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61772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how much squared CLR motion each carrier did.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16636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Activation Coefficient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53212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Power Share ÷ starting share — the yeast factor.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8580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B8B8B8"/>
                </a:solidFill>
                <a:latin typeface="Calibri"/>
              </a:rPr>
              <a:t>All five derive from CLR + ILR-Helmert.  Pure CoDa geometry; no new mathematics.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The Activation Coefficient — the yeast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How much structural work a carrier does, relative to how much of the mix it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200" b="1" i="0">
                <a:solidFill>
                  <a:srgbClr val="F2B632"/>
                </a:solidFill>
                <a:latin typeface="Consolas"/>
              </a:rPr>
              <a:t>α_i(t)  =  Power Share_i(t)  ÷  starting share_i(t)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Calibri"/>
              </a:rPr>
              <a:t>α ≈ 1     carrier does work proportional to its size — ordinary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1" i="0">
                <a:solidFill>
                  <a:srgbClr val="F2B632"/>
                </a:solidFill>
                <a:latin typeface="Calibri"/>
              </a:rPr>
              <a:t>α ≫ 1     carrier acts far above its size — hidden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B8B8B8"/>
                </a:solidFill>
                <a:latin typeface="Calibri"/>
              </a:rPr>
              <a:t>α &lt; 1     carrier carries less work than its size suggests — coasting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EEEEEE"/>
                </a:solidFill>
                <a:latin typeface="Calibri"/>
              </a:rPr>
              <a:t>Worked example — USA Solar 2012 →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8778240" cy="13716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starting share      0.107 %     small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Power Share         81.7  %     most of the work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α                   ≈ 760 ×     yeast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C98A1C"/>
                </a:solidFill>
                <a:latin typeface="Calibri"/>
              </a:rPr>
              <a:t>Yeast is 2% of a loaf by mass and does 100% of the rising. Same shape.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90372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B8B8B8"/>
                </a:solidFill>
                <a:latin typeface="Calibri"/>
              </a:rPr>
              <a:t>Solar 2010–2015 appears repeatedly as small-share / large-structural-work across the corpus.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Three archetypes — one instrument, three regimes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Same protocol applied to three transitions that look fundamentally different.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Germany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EEEEEE"/>
                </a:solidFill>
                <a:latin typeface="Calibri"/>
              </a:rPr>
              <a:t>deliberate 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B8B8B8"/>
                </a:solidFill>
                <a:latin typeface="Calibri"/>
              </a:rPr>
              <a:t>continuous arc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274320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Energiewende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2000 → 2025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solar + wind absorb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structural work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before size dominates.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9164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0312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EEEEEE"/>
                </a:solidFill>
                <a:latin typeface="Calibri"/>
              </a:rPr>
              <a:t>external shock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2316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B8B8B8"/>
                </a:solidFill>
                <a:latin typeface="Calibri"/>
              </a:rPr>
              <a:t>loop and reorganise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71800"/>
            <a:ext cx="274320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Fukushima 2011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displaces nuclear,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causes 2011–2013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multi-year compositional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reorganisation.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69164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United Kingdom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0312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EEEEEE"/>
                </a:solidFill>
                <a:latin typeface="Calibri"/>
              </a:rPr>
              <a:t>regime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42316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B8B8B8"/>
                </a:solidFill>
                <a:latin typeface="Calibri"/>
              </a:rPr>
              <a:t>jump and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971800"/>
            <a:ext cx="274320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Coal exit 2012–2020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from &gt; 30 % to &lt; 2 %.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Wind, solar, others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absorb displaced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structural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76656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1">
                <a:solidFill>
                  <a:srgbClr val="F2B632"/>
                </a:solidFill>
                <a:latin typeface="Calibri"/>
              </a:rPr>
              <a:t>Three different transition regimes.  One operational protocol reads them 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Germany — deliberate transition as continuous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The Energiewende read as a single smooth arc on the simplex.</a:t>
            </a:r>
          </a:p>
        </p:txBody>
      </p:sp>
      <p:pic>
        <p:nvPicPr>
          <p:cNvPr id="4" name="Picture 3" descr="fig2_germ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949440" cy="4572000"/>
          </a:xfrm>
          <a:prstGeom prst="rect">
            <a:avLst/>
          </a:prstGeom>
        </p:spPr>
      </p:pic>
      <p:pic>
        <p:nvPicPr>
          <p:cNvPr id="5" name="Picture 4" descr="fig6_nav_d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417320"/>
            <a:ext cx="2377440" cy="1837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722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1" i="0">
                <a:solidFill>
                  <a:srgbClr val="F2B632"/>
                </a:solidFill>
                <a:latin typeface="Calibri"/>
              </a:rPr>
              <a:t>Solar 2005–2006:  0.21 % share  ·  71.1 % structural work  ·  α ≈ 333 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Helmsman trajectory: course directness 0.41 — continuous arc to renewable vertex.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Japan — Fukushima shock and reorganisation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The instrument detects both the shock and the multi-year reorganisation.</a:t>
            </a:r>
          </a:p>
        </p:txBody>
      </p:sp>
      <p:pic>
        <p:nvPicPr>
          <p:cNvPr id="4" name="Picture 3" descr="fig3_j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949440" cy="4572000"/>
          </a:xfrm>
          <a:prstGeom prst="rect">
            <a:avLst/>
          </a:prstGeom>
        </p:spPr>
      </p:pic>
      <p:pic>
        <p:nvPicPr>
          <p:cNvPr id="5" name="Picture 4" descr="fig6_nav_j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417320"/>
            <a:ext cx="2377440" cy="1837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722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1" i="0">
                <a:solidFill>
                  <a:srgbClr val="F2B632"/>
                </a:solidFill>
                <a:latin typeface="Calibri"/>
              </a:rPr>
              <a:t>Aitchison distance 2011 → 2012  ≈ 3 × neighbouring-year baseline  ·  helmsman flips 17 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Course directness 0.09 — looping reorganisation, not a single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United Kingdom — coal exit as regime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Policy-driven displacement, absorbed across multiple renewable carriers.</a:t>
            </a:r>
          </a:p>
        </p:txBody>
      </p:sp>
      <p:pic>
        <p:nvPicPr>
          <p:cNvPr id="4" name="Picture 3" descr="fig4_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949440" cy="4572000"/>
          </a:xfrm>
          <a:prstGeom prst="rect">
            <a:avLst/>
          </a:prstGeom>
        </p:spPr>
      </p:pic>
      <p:pic>
        <p:nvPicPr>
          <p:cNvPr id="5" name="Picture 4" descr="fig6_nav_gb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417320"/>
            <a:ext cx="2377440" cy="1837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722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1" i="0">
                <a:solidFill>
                  <a:srgbClr val="F2B632"/>
                </a:solidFill>
                <a:latin typeface="Calibri"/>
              </a:rPr>
              <a:t>Coal:  &gt; 30 %  →  &lt; 2 %.   Wind, solar, and other renewables absorb the displaced structural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Course directness 0.36 — jump-and-return archetype.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Cross-country signature — 5 of 9 reproduce the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From three case archetypes to a corpus-level result.</a:t>
            </a:r>
          </a:p>
        </p:txBody>
      </p:sp>
      <p:pic>
        <p:nvPicPr>
          <p:cNvPr id="4" name="Picture 3" descr="fig5_cross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17320"/>
            <a:ext cx="69494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91440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1" i="0">
                <a:solidFill>
                  <a:srgbClr val="F2B632"/>
                </a:solidFill>
                <a:latin typeface="Calibri"/>
              </a:rPr>
              <a:t>fires   AUS · CHN · GBR · IND · JPN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0">
                <a:solidFill>
                  <a:srgbClr val="B8B8B8"/>
                </a:solidFill>
                <a:latin typeface="Calibri"/>
              </a:rPr>
              <a:t>quiet   DEU (annual) · FRA · USA · WLD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2694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C98A1C"/>
                </a:solidFill>
                <a:latin typeface="Calibri"/>
              </a:rPr>
              <a:t>A useful detector should not fire everywhere.  Discrimination is itself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What the stack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One observable, five distinct questions, one reproducible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82880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carriers are big.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size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60604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is at the wheel.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0604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Helmsman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38328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the steering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38328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Helmsman trajectory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HOW MUCH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16052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work each carrier did.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16052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Power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93776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a small carrier mattered.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Activation Coefficient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85800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1">
                <a:solidFill>
                  <a:srgbClr val="F2B632"/>
                </a:solidFill>
                <a:latin typeface="Calibri"/>
              </a:rPr>
              <a:t>The stack does not replace interpretation.  It gives interpretation a reproducible object.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MC-4 — the falsifiable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Three conjuncts.  Four defeat paths.  One open invitation to the room.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41148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600" b="1" i="0">
                <a:solidFill>
                  <a:srgbClr val="F2B632"/>
                </a:solidFill>
                <a:latin typeface="Calibri"/>
              </a:rPr>
              <a:t>The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4572000" cy="32004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Hˢ is the first published protocol that combines: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  1.  Aitchison-native compositional metrics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  2.  formal change-point / deceptive-drift detection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  3.  carrier-level structural-work attribution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691640"/>
            <a:ext cx="41148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600" b="1" i="0">
                <a:solidFill>
                  <a:srgbClr val="F2B632"/>
                </a:solidFill>
                <a:latin typeface="Calibri"/>
              </a:rPr>
              <a:t>Defeat paths (any one falsifies)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148840"/>
            <a:ext cx="4297680" cy="41148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  A.   prior-art path — show all three were already combined.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  B.   metric path — show a defensible non-Aitchison metric.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  C.   case path — show a country / year the protocol misreads.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  D.   category path — show the construct itself is ill-posed.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1">
                <a:solidFill>
                  <a:srgbClr val="F2B632"/>
                </a:solidFill>
                <a:latin typeface="Calibri"/>
              </a:rPr>
              <a:t>This is the claim I am asking the CoDa community to test.  Take it apart.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>INV-051 CANONICAL · 5 of 9 reproduces empirically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Now inspect the instrument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I will not ask you to trust the speaker.  The outputs are open for inspection.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1" i="0">
                <a:solidFill>
                  <a:srgbClr val="F2B632"/>
                </a:solidFill>
                <a:latin typeface="Calibri"/>
              </a:rPr>
              <a:t>Manuscript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743200" cy="32004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25-page paper,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Nature structure,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Supplementary Info,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six figures.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papers/codawork2026/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  manuscript/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78308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1" i="0">
                <a:solidFill>
                  <a:srgbClr val="F2B632"/>
                </a:solidFill>
                <a:latin typeface="Calibri"/>
              </a:rPr>
              <a:t>Cinema scroll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286000"/>
            <a:ext cx="2743200" cy="32004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66-slide reel,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325-page master PDF.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Every plate the engine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produced for the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nine-country EMBER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corpus.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Scroll at speed.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Pause anywhere.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78308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1" i="0">
                <a:solidFill>
                  <a:srgbClr val="F2B632"/>
                </a:solidFill>
                <a:latin typeface="Calibri"/>
              </a:rPr>
              <a:t>Projector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286000"/>
            <a:ext cx="2743200" cy="32004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Offline HTML.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RADAR · BARY · ALIGN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+ SHOCK overlay.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Q&amp;A backdrop.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No network call.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Runs in any browser.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1" i="0">
                <a:solidFill>
                  <a:srgbClr val="F2B632"/>
                </a:solidFill>
                <a:latin typeface="Calibri"/>
              </a:rPr>
              <a:t>github.com / PeterHiggins19 / higgins-decomposition   ·   CODA-Association/   ·   QR on handout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EEEEEE"/>
                </a:solidFill>
                <a:latin typeface="Calibri"/>
              </a:rPr>
              <a:t>Hand-out in UN-6 locales (EN · FR · ES · RU · ZH · AR).  Operationalization standard, runnable.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7208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900" b="0" i="0">
                <a:solidFill>
                  <a:srgbClr val="B8B8B8"/>
                </a:solidFill>
                <a:latin typeface="Calibri"/>
              </a:rPr>
              <a:t>AI Use Declaration (HUF-STD-001 v1.1): research design, mathematical content, code, and scientific responsibility remain with the named author.  AI assistants (Claude, ChatGPT, Grok) used for drafting, sweeps, and reviews.  Author retains full responsibility.   Apache-2.0 code  ·  CC BY 4.0 docs.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36092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00" b="0" i="1">
                <a:solidFill>
                  <a:srgbClr val="F2B632"/>
                </a:solidFill>
                <a:latin typeface="Calibri"/>
              </a:rPr>
              <a:t>The instrument reads.  The expert decides.  The hashes carry the receipts.  The vocabulary holds the line.  The AI follows the same protocol.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