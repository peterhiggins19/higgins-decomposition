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914400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200" b="1" i="0">
                <a:solidFill>
                  <a:srgbClr val="EEEEEE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F2B632"/>
                </a:solidFill>
                <a:latin typeface="Calibri"/>
              </a:rPr>
              <a:t>Five viewpoints. One observable stack. The hidden drivers, named.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0">
                <a:solidFill>
                  <a:srgbClr val="B8B8B8"/>
                </a:solidFill>
                <a:latin typeface="Calibri"/>
              </a:rPr>
              <a:t>CoDaWork 2026  ·  11th International Workshop on Compositional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B8B8B8"/>
                </a:solidFill>
                <a:latin typeface="Calibri"/>
              </a:rPr>
              <a:t>Coimbra, Portugal  ·  1–5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EEEEEE"/>
                </a:solidFill>
                <a:latin typeface="Calibri"/>
              </a:rPr>
              <a:t>P. Higgins  ·  Independent researcher  ·  Rogue Wave Audio, Markham, Ontario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B8B8B8"/>
                </a:solidFill>
                <a:latin typeface="Calibri"/>
              </a:rPr>
              <a:t>Manuscript available — see Standard Stamp on final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04088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B8B8B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What carriers really drove each country's energy transition — and which were doing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When an electricity mix shifts over twenty-five years, two questions appear together: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82296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1.   WHAT path did the system take?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8229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B8B8B8"/>
                </a:solidFill>
                <a:latin typeface="Calibri"/>
              </a:rPr>
              <a:t>        Which carriers grew, which shrank, which stayed flat?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82296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2.   WHY did it take that path?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8229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B8B8B8"/>
                </a:solidFill>
                <a:latin typeface="Calibri"/>
              </a:rPr>
              <a:t>        Which carriers were doing the structural work behind the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8778240" cy="8229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EEEEEE"/>
                </a:solidFill>
                <a:latin typeface="Calibri"/>
              </a:rPr>
              <a:t>The standard answer is a stacked-area chart of share-over-time.</a:t>
            </a:r>
          </a:p>
          <a:p>
            <a:pPr algn="l"/>
            <a:r>
              <a:rPr sz="1400" b="0" i="1">
                <a:solidFill>
                  <a:srgbClr val="EEEEEE"/>
                </a:solidFill>
                <a:latin typeface="Calibri"/>
              </a:rPr>
              <a:t>It answers the first question and silently misleads the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8778240" cy="8229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B8B8B8"/>
                </a:solidFill>
                <a:latin typeface="Calibri"/>
              </a:rPr>
              <a:t>A small-share carrier whose share triples appears as a sliver.</a:t>
            </a:r>
          </a:p>
          <a:p>
            <a:pPr algn="l"/>
            <a:r>
              <a:rPr sz="1300" b="0" i="0">
                <a:solidFill>
                  <a:srgbClr val="B8B8B8"/>
                </a:solidFill>
                <a:latin typeface="Calibri"/>
              </a:rPr>
              <a:t>A large-share carrier drifting one point appears as the headline.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67512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F2B632"/>
                </a:solidFill>
                <a:latin typeface="Calibri"/>
              </a:rPr>
              <a:t>This talk introduces the Activation Coefficient — the formal name for the carrier-level diagnostic that names the hidden drivers the size view never shows.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Viewpoint 1 — the size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What everyone sees when they look at the size view.  And what they miss.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WORLD ELECTRICITY GENERATION — the standard stacked-area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029200" cy="18288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Coal stays dominant for most of the period.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Solar appears as a thin yellow sliver after 2010.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Gas grows substantially.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Nuclear declines slowly.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Wind grows steadily but is small until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83080"/>
            <a:ext cx="3657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What the chart hides: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384048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USA, 2012–2013.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Solar holds 0.107 % of the mix.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Solar did 81.7 % of the structural work.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Activation Coefficient:  760 × its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937760"/>
            <a:ext cx="384048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C98A1C"/>
                </a:solidFill>
                <a:latin typeface="Calibri"/>
              </a:rPr>
              <a:t>The size view did not show that.  No size view ever could.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877824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The protocol presented today reads compositions natively in Aitchison geometry, stacks five viewpoints into one observable, and names the hidden drivers explicitly.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Mathematical foundation: standard compositional data analysis.   Operational claim: monitoring application is what is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The five-viewpoint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Each viewpoint answers one specific question.  Combined, they yield a complete answer for any year-to-year transition step.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63040"/>
            <a:ext cx="6949440" cy="530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Viewpoint 2 — the helmsman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Who is at the wheel each year?  The single carrier with the largest CLR displacement at each transition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FORMAL DEFINITION  (Eq.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EEEEEE"/>
                </a:solidFill>
                <a:latin typeface="Cambria"/>
              </a:rPr>
              <a:t>σ(t)  =  argmax_i   | clr_i(t+1)  −  clr_i(t)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8778240" cy="7315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The helmsman is a categorical assignment per step.  It names which carrier did the most directional work between two consecutive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READING THE HELMSMAN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8778240" cy="2194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 helmsman trajectory σ(1), σ(2), … shows who held the wheel year-by-year.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 'flip count' is the number of times the helmsman changes carrier across the window.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Plotted with DOTTED lines — no continuous carrier-to-carrier path is implied.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 helmsman is a categorical label, not a position on a continuum.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7208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C98A1C"/>
                </a:solidFill>
                <a:latin typeface="Calibri"/>
              </a:rPr>
              <a:t>In our corpus the helmsman flip count ranges from 4 (World aggregate, stable) to 17 (Japan, post-Fukushima cascade).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Viewpoint 3 — Power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How much each carrier did at each transition.  Sums to 100 % across the carriers at every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FORMAL DEFINITION  (Eq.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EEEEEE"/>
                </a:solidFill>
                <a:latin typeface="Cambria"/>
              </a:rPr>
              <a:t>π_i(t)   =   ( Δ clr_i )²   /   Σ_j ( Δ clr_j )² ,        Σ_i  π_i(t)  =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8778240" cy="7315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The natural decomposition of the squared Aitchison distance across the carriers.  No carrier is hidden by the bookkeeping.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8778240" cy="2194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 standard size view tells you what's BIG.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 Power Share tells you what's MOVING.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These are different questions.  A 30 %-share carrier holding steady has 0 % Power Share.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•   A 0.1 %-share carrier in rapid growth can have 70–85 % Power Share at the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7208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C98A1C"/>
                </a:solidFill>
                <a:latin typeface="Calibri"/>
              </a:rPr>
              <a:t>What's big ≠ what's moving.  This is the operational distinction that makes the rest of the protocol useful.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Viewpoint 4 — the Activation Coefficient (the yeast factor)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Why a small carrier mattered.  The leverage-to-size ratio — directional work divided by compositional weight.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FORMAL DEFINITION  (Eq.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EEEEEE"/>
                </a:solidFill>
                <a:latin typeface="Cambria"/>
              </a:rPr>
              <a:t>α_i(t)   =   π_i(t)   /   ρ_i(t)        reported when  ρ_i ≥ 0.1 %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Power Share divided by the carrier's composition share at the start of the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8778240" cy="1645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α  =  1            the carrier did exactly its size's share of work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α  ≫  1           a small carrier doing structural work far beyond its size  →  hidden driver  →  yeast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α  ≪  1           a large carrier moving less than its size would predict   →  structural ballast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WORKED EXAMPLE — USA Solar 2012 → 2013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778240" cy="10972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onsolas"/>
              </a:rPr>
              <a:t>        composition share start of 2012  :   0.107 %        (solar was a tiny sliver)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onsolas"/>
              </a:rPr>
              <a:t>        power share of squared CLR motion :  81.7 %         (solar did most of the work)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onsolas"/>
              </a:rPr>
              <a:t>        activation coefficient           :   760 ×          (solar punched at 760× its size)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The hidden driver — solar, 2010–2015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Across nine national electricity mixes, solar at sub-0.2 % composition share did 70–85 % of the structural directional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1" i="0">
                <a:solidFill>
                  <a:srgbClr val="F2B632"/>
                </a:solidFill>
                <a:latin typeface="Calibri"/>
              </a:rPr>
              <a:t>TOP YEAST MOMENTS  ·  9-COUNTRY CORPUS  ·  filtered to composition share ≥ 0.1 %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82296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48840"/>
            <a:ext cx="118872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48840"/>
            <a:ext cx="20116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Carrier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48840"/>
            <a:ext cx="141732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AC ×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1371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Power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48840"/>
            <a:ext cx="13258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alibri"/>
              </a:rPr>
              <a:t>Size at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06040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2012–2013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06040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06040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760 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06040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81.7 %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606040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0.107 %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90088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90088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2010–2011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990088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990088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659 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90088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72.6 %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990088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0.110 %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74136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374136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FRA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374136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2004–2005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374136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Wind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374136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634 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74136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66.0 %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374136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0.104 %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58184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758184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CHN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758184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2013–2014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758184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758184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549 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58184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84.7 %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758184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0.154 %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142232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42232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WLD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4142232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2010–2011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142232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142232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513 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142232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77.7 %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142232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0.151 %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26280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526280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FRA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4526280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2005–2006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526280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Wind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526280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495 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526280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83.5 %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526280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0.169 %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910328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910328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USA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40" y="4910328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2013–2014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910328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4910328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395 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910328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87.9 %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4910328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0.223 %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294376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294376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CHN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294376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2004–2005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4640" y="5294376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Bioenergy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6320" y="5294376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346 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5294376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39.7 %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5294376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0.115 %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678424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678424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DEU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1640" y="5678424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2005–2006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40" y="5678424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Solar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6320" y="5678424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333 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78424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71.1 %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8120" y="5678424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0.214 %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062472"/>
            <a:ext cx="3657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6062472"/>
            <a:ext cx="822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EEEEEE"/>
                </a:solidFill>
                <a:latin typeface="Consolas"/>
              </a:rPr>
              <a:t>GBR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91640" y="6062472"/>
            <a:ext cx="11887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2001–2002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34640" y="6062472"/>
            <a:ext cx="20116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Wind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46320" y="6062472"/>
            <a:ext cx="141732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1" i="0">
                <a:solidFill>
                  <a:srgbClr val="F2B632"/>
                </a:solidFill>
                <a:latin typeface="Consolas"/>
              </a:rPr>
              <a:t>190 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6062472"/>
            <a:ext cx="13716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47.5 %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20" y="6062472"/>
            <a:ext cx="132588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0.249 %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62940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libri"/>
              </a:rPr>
              <a:t>Solar dominates seven of the top ten.  All in the 2010–2015 window.  Composition share between 0.1 % and 0.2 %.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708660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1" i="1">
                <a:solidFill>
                  <a:srgbClr val="F2B632"/>
                </a:solidFill>
                <a:latin typeface="Calibri"/>
              </a:rPr>
              <a:t>The size view never showed it.  The Activation Coefficient names it.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Germany — the continuous arc to the renewable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Twenty-five years of deliberate composition change.  The acceleration moments hidden in the size view.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7315200" cy="5652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Solar 2005–2006 at 0.21 % share, doing 71.1 % of the work — AC ≈ 333×.    The structural beginning of the Energiewende.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Japan — Fukushima 2011 and the multi-year reorganisation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An external shock that registers in every viewpoint.  The post-shock cascade tells the deeper story.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7315200" cy="5652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Helmsman flips: 17 — the loudest in the corpus.    Aitchison distance 2011 → 2012 = 3× neighbouring years.    Multi-year cascade.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United Kingdom — the coal exit as a regime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Policy-driven transition.  Coal goes from &gt; 30 % to &lt; 2 %.  Specific small carriers absorbed the displaced share.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7315200" cy="5652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Coal disappeared into specific, small, hard-working sub-categories — not into 'renewables' broadly.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Germany — the navigation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PCA 2D projection of the CLR trajectory.  Continuous-arc archetype — course directness 0.41.</a:t>
            </a:r>
          </a:p>
        </p:txBody>
      </p:sp>
      <p:pic>
        <p:nvPicPr>
          <p:cNvPr id="4" name="Picture 3" descr="fig6_nav_d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678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Directional arc.  Long, deliberate motion through Aitchison space — the geometric signature of the Energiewende.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Japan — the navigation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PCA 2D projection of the CLR trajectory.  Heavy-looping archetype — course directness 0.09.</a:t>
            </a:r>
          </a:p>
        </p:txBody>
      </p:sp>
      <p:pic>
        <p:nvPicPr>
          <p:cNvPr id="4" name="Picture 3" descr="fig6_nav_j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678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Looping trajectory.  External shock (Fukushima 2011) and multi-year reorganisation register as path curvature.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United Kingdom — the navigation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PCA 2D projection of the CLR trajectory.  Jump-and-return archetype — course directness 0.36.</a:t>
            </a:r>
          </a:p>
        </p:txBody>
      </p:sp>
      <p:pic>
        <p:nvPicPr>
          <p:cNvPr id="4" name="Picture 3" descr="fig6_nav_g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678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1780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F2B632"/>
                </a:solidFill>
                <a:latin typeface="Calibri"/>
              </a:rPr>
              <a:t>Coal-exit regime change.  The geometry records the displacement and where the share went.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Cross-country signature — five of nine countries reproduce the deceptive-drift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Australia, China, United Kingdom, India, Japan fire the signature.  Germany, France, USA, World aggregate do not.</a:t>
            </a:r>
          </a:p>
        </p:txBody>
      </p:sp>
      <p:pic>
        <p:nvPicPr>
          <p:cNvPr id="4" name="Picture 3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82296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The synthesis  —  WHAT path  + 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Five viewpoints stack into one observable.  Each gives a partial glimpse; together they form the complete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108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Viewpoint 1  ·  Size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45920"/>
            <a:ext cx="27432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WHAT carriers are big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292608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50" b="0" i="0">
                <a:solidFill>
                  <a:srgbClr val="B8B8B8"/>
                </a:solidFill>
                <a:latin typeface="Calibri"/>
              </a:rPr>
              <a:t>Standard stacked-area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108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Viewpoint 2  ·  Helmsman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14600"/>
            <a:ext cx="27432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WHO is at the 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292608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50" b="0" i="0">
                <a:solidFill>
                  <a:srgbClr val="B8B8B8"/>
                </a:solidFill>
                <a:latin typeface="Calibri"/>
              </a:rPr>
              <a:t>Categorical per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108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Viewpoint 3  ·  Helmsman 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83280"/>
            <a:ext cx="27432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WHEN the wheel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292608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50" b="0" i="0">
                <a:solidFill>
                  <a:srgbClr val="B8B8B8"/>
                </a:solidFill>
                <a:latin typeface="Calibri"/>
              </a:rPr>
              <a:t>Dotted-line plot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59"/>
            <a:ext cx="3108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Viewpoint 4  ·  Power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251959"/>
            <a:ext cx="27432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HOW MUCH each carrier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51959"/>
            <a:ext cx="292608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50" b="0" i="0">
                <a:solidFill>
                  <a:srgbClr val="B8B8B8"/>
                </a:solidFill>
                <a:latin typeface="Calibri"/>
              </a:rPr>
              <a:t>Squared-CLR decomposition (sums to 100 %)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310896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Viewpoint 5  ·  Activation Coefficient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120640"/>
            <a:ext cx="27432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WHY a small carrier mattered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20640"/>
            <a:ext cx="292608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50" b="0" i="0">
                <a:solidFill>
                  <a:srgbClr val="B8B8B8"/>
                </a:solidFill>
                <a:latin typeface="Calibri"/>
              </a:rPr>
              <a:t>Power Share ÷ composition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0408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1" i="1">
                <a:solidFill>
                  <a:srgbClr val="F2B632"/>
                </a:solidFill>
                <a:latin typeface="Calibri"/>
              </a:rPr>
              <a:t>Used together, the five viewpoints answer  WHAT  ·  WHO  ·  WHEN  ·  HOW MUCH  ·  WHY  —  the complete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The falsifiable claim — MC-4 in three conjuncts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Aitchison-native  +  formal change detection  +  carrier-level attribution  →  one observable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EEEEEE"/>
                </a:solidFill>
                <a:latin typeface="Calibri"/>
              </a:rPr>
              <a:t>Four explicit ways a CoDa specialist could defeat the claim: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4688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1.  Prior-art defeat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31720"/>
            <a:ext cx="6400800" cy="1051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Show the three-conjunct combination already exists in the literature.  Closest adjacent prior art identified: Morais, Thomas-Agnan &amp; Simioni (2018); Arata &amp; Onozaki (2017).  Neither combines all three to our reading; a closer match is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2.  Metric defeat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29000"/>
            <a:ext cx="6400800" cy="1051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Show the verdicts reverse under a different valid simplex metric.  We have verified pair-invariance for TV distance and Aitchison distance across 101 datasets — but not exhausted the family.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79"/>
            <a:ext cx="24688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3.  Case defeat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26279"/>
            <a:ext cx="6400800" cy="1051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Show the 5-of-9 deceptive-drift signature is an artefact of preprocessing, carrier definition, or null-model choice rather than a robust compositional read.  Full corpus is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59"/>
            <a:ext cx="24688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4.  Category defeat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623559"/>
            <a:ext cx="6400800" cy="10515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Show compositional monitoring is most accurately an application note inside existing CoDa rather than a distinct monitoring category.  We hold no preconceived answer on this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9951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F2B632"/>
                </a:solidFill>
                <a:latin typeface="Calibri"/>
              </a:rPr>
              <a:t>The mathematics is not new.  The monitoring application may be.  If that sentence is wrong, this is the right room to kill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Now — every plate the engine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What follows is not slides about data.  It is the data, run through the engine, scrolled through as a movie.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800" b="1" i="0">
                <a:solidFill>
                  <a:srgbClr val="F2B632"/>
                </a:solidFill>
                <a:latin typeface="Calibri"/>
              </a:rPr>
              <a:t>Nine countries.  Twenty-six years.  Six plates per country.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libri"/>
              </a:rPr>
              <a:t>Master cover  →  9 country sections  ·  each section: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11880"/>
            <a:ext cx="6858000" cy="22860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cover slide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Stage 1 Section plate  —  bearings, CLR, plan view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System course plot  —  CLR trajectory PCA (the navigation chart)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Helmsman family  —  Sigma sequence, flip count, stability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ILR-Helmert Triplet plate  —  three orthogonal scatter panels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onsolas"/>
              </a:rPr>
              <a:t>  ·  CNQ dashboard  —  quaternion-view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C98A1C"/>
                </a:solidFill>
                <a:latin typeface="Calibri"/>
              </a:rPr>
              <a:t>Sixty-six slides.  Pause me anywhere.  Every quantity hash-chained to the input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B8B8B8"/>
                </a:solidFill>
                <a:latin typeface="Consolas"/>
              </a:rPr>
              <a:t>→  CodaWork2026_PremierDataOutput_2026-05-13.pptx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Q &amp; A — with the manifold projector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Live HTML projector.  Interactive 3-D view of the energy-mix manifold.  Stays on through the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F2B632"/>
                </a:solidFill>
                <a:latin typeface="Calibri"/>
              </a:rPr>
              <a:t>WHILE YOU ASK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88920"/>
            <a:ext cx="6858000" cy="20116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  ·  ORBIT  —  3-D rotation of the manifold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  ·  TRAILS  —  show the trajectory paths over time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  ·  LABELS  —  year labels along each path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  ·  GHOST  —  partial-transparency overlay across countries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  ·  FRONT / SIDE / TOP  —  fixed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libri"/>
              </a:rPr>
              <a:t>Run all  ·  Run AUS / CHN / DEU / FRA / GBR / IND / JPN / USA / WLD individually.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200" b="1" i="0">
                <a:solidFill>
                  <a:srgbClr val="EEEEEE"/>
                </a:solidFill>
                <a:latin typeface="Calibri"/>
              </a:rPr>
              <a:t>Thank you.  I'll take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9037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50" b="0" i="1">
                <a:solidFill>
                  <a:srgbClr val="B8B8B8"/>
                </a:solidFill>
                <a:latin typeface="Consolas"/>
              </a:rPr>
              <a:t>→  codawork2026_projector.html   (open in browser; runs offline; no network required)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Repositories  ·  reproduce every plate 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Hashes carry the receipts.  Anyone with the raw EMBER CSV can verify any 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38912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higgins-decomposition (Hˢ)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4572000" cy="18288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Deterministic engines  ·  CNT v3.1.0  /  CNQ v2.0.0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63 Investigation Catalog entries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Hˢ Change Control v1.0  ·  HUF-STD-001/002/003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Manuscript:  papers/codawork2026/manuscript/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1">
                <a:solidFill>
                  <a:srgbClr val="F2B632"/>
                </a:solidFill>
                <a:latin typeface="Consolas"/>
              </a:rPr>
              <a:t>github.com/PeterHiggins19/higgins-decomposition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920240"/>
            <a:ext cx="41148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Higgins-Unity-Framework (HUF)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4114800" cy="18288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MC-4 framing  ·  EITT canonical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HUF Governance Charter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KILL-001  ·  19 named failure modes</a:t>
            </a:r>
          </a:p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Companion: case studies + cross-AI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206240"/>
            <a:ext cx="4572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1">
                <a:solidFill>
                  <a:srgbClr val="F2B632"/>
                </a:solidFill>
                <a:latin typeface="Consolas"/>
              </a:rPr>
              <a:t>github.com/PeterHiggins19/Higgins-Unity-Framework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Self-discipline note:  the L2 → TV correction is on the record.  We tell on ourselves when we mislabel.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8778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F2B632"/>
                </a:solidFill>
                <a:latin typeface="Calibri"/>
              </a:rPr>
              <a:t>The mathematics is not new.   The monitoring application may 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67512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EEEEEE"/>
                </a:solidFill>
                <a:latin typeface="Calibri"/>
              </a:rPr>
              <a:t>The talk is an ascent waypoint, not the summit.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EEEEEE"/>
                </a:solidFill>
                <a:latin typeface="Calibri"/>
              </a:rPr>
              <a:t>AI Use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Per HUF Publication Standards (HUF-STD-001 v1.1) — conforming to scientific community conventions.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1" i="0">
                <a:solidFill>
                  <a:srgbClr val="F2B632"/>
                </a:solidFill>
                <a:latin typeface="Calibri"/>
              </a:rPr>
              <a:t>STANDARDS CONFORMANCE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ICMJE  ·  COPE  ·  Nature / Springer  ·  Science / AAAS  ·  WAME  ·  EU AI Act (2024)  ·  arXiv  ·  ACM  ·  IEEE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1" i="0">
                <a:solidFill>
                  <a:srgbClr val="F2B632"/>
                </a:solidFill>
                <a:latin typeface="Calibri"/>
              </a:rPr>
              <a:t>AI TOOLS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Claude (Anthropic)  ·  ChatGPT (OpenAI)  ·  Copilot (Microsoft)  ·  Gemini (Google)  ·  Grok (xAI)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1">
                <a:solidFill>
                  <a:srgbClr val="B8B8B8"/>
                </a:solidFill>
                <a:latin typeface="Calibri"/>
              </a:rPr>
              <a:t>Collectively: the HUF AI Collective.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1" i="0">
                <a:solidFill>
                  <a:srgbClr val="F2B632"/>
                </a:solidFill>
                <a:latin typeface="Calibri"/>
              </a:rPr>
              <a:t>TASKS PERFORMED BY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8778240" cy="8229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Drafting of supporting documents and slides  ·  consistency editing  ·  cross-checking claims across documents</a:t>
            </a:r>
          </a:p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Literature-search assistance for prior-art areas  ·  adversarial review for overclaim and drift catching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1" i="0">
                <a:solidFill>
                  <a:srgbClr val="F2B632"/>
                </a:solidFill>
                <a:latin typeface="Calibri"/>
              </a:rPr>
              <a:t>AUTHOR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877824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P. Higgins retains full responsibility for all scientific claims, data interpretation, methodological choices,</a:t>
            </a:r>
          </a:p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and conclusions.  All AI-generated content has been reviewed and verified.  AI tools are NOT listed as authors.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200" b="1" i="0">
                <a:solidFill>
                  <a:srgbClr val="EEEEEE"/>
                </a:solidFill>
                <a:latin typeface="Calibri"/>
              </a:rPr>
              <a:t>Hˢ Framework  ·  Engine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F2B632"/>
                </a:solidFill>
                <a:latin typeface="Calibri"/>
              </a:rPr>
              <a:t>Standard Stamp — appended to every Hˢ-produced document  ·  HUF-STD-001 compliant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From  «  CoDaWork 2026 — Final Talk — 2026-05-17 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92608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108960" cy="5029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Higgins Decomposition (Hˢ)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Deterministic compositional inference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Operates on the simplex in Aitchison geometry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Principle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CNT measures invariance.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CNQ names the algebra it lives in.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Open  ·  Hash-chained  ·  Reproducible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Apache-2.0 code  +  CC BY 4.0 docs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Same input → same output, always.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Validated across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11 domains  ·  101 reference datasets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44 orders of magnitude in scale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Three IEEE-floor confirmations: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drive failures, CMB photons,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Standard-Model neutrino oscillation.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310896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Engines  · 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3108960" cy="5029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CNT  ·  Compositional Navigation Tensor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v3.1.0  (schema 3.1.0)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cnt.py  (Python)  +  cnt.R  (R port)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Closure → CLR → ILR-Helmert →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bearing tensor, angular velocity,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Higgins scale, depth tower,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IR class, attractor fit.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CNQ  ·  Compositional Navigation Quaternion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v2.0.0  (schema cnq/2.0.0)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cnq.py (Python)  +  cnq.R (R port)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Quaternion view  ·  CHSH joint-coherence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Twin-quaternion factoring at D=8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Plate suite  ·  HUF-STD-002 link 4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Stage 0  Foundations  (HUF-STD-003)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Stage 1  Section + ILR-Helmert Triplet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Stage 2  Helmsman + course + CoDa-PCA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Stage 3  Depth tower + attractor + κ^Hs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Outputs:  PDF  /  PNG  /  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301752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1" i="0">
                <a:solidFill>
                  <a:srgbClr val="F2B632"/>
                </a:solidFill>
                <a:latin typeface="Calibri"/>
              </a:rPr>
              <a:t>Find us  · 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3017520" cy="5029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Repository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github.com/PeterHiggins19/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higgins-decomposition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Quick start (AI or researcher)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Load HS_FAST_REFRESH.json first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Read AI_AGENTS.md for the protocol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Reproduce with one command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per REPRODUCIBILITY_CHECKLIST.md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Sibling repositories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Higgins-Unity-Framework (HUF parent)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Rogue-Wave-Audio (DADC lineage)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Author  ·  Lab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Peter Higgins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Rogue Wave Audio /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Binaural Test Lab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Markham, Ontario, Canada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RWA-001  (lab identity card)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Contact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PeterHiggins@RogueWaveAudio.com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Open an issue on GitHub</a:t>
            </a:r>
          </a:p>
          <a:p>
            <a:pPr algn="l"/>
            <a:r>
              <a:rPr sz="950" b="0" i="0">
                <a:solidFill>
                  <a:srgbClr val="EEEEEE"/>
                </a:solidFill>
                <a:latin typeface="Calibri"/>
              </a:rPr>
              <a:t>  Help is available — free, no gatekeeping.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8660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F2B632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Calibri"/>
              </a:rPr>
              <a:t>Conforms to  HUF-STD-001 (Publication Standards)  ·  HUF-STD-002 (Tensor Train I/O)  ·  HUF-STD-003 (Linear Algebra Foundations)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