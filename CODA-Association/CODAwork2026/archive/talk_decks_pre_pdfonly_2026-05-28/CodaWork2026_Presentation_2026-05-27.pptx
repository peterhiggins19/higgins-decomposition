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9144000" cy="914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200" b="1" i="0">
                <a:solidFill>
                  <a:srgbClr val="111111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Which carrier did the structural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0" i="1">
                <a:solidFill>
                  <a:srgbClr val="111111"/>
                </a:solidFill>
                <a:latin typeface="Calibri"/>
              </a:rPr>
              <a:t>Standard compositional data analysis — what happens when we read the simplex (shares that sum to one) forward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4368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Follow along on the repository — the slide deck, manuscript, and live projector are all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46704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111111"/>
                </a:solidFill>
                <a:latin typeface="Calibri"/>
              </a:rPr>
              <a:t>Hˢ runs any compositional dataset the CoDa community can describe — every view here is reproducible on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CoDaWork 2026  ·  Coimbra, Portugal  ·  1–5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8172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P. Higgins  ·  Rogue Wave Audio / Binaural Test Lab  ·  Markham, Ontario, Canada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50992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111111"/>
                </a:solidFill>
                <a:latin typeface="Calibri"/>
              </a:rPr>
              <a:t>PeterHiggins@RogueWaveAudio.com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53328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0">
                <a:solidFill>
                  <a:srgbClr val="111111"/>
                </a:solidFill>
                <a:latin typeface="Calibri"/>
              </a:rPr>
              <a:t>github.com / PeterHiggins19 / higgins-decomposition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Community folder:  CODA-Association/   ·   Hand-out in UN-6 locales (EN · FR · ES · RU · ZH · 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004304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707070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The size view hides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A carrier can be small in share yet do most of the structural work — its share of the squared compositional motion.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937760" cy="7315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Calibri"/>
              </a:rPr>
              <a:t>Germany electricity, 25 years</a:t>
            </a:r>
          </a:p>
          <a:p>
            <a:pPr algn="l"/>
            <a:r>
              <a:rPr sz="1600" b="1" i="0">
                <a:solidFill>
                  <a:srgbClr val="111111"/>
                </a:solidFill>
                <a:latin typeface="Calibri"/>
              </a:rPr>
              <a:t>the size view — the standard share / stacked-area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4937760" cy="1463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  <a:latin typeface="Calibri"/>
              </a:rPr>
              <a:t>Coal and lignite recede.  Nuclear phases out.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alibri"/>
              </a:rPr>
              <a:t>Gas holds.  Solar and wind grow steadily.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alibri"/>
              </a:rPr>
              <a:t>Wind passes coal in the late 2010s.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783080"/>
            <a:ext cx="429768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What the size view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331720"/>
            <a:ext cx="429768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Calibri"/>
              </a:rPr>
              <a:t>Germany Solar, 2005 → 2006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788920"/>
            <a:ext cx="434340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  <a:latin typeface="Consolas"/>
              </a:rPr>
              <a:t>starting share          0.21 %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onsolas"/>
              </a:rPr>
              <a:t>structural Power Share  71.1 %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onsolas"/>
              </a:rPr>
              <a:t>Activation Coefficient   ≈ 333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434840"/>
            <a:ext cx="4297680" cy="10972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1" i="1">
                <a:solidFill>
                  <a:srgbClr val="333333"/>
                </a:solidFill>
                <a:latin typeface="Calibri"/>
              </a:rPr>
              <a:t>Solar acted at 333 × its size,</a:t>
            </a:r>
          </a:p>
          <a:p>
            <a:pPr algn="l"/>
            <a:r>
              <a:rPr sz="1600" b="1" i="1">
                <a:solidFill>
                  <a:srgbClr val="333333"/>
                </a:solidFill>
                <a:latin typeface="Calibri"/>
              </a:rPr>
              <a:t>four years before the share view</a:t>
            </a:r>
          </a:p>
          <a:p>
            <a:pPr algn="l"/>
            <a:r>
              <a:rPr sz="1600" b="1" i="1">
                <a:solidFill>
                  <a:srgbClr val="333333"/>
                </a:solidFill>
                <a:latin typeface="Calibri"/>
              </a:rPr>
              <a:t>calls solar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778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Deceptive drift: the size view hides which carrier did the structural work — here a 0.21 % carrier does 71 % of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Mathematics: standard compositional data analysis.  Application: monitoring frame may be new.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Reading time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Standard CoDa geometry, read forward in time — five named readings, each defined below.</a:t>
            </a:r>
          </a:p>
        </p:txBody>
      </p:sp>
      <p:pic>
        <p:nvPicPr>
          <p:cNvPr id="4" name="Picture 3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8961120" cy="5735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The Activation Coefficient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How much structural work a carrier does, relative to how much of the mix it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Consolas"/>
              </a:rPr>
              <a:t>α_i(t)  =  Power Share_i(t)  ÷  starting share_i(t)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α ≈ 1     carrier does work proportional to its size — ordinary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libri"/>
              </a:rPr>
              <a:t>α ≫ 1     carrier acts far above its size — hidden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α &lt; 1     carrier carries less work than its size suggests — coasting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53712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Worked example — Germany Solar 2005 → 2006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10912"/>
            <a:ext cx="8778240" cy="12801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onsolas"/>
              </a:rPr>
              <a:t>starting share      0.21 %     small</a:t>
            </a:r>
          </a:p>
          <a:p>
            <a:pPr algn="l"/>
            <a:r>
              <a:rPr sz="1700" b="0" i="0">
                <a:solidFill>
                  <a:srgbClr val="111111"/>
                </a:solidFill>
                <a:latin typeface="Consolas"/>
              </a:rPr>
              <a:t>Power Share         71.1 %     most of the work</a:t>
            </a:r>
          </a:p>
          <a:p>
            <a:pPr algn="l"/>
            <a:r>
              <a:rPr sz="1700" b="0" i="0">
                <a:solidFill>
                  <a:srgbClr val="111111"/>
                </a:solidFill>
                <a:latin typeface="Consolas"/>
              </a:rPr>
              <a:t>α                   ≈ 333 ×     hidden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1">
                <a:solidFill>
                  <a:srgbClr val="333333"/>
                </a:solidFill>
                <a:latin typeface="Calibri"/>
              </a:rPr>
              <a:t>Analogy — yeast is 2 % of a loaf by mass and does 100 % of the rising: the same shape.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9037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The Energiewende's structural beginning — four years before solar appears in the share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Three archetypes — one instrument, three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same protocol on three transitions that look fundamentally different.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Germany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111111"/>
                </a:solidFill>
                <a:latin typeface="Calibri"/>
              </a:rPr>
              <a:t>deliberate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78608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continuous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283464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Energiewende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2000 → 2025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solar + wind absorb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structural work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before size dominates.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028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111111"/>
                </a:solidFill>
                <a:latin typeface="Calibri"/>
              </a:rPr>
              <a:t>external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578608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loop and reorganise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27248"/>
            <a:ext cx="283464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Fukushima 2011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displaces nuclear,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causes 2011–2013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multi-year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reorganisation.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United Kingdom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24028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111111"/>
                </a:solidFill>
                <a:latin typeface="Calibri"/>
              </a:rPr>
              <a:t>regime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578608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jump and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127248"/>
            <a:ext cx="283464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Coal exit 2012–2020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from &gt; 30 % to &lt; 2 %.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Wind, solar, others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absorb displaced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structural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7665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000000"/>
                </a:solidFill>
                <a:latin typeface="Calibri"/>
              </a:rPr>
              <a:t>Three different transition regimes.  One operational protocol reads them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Germany — share and structural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Energiewende read as a single smooth arc on the simplex.</a:t>
            </a:r>
          </a:p>
        </p:txBody>
      </p:sp>
      <p:pic>
        <p:nvPicPr>
          <p:cNvPr id="4" name="Picture 3" descr="fig2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4727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4476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Solar 2005–2006:  0.21 % share  ·  71.1 % structural work  ·  α ≈ 333 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Tiny share, dominant work — the deceptive-drift signature, four years before the share view shows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Germany — share + structural work  ·  the trajectory is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Germany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Helmsman trajectory: where the composition went, year by year.</a:t>
            </a:r>
          </a:p>
        </p:txBody>
      </p:sp>
      <p:pic>
        <p:nvPicPr>
          <p:cNvPr id="4" name="Picture 3" descr="fig6_nav_d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25880"/>
            <a:ext cx="6400800" cy="4946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2764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Calibri"/>
              </a:rPr>
              <a:t>Trajectory directness 0.41 (end-to-end distance ÷ path length) — a continuous arc toward the renewable vertex.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4827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Smooth, monotone reorientation — no loops, no flips. Deliberate transition as a sustained trajectory.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Germany — the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Germany — orthogonal projections (XY / XZ / YZ)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Germany alone gets the complete plate set · the Section view: CLR plan, XZ bearings, and per-carrier CLR for a representative year.</a:t>
            </a:r>
          </a:p>
        </p:txBody>
      </p:sp>
      <p:pic>
        <p:nvPicPr>
          <p:cNvPr id="4" name="Picture 3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Germany · complete plate set (orthogonal projections)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Germany — ILR-Helmert triplet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Germany's complete set · three orthonormal ILR projections of the 2000–2025 trajectory (ilr1×ilr2 · ilr1×ilr3 · ilr2×ilr3).</a:t>
            </a:r>
          </a:p>
        </p:txBody>
      </p:sp>
      <p:pic>
        <p:nvPicPr>
          <p:cNvPr id="4" name="Picture 3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Germany · complete plate set (ILR-Helmert triplet)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Japan — share and structural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Fukushima 2011: an external shock displaces nuclear; a multi-year reorganisation follows.</a:t>
            </a:r>
          </a:p>
        </p:txBody>
      </p:sp>
      <p:pic>
        <p:nvPicPr>
          <p:cNvPr id="4" name="Picture 3" descr="fig3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4727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4476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Aitchison distance (distance on the simplex) 2011 → 2012 ≈ 3 × the baseline step  ·  17 Helmsman flips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The instrument detects both the shock and the multi-year reorganisation that followed.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Japan — share + structural work  ·  the trajectory is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Japan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Helmsman trajectory: looping reorganisation, not a single step.</a:t>
            </a:r>
          </a:p>
        </p:txBody>
      </p:sp>
      <p:pic>
        <p:nvPicPr>
          <p:cNvPr id="4" name="Picture 3" descr="fig6_nav_j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25880"/>
            <a:ext cx="6400800" cy="4946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2764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Calibri"/>
              </a:rPr>
              <a:t>Trajectory directness 0.09 — the loop-and-reorganise pattern.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4827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The trajectory revisits and reroutes — the system searches for a new composition, not a planned trajectory.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Japan — the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United Kingdom — share and structural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Coal exit as policy-driven regime change, absorbed across several carriers.</a:t>
            </a:r>
          </a:p>
        </p:txBody>
      </p:sp>
      <p:pic>
        <p:nvPicPr>
          <p:cNvPr id="4" name="Picture 3" descr="fig4_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4727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4476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Coal:  &gt; 30 %  →  &lt; 2 %.   Wind, solar, and other renewables absorb the displaced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Displaced work redistributes across several carriers — not one substitute, but several.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United Kingdom — share + structural work  ·  the trajectory is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United Kingdom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Helmsman trajectory: a jump from the coal vertex, then a return toward stability.</a:t>
            </a:r>
          </a:p>
        </p:txBody>
      </p:sp>
      <p:pic>
        <p:nvPicPr>
          <p:cNvPr id="4" name="Picture 3" descr="fig6_nav_g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25880"/>
            <a:ext cx="6400800" cy="4946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2764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Calibri"/>
              </a:rPr>
              <a:t>Trajectory directness 0.36 — the jump-and-return pattern.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4827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A sharp departure from the coal vertex, then re-stabilisation — regime change as one decisive displacement.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United Kingdom — the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Across the corpus — deceptive drift in 5 of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same protocol applied to all nine EMBER countries.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6464"/>
            <a:ext cx="8778240" cy="502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Deceptive drift: the size (share) view hides which carrier did the structural work — a small carrier carries a large share of the squared compositional motion (Activation Coefficient ≫ 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75104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  <a:latin typeface="Calibri"/>
              </a:rPr>
              <a:t>Detected in five of nine countries; absent in four — a detector that reads real structure must not flag every system.</a:t>
            </a:r>
          </a:p>
        </p:txBody>
      </p:sp>
      <p:pic>
        <p:nvPicPr>
          <p:cNvPr id="6" name="Picture 5" descr="fig5_cross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432304"/>
            <a:ext cx="5212080" cy="38221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deceptive drift present:   AUS · CHN · GBR · IND · JPN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deceptive drift absent:   DEU (annual) · FRA · USA · WLD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0408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  <a:latin typeface="Calibri"/>
              </a:rPr>
              <a:t>Discrimination — flagging some systems and not others — is itself evidence the detector reads real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Australia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The rest of the world · deceptive drift present.  Australia: the full 2000–2025 trajectory.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present (1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China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China: the full trajectory — coal-era growth, then a turn.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present (2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India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India: the full trajectory — the third case where deceptive drift is present.</a:t>
            </a:r>
          </a:p>
        </p:txBody>
      </p:sp>
      <p:pic>
        <p:nvPicPr>
          <p:cNvPr id="4" name="Picture 3" descr="imag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present (3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France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Deceptive drift absent.  France: the full trajectory — nuclear-stable.</a:t>
            </a:r>
          </a:p>
        </p:txBody>
      </p:sp>
      <p:pic>
        <p:nvPicPr>
          <p:cNvPr id="4" name="Picture 3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absent (1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United States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United States: the full trajectory — a large grid; no deceptive drift at annual grain.</a:t>
            </a:r>
          </a:p>
        </p:txBody>
      </p:sp>
      <p:pic>
        <p:nvPicPr>
          <p:cNvPr id="4" name="Picture 3" descr="image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absent (2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World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World: the aggregate trajectory — large-N smoothing hides the deceptive drift in its constituents.</a:t>
            </a:r>
          </a:p>
        </p:txBody>
      </p:sp>
      <p:pic>
        <p:nvPicPr>
          <p:cNvPr id="4" name="Picture 3" descr="image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absent (3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65836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What the stack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2415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Recap of the five readings — then the live instrument takes 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carriers are big.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82880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size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05456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05456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is in largest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05456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Helmsman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82112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the largest-motion carrier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82112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Helmsman trajectory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HOW MUCH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58768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structural work each carrier did.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58768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Power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35424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35424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a small carrier mattered.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35424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Activation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1">
                <a:solidFill>
                  <a:srgbClr val="000000"/>
                </a:solidFill>
                <a:latin typeface="Calibri"/>
              </a:rPr>
              <a:t>The stack does not replace interpretation.  It gives interpretation a reproducible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53328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The live instrument takes it from here  →   codawork2026_projector.html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720840"/>
            <a:ext cx="896112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707070"/>
                </a:solidFill>
                <a:latin typeface="Calibri"/>
              </a:rPr>
              <a:t>AI Use Declaration (HUF-STD-001 v1.1): research design, mathematical content, code, and scientific responsibility remain with the named author. AI assistants (Claude, ChatGPT, Grok) used for drafting, sweeps, and reviews. Author retains full responsibility.  Apache-2.0 code · CC BY 4.0 docs.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