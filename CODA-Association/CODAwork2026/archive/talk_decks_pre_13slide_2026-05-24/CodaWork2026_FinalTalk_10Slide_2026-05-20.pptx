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9144000" cy="10972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800" b="1" i="0">
                <a:solidFill>
                  <a:srgbClr val="EEEEEE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800" b="0" i="1">
                <a:solidFill>
                  <a:srgbClr val="F2B632"/>
                </a:solidFill>
                <a:latin typeface="Calibri"/>
              </a:rPr>
              <a:t>Which carrier did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EEEEEE"/>
                </a:solidFill>
                <a:latin typeface="Calibri"/>
              </a:rPr>
              <a:t>Not only which carrier got bigger — which carrier moved the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F2B632"/>
                </a:solidFill>
                <a:latin typeface="Calibri"/>
              </a:rPr>
              <a:t>Operationalizing compositional analysis — a runnable standard for researchers and the AI assistants they choose.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0">
                <a:solidFill>
                  <a:srgbClr val="B8B8B8"/>
                </a:solidFill>
                <a:latin typeface="Calibri"/>
              </a:rPr>
              <a:t>CoDaWork 2026  ·  Coimbra, Portugal  ·  1–5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EEEEEE"/>
                </a:solidFill>
                <a:latin typeface="Calibri"/>
              </a:rPr>
              <a:t>P. Higgins  ·  Rogue Wave Audio / Binaural Test Lab  ·  Markham, Ontario, Canada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1" i="0">
                <a:solidFill>
                  <a:srgbClr val="F2B632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EEEEEE"/>
                </a:solidFill>
                <a:latin typeface="Calibri"/>
              </a:rPr>
              <a:t>PeterHiggins@RogueWaveAudio.com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7220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libri"/>
              </a:rPr>
              <a:t>github.com / PeterHiggins19 / higgins-decomposition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0">
                <a:solidFill>
                  <a:srgbClr val="B8B8B8"/>
                </a:solidFill>
                <a:latin typeface="Calibri"/>
              </a:rPr>
              <a:t>Community folder:  CODA-Association/   ·   Hand-out in UN-6 locales (EN · FR · ES · RU · ZH · 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17804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B8B8B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size view hides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 carrier can be small in share and large in structural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World electricity, 25 years — the standard stacked-area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937760" cy="1463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stays dominant.  Gas grows.  Nuclear declines.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Solar appears as a thin yellow sliver after 2010.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 grows steadily but stays visually small until 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83080"/>
            <a:ext cx="3657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What the size view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331720"/>
            <a:ext cx="38404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USA Solar, 2012 →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788920"/>
            <a:ext cx="384048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  0.107 %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structural Power Share  81.7 %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Activation Coefficient   ≈ 760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434840"/>
            <a:ext cx="384048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Solar acted at 760 × its size.</a:t>
            </a:r>
          </a:p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No size view shows that.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F2B632"/>
                </a:solidFill>
                <a:latin typeface="Calibri"/>
              </a:rPr>
              <a:t>This talk is the reason that number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Mathematics: standard compositional data analysis.  Application: monitoring frame may be 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Five viewpoints, one observable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Each viewpoint answers one question.  Together: an auditable transition event.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391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69164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57400"/>
            <a:ext cx="36576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what share each carrier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51460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Helmsman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803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which carrier has the largest CLR move at a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42900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Helmsman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94760"/>
            <a:ext cx="36576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when the steering carrier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519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Power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1772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how much squared CLR motion each carrier did.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6636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Activation Coefficient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532120"/>
            <a:ext cx="36576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Power Share ÷ starting share — the yeast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All five derive from CLR + ILR-Helmert.  Pure CoDa geometry; no new mathematics.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Activation Coefficient — the yeast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How much structural work a carrier does, relative to how much of the mix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200" b="1" i="0">
                <a:solidFill>
                  <a:srgbClr val="F2B632"/>
                </a:solidFill>
                <a:latin typeface="Consolas"/>
              </a:rPr>
              <a:t>α_i(t)  =  Power Share_i(t)  ÷  starting share_i(t)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α ≈ 1     carrier does work proportional to its size — ordinary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F2B632"/>
                </a:solidFill>
                <a:latin typeface="Calibri"/>
              </a:rPr>
              <a:t>α ≫ 1     carrier acts far above its size — hidden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B8B8B8"/>
                </a:solidFill>
                <a:latin typeface="Calibri"/>
              </a:rPr>
              <a:t>α &lt; 1     carrier carries less work than its size suggests — coasting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EEEEEE"/>
                </a:solidFill>
                <a:latin typeface="Calibri"/>
              </a:rPr>
              <a:t>Worked example — USA Solar 2012 →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877824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0.107 %     small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Power Share         81.7  %     most of the work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α                   ≈ 760 ×     yeast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C98A1C"/>
                </a:solidFill>
                <a:latin typeface="Calibri"/>
              </a:rPr>
              <a:t>Yeast is 2% of a loaf by mass and does 100% of the rising. Same shape.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037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Solar 2010–2015 appears repeatedly as small-share / large-structural-work across the corpus.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Three archetypes — one instrument, three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Same protocol applied to three transitions that look fundamentally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deliberate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continuous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Energiewende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2000 → 2025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solar + wind absorb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before size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external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loop and reorganise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Fukushima 2011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displaces nuclear,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causes 2011–2013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multi-year compositional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reorganisation.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United Kingdom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regime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jump and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exit 2012–2020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from &gt; 30 % to &lt; 2 %.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Wind, solar, others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absorb displaced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766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Three different transition regimes.  One operational protocol reads them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Germany — deliberate transition as continuous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Energiewende read as a single smooth arc on the simplex.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d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Solar 2005–2006:  0.21 % share  ·  71.1 % structural work  ·  α ≈ 333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Helmsman trajectory: course directness 0.41 — continuous arc to renewable vertex.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Japan — Fukushima shock and reorganisation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instrument detects both the shock and the multi-year reorganisation.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j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Aitchison distance 2011 → 2012  ≈ 3 × neighbouring-year baseline  ·  helmsman flips 17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Course directness 0.09 — looping reorganisation, not a single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United Kingdom — coal exit as regime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Policy-driven displacement, absorbed across multiple renewable carriers.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4572000"/>
          </a:xfrm>
          <a:prstGeom prst="rect">
            <a:avLst/>
          </a:prstGeom>
        </p:spPr>
      </p:pic>
      <p:pic>
        <p:nvPicPr>
          <p:cNvPr id="5" name="Picture 4" descr="fig6_nav_g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2377440" cy="1837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722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F2B632"/>
                </a:solidFill>
                <a:latin typeface="Calibri"/>
              </a:rPr>
              <a:t>Coal:  &gt; 30 %  →  &lt; 2 %.   Wind, solar, and other renewables absorb the displaced structural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Course directness 0.36 — jump-and-return archetype.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Cross-country signature — 5 of 9 reproduce 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From three case archetypes to a corpus-level result.</a:t>
            </a:r>
          </a:p>
        </p:txBody>
      </p:sp>
      <p:pic>
        <p:nvPicPr>
          <p:cNvPr id="4" name="Picture 3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69494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fires   AUS · CHN · GBR · IND · JPN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B8B8B8"/>
                </a:solidFill>
                <a:latin typeface="Calibri"/>
              </a:rPr>
              <a:t>quiet   DEU (annual) · FRA · USA · WLD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2694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C98A1C"/>
                </a:solidFill>
                <a:latin typeface="Calibri"/>
              </a:rPr>
              <a:t>A useful detector should not fire everywhere.  Discrimination is itself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What the stack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One observable, five distinct questions, one reproducible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carriers are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size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is at the wheel.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the steering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HOW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work each carrier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Power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93776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a small carrier mattered.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Activation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The stack does not replace interpretation.  It gives interpretation a reproducible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17804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800" b="0" i="0">
                <a:solidFill>
                  <a:srgbClr val="B8B8B8"/>
                </a:solidFill>
                <a:latin typeface="Calibri"/>
              </a:rPr>
              <a:t>AI Use Declaration (HUF-STD-001 v1.1):  research design, mathematical content, code, and scientific responsibility remain with the named author.  AI assistants (Claude, ChatGPT, Grok) used for drafting, sweeps, and reviews.  Author retains full responsibility.   Apache-2.0 code  ·  CC BY 4.0 docs.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