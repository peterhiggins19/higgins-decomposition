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Genuine gratitude, not flattery. Pause after 'vehicle it fits.' Then go to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12 steps. Emphasise: steps 1-4 are standard CoDa. Steps 5-6 are new. The rest is extended diagnostics.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run produces three things. The fingerprint enables cross-domain comparison — two systems with similar fingerprints share compositional geometry regardless of domain.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compositions. They sum to one at every epoch. They live on your simplex. Pause after that 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table column by column. Dark Energy goes from 69% to essentially zero. Radiation goes from nothing to 50%. The simplex rotates completely.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for CoDa practitioners. Ratio stability is their language. CV=0 means perfect lock. Pause after 'conservation laws written on the simplex.'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Baryonic matter — everything we are made of — punches nearly 3x above its weight. Neutrinos at 0.004% have 8.8x power ratio. CoDa practitioners deal with this every 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for seven. Pause. Let it land. Then: 'The engine is CoDa. The vehicle just drove across 44 orders of magnitude.'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ask. The reason Peter is here. Let the question hang. Do not fill the silence.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ILR vs CLR test proposal. If resonance survives coordinate change, it is in the data. If it disappears, it is in the pipeline. CoDa is the community to do this.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concrete things CoDa can do that nobody else can. These are genuine invitations, not rhetorical 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Let the room respond. Do not move to Q&amp;A immediately. The closing line is: 'The simplex is the same everywhere.'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144000" cy="1371600"/>
          </a:xfrm>
          <a:prstGeom prst="rect">
            <a:avLst/>
          </a:prstGeom>
          <a:noFill/>
        </p:spPr>
        <p:txBody>
          <a:bodyPr wrap="square">
            <a:spAutoFit/>
          </a:bodyPr>
          <a:lstStyle/>
          <a:p>
            <a:pPr algn="l">
              <a:defRPr sz="7200" b="1" i="0">
                <a:solidFill>
                  <a:srgbClr val="60A0FF"/>
                </a:solidFill>
                <a:latin typeface="Calibri"/>
              </a:defRPr>
            </a:pPr>
            <a:r>
              <a:t>Hˢ</a:t>
            </a:r>
          </a:p>
        </p:txBody>
      </p:sp>
      <p:sp>
        <p:nvSpPr>
          <p:cNvPr id="4" name="TextBox 3"/>
          <p:cNvSpPr txBox="1"/>
          <p:nvPr/>
        </p:nvSpPr>
        <p:spPr>
          <a:xfrm>
            <a:off x="1371600" y="2560320"/>
            <a:ext cx="9144000" cy="914400"/>
          </a:xfrm>
          <a:prstGeom prst="rect">
            <a:avLst/>
          </a:prstGeom>
          <a:noFill/>
        </p:spPr>
        <p:txBody>
          <a:bodyPr wrap="square">
            <a:spAutoFit/>
          </a:bodyPr>
          <a:lstStyle/>
          <a:p>
            <a:pPr algn="l">
              <a:defRPr sz="3200" b="0" i="0">
                <a:solidFill>
                  <a:srgbClr val="FFFFFF"/>
                </a:solidFill>
                <a:latin typeface="Calibri"/>
              </a:defRPr>
            </a:pPr>
            <a:r>
              <a:t>A Compositional Inference Engine on the Simplex</a:t>
            </a:r>
          </a:p>
        </p:txBody>
      </p:sp>
      <p:sp>
        <p:nvSpPr>
          <p:cNvPr id="5" name="Rectangle 4"/>
          <p:cNvSpPr/>
          <p:nvPr/>
        </p:nvSpPr>
        <p:spPr>
          <a:xfrm>
            <a:off x="1371600" y="3657600"/>
            <a:ext cx="2743200" cy="27432"/>
          </a:xfrm>
          <a:prstGeom prst="rect">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931920"/>
            <a:ext cx="4572000" cy="457200"/>
          </a:xfrm>
          <a:prstGeom prst="rect">
            <a:avLst/>
          </a:prstGeom>
          <a:noFill/>
        </p:spPr>
        <p:txBody>
          <a:bodyPr wrap="square">
            <a:spAutoFit/>
          </a:bodyPr>
          <a:lstStyle/>
          <a:p>
            <a:pPr algn="l">
              <a:defRPr sz="2000" b="0" i="0">
                <a:solidFill>
                  <a:srgbClr val="CCCCCC"/>
                </a:solidFill>
                <a:latin typeface="Calibri"/>
              </a:defRPr>
            </a:pPr>
            <a:r>
              <a:t>Peter Higgins</a:t>
            </a:r>
          </a:p>
        </p:txBody>
      </p:sp>
      <p:sp>
        <p:nvSpPr>
          <p:cNvPr id="7" name="TextBox 6"/>
          <p:cNvSpPr txBox="1"/>
          <p:nvPr/>
        </p:nvSpPr>
        <p:spPr>
          <a:xfrm>
            <a:off x="1371600" y="4389120"/>
            <a:ext cx="7315200" cy="365760"/>
          </a:xfrm>
          <a:prstGeom prst="rect">
            <a:avLst/>
          </a:prstGeom>
          <a:noFill/>
        </p:spPr>
        <p:txBody>
          <a:bodyPr wrap="square">
            <a:spAutoFit/>
          </a:bodyPr>
          <a:lstStyle/>
          <a:p>
            <a:pPr algn="l">
              <a:defRPr sz="1400" b="0" i="0">
                <a:solidFill>
                  <a:srgbClr val="888888"/>
                </a:solidFill>
                <a:latin typeface="Calibri"/>
              </a:defRPr>
            </a:pPr>
            <a:r>
              <a:t>Independent Researcher · Markham, Ontario, Canada</a:t>
            </a:r>
          </a:p>
        </p:txBody>
      </p:sp>
      <p:sp>
        <p:nvSpPr>
          <p:cNvPr id="8" name="TextBox 7"/>
          <p:cNvSpPr txBox="1"/>
          <p:nvPr/>
        </p:nvSpPr>
        <p:spPr>
          <a:xfrm>
            <a:off x="1371600" y="4754880"/>
            <a:ext cx="7315200" cy="365760"/>
          </a:xfrm>
          <a:prstGeom prst="rect">
            <a:avLst/>
          </a:prstGeom>
          <a:noFill/>
        </p:spPr>
        <p:txBody>
          <a:bodyPr wrap="square">
            <a:spAutoFit/>
          </a:bodyPr>
          <a:lstStyle/>
          <a:p>
            <a:pPr algn="l">
              <a:defRPr sz="1400" b="0" i="0">
                <a:solidFill>
                  <a:srgbClr val="888888"/>
                </a:solidFill>
                <a:latin typeface="Calibri"/>
              </a:defRPr>
            </a:pPr>
            <a:r>
              <a:t>CoDaWork 2026 · Coimbra, Portugal</a:t>
            </a:r>
          </a:p>
        </p:txBody>
      </p:sp>
      <p:sp>
        <p:nvSpPr>
          <p:cNvPr id="9" name="TextBox 8"/>
          <p:cNvSpPr txBox="1"/>
          <p:nvPr/>
        </p:nvSpPr>
        <p:spPr>
          <a:xfrm>
            <a:off x="1371600" y="5303520"/>
            <a:ext cx="9144000" cy="1097280"/>
          </a:xfrm>
          <a:prstGeom prst="rect">
            <a:avLst/>
          </a:prstGeom>
          <a:noFill/>
        </p:spPr>
        <p:txBody>
          <a:bodyPr wrap="square">
            <a:spAutoFit/>
          </a:bodyPr>
          <a:lstStyle/>
          <a:p>
            <a:pPr algn="l">
              <a:defRPr sz="1600" b="0" i="1">
                <a:solidFill>
                  <a:srgbClr val="666677"/>
                </a:solidFill>
                <a:latin typeface="Calibri"/>
              </a:defRPr>
            </a:pPr>
            <a:r>
              <a:t>"I would like to thank the CoDaWork community</a:t>
            </a:r>
            <a:br/>
            <a:r>
              <a:t>for building a fine engine.</a:t>
            </a:r>
            <a:br/>
            <a:r>
              <a:t>Let me introduce the autonomous vehicle it fits."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7315200" cy="640080"/>
          </a:xfrm>
          <a:prstGeom prst="rect">
            <a:avLst/>
          </a:prstGeom>
          <a:noFill/>
        </p:spPr>
        <p:txBody>
          <a:bodyPr wrap="square">
            <a:spAutoFit/>
          </a:bodyPr>
          <a:lstStyle/>
          <a:p>
            <a:pPr algn="l">
              <a:defRPr sz="3600" b="1" i="0">
                <a:solidFill>
                  <a:srgbClr val="FFFFFF"/>
                </a:solidFill>
                <a:latin typeface="Calibri"/>
              </a:defRPr>
            </a:pPr>
            <a:r>
              <a:t>The 12-Step Pipeline</a:t>
            </a:r>
          </a:p>
        </p:txBody>
      </p:sp>
      <p:sp>
        <p:nvSpPr>
          <p:cNvPr id="4" name="TextBox 3"/>
          <p:cNvSpPr txBox="1"/>
          <p:nvPr/>
        </p:nvSpPr>
        <p:spPr>
          <a:xfrm>
            <a:off x="731520" y="777240"/>
            <a:ext cx="7315200" cy="365760"/>
          </a:xfrm>
          <a:prstGeom prst="rect">
            <a:avLst/>
          </a:prstGeom>
          <a:noFill/>
        </p:spPr>
        <p:txBody>
          <a:bodyPr wrap="square">
            <a:spAutoFit/>
          </a:bodyPr>
          <a:lstStyle/>
          <a:p>
            <a:pPr algn="l">
              <a:defRPr sz="1400" b="0" i="0">
                <a:solidFill>
                  <a:srgbClr val="60A0FF"/>
                </a:solidFill>
                <a:latin typeface="Calibri"/>
              </a:defRPr>
            </a:pPr>
            <a:r>
              <a:t>Deterministic · Reproducible · SHA-256 Verified</a:t>
            </a:r>
          </a:p>
        </p:txBody>
      </p:sp>
      <p:sp>
        <p:nvSpPr>
          <p:cNvPr id="5" name="Rectangle 4"/>
          <p:cNvSpPr/>
          <p:nvPr/>
        </p:nvSpPr>
        <p:spPr>
          <a:xfrm>
            <a:off x="731520" y="1463040"/>
            <a:ext cx="2560320" cy="10972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8" y="1600200"/>
            <a:ext cx="457200" cy="45720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Calibri"/>
              </a:defRPr>
            </a:pPr>
            <a:r>
              <a:t>1</a:t>
            </a:r>
          </a:p>
        </p:txBody>
      </p:sp>
      <p:sp>
        <p:nvSpPr>
          <p:cNvPr id="7" name="TextBox 6"/>
          <p:cNvSpPr txBox="1"/>
          <p:nvPr/>
        </p:nvSpPr>
        <p:spPr>
          <a:xfrm>
            <a:off x="1463040" y="1645920"/>
            <a:ext cx="1645920" cy="640080"/>
          </a:xfrm>
          <a:prstGeom prst="rect">
            <a:avLst/>
          </a:prstGeom>
          <a:noFill/>
        </p:spPr>
        <p:txBody>
          <a:bodyPr wrap="square">
            <a:spAutoFit/>
          </a:bodyPr>
          <a:lstStyle/>
          <a:p>
            <a:pPr algn="l">
              <a:defRPr sz="1400" b="1" i="0">
                <a:solidFill>
                  <a:srgbClr val="FFFFFF"/>
                </a:solidFill>
                <a:latin typeface="Calibri"/>
              </a:defRPr>
            </a:pPr>
            <a:r>
              <a:t>Simplex Closure</a:t>
            </a:r>
          </a:p>
        </p:txBody>
      </p:sp>
      <p:sp>
        <p:nvSpPr>
          <p:cNvPr id="8" name="TextBox 7"/>
          <p:cNvSpPr txBox="1"/>
          <p:nvPr/>
        </p:nvSpPr>
        <p:spPr>
          <a:xfrm>
            <a:off x="1463040" y="2103120"/>
            <a:ext cx="1645920" cy="274320"/>
          </a:xfrm>
          <a:prstGeom prst="rect">
            <a:avLst/>
          </a:prstGeom>
          <a:noFill/>
        </p:spPr>
        <p:txBody>
          <a:bodyPr wrap="square">
            <a:spAutoFit/>
          </a:bodyPr>
          <a:lstStyle/>
          <a:p>
            <a:pPr algn="l">
              <a:defRPr sz="900" b="0" i="0">
                <a:solidFill>
                  <a:srgbClr val="22C55E"/>
                </a:solidFill>
                <a:latin typeface="Calibri"/>
              </a:defRPr>
            </a:pPr>
            <a:r>
              <a:t>Standard CoDa</a:t>
            </a:r>
          </a:p>
        </p:txBody>
      </p:sp>
      <p:sp>
        <p:nvSpPr>
          <p:cNvPr id="9" name="Rectangle 8"/>
          <p:cNvSpPr/>
          <p:nvPr/>
        </p:nvSpPr>
        <p:spPr>
          <a:xfrm>
            <a:off x="3566160" y="1463040"/>
            <a:ext cx="2560320" cy="10972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675888" y="1600200"/>
            <a:ext cx="457200" cy="45720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Calibri"/>
              </a:defRPr>
            </a:pPr>
            <a:r>
              <a:t>2</a:t>
            </a:r>
          </a:p>
        </p:txBody>
      </p:sp>
      <p:sp>
        <p:nvSpPr>
          <p:cNvPr id="11" name="TextBox 10"/>
          <p:cNvSpPr txBox="1"/>
          <p:nvPr/>
        </p:nvSpPr>
        <p:spPr>
          <a:xfrm>
            <a:off x="4297680" y="1645920"/>
            <a:ext cx="1645920" cy="640080"/>
          </a:xfrm>
          <a:prstGeom prst="rect">
            <a:avLst/>
          </a:prstGeom>
          <a:noFill/>
        </p:spPr>
        <p:txBody>
          <a:bodyPr wrap="square">
            <a:spAutoFit/>
          </a:bodyPr>
          <a:lstStyle/>
          <a:p>
            <a:pPr algn="l">
              <a:defRPr sz="1400" b="1" i="0">
                <a:solidFill>
                  <a:srgbClr val="FFFFFF"/>
                </a:solidFill>
                <a:latin typeface="Calibri"/>
              </a:defRPr>
            </a:pPr>
            <a:r>
              <a:t>Zero Replacement</a:t>
            </a:r>
          </a:p>
        </p:txBody>
      </p:sp>
      <p:sp>
        <p:nvSpPr>
          <p:cNvPr id="12" name="TextBox 11"/>
          <p:cNvSpPr txBox="1"/>
          <p:nvPr/>
        </p:nvSpPr>
        <p:spPr>
          <a:xfrm>
            <a:off x="4297680" y="2103120"/>
            <a:ext cx="1645920" cy="274320"/>
          </a:xfrm>
          <a:prstGeom prst="rect">
            <a:avLst/>
          </a:prstGeom>
          <a:noFill/>
        </p:spPr>
        <p:txBody>
          <a:bodyPr wrap="square">
            <a:spAutoFit/>
          </a:bodyPr>
          <a:lstStyle/>
          <a:p>
            <a:pPr algn="l">
              <a:defRPr sz="900" b="0" i="0">
                <a:solidFill>
                  <a:srgbClr val="22C55E"/>
                </a:solidFill>
                <a:latin typeface="Calibri"/>
              </a:defRPr>
            </a:pPr>
            <a:r>
              <a:t>Standard CoDa</a:t>
            </a:r>
          </a:p>
        </p:txBody>
      </p:sp>
      <p:sp>
        <p:nvSpPr>
          <p:cNvPr id="13" name="Rectangle 12"/>
          <p:cNvSpPr/>
          <p:nvPr/>
        </p:nvSpPr>
        <p:spPr>
          <a:xfrm>
            <a:off x="6400800" y="1463040"/>
            <a:ext cx="2560320" cy="10972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10528" y="1600200"/>
            <a:ext cx="457200" cy="45720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Calibri"/>
              </a:defRPr>
            </a:pPr>
            <a:r>
              <a:t>3</a:t>
            </a:r>
          </a:p>
        </p:txBody>
      </p:sp>
      <p:sp>
        <p:nvSpPr>
          <p:cNvPr id="15" name="TextBox 14"/>
          <p:cNvSpPr txBox="1"/>
          <p:nvPr/>
        </p:nvSpPr>
        <p:spPr>
          <a:xfrm>
            <a:off x="7132320" y="1645920"/>
            <a:ext cx="1645920" cy="640080"/>
          </a:xfrm>
          <a:prstGeom prst="rect">
            <a:avLst/>
          </a:prstGeom>
          <a:noFill/>
        </p:spPr>
        <p:txBody>
          <a:bodyPr wrap="square">
            <a:spAutoFit/>
          </a:bodyPr>
          <a:lstStyle/>
          <a:p>
            <a:pPr algn="l">
              <a:defRPr sz="1400" b="1" i="0">
                <a:solidFill>
                  <a:srgbClr val="FFFFFF"/>
                </a:solidFill>
                <a:latin typeface="Calibri"/>
              </a:defRPr>
            </a:pPr>
            <a:r>
              <a:t>CLR Transform</a:t>
            </a:r>
          </a:p>
        </p:txBody>
      </p:sp>
      <p:sp>
        <p:nvSpPr>
          <p:cNvPr id="16" name="TextBox 15"/>
          <p:cNvSpPr txBox="1"/>
          <p:nvPr/>
        </p:nvSpPr>
        <p:spPr>
          <a:xfrm>
            <a:off x="7132320" y="2103120"/>
            <a:ext cx="1645920" cy="274320"/>
          </a:xfrm>
          <a:prstGeom prst="rect">
            <a:avLst/>
          </a:prstGeom>
          <a:noFill/>
        </p:spPr>
        <p:txBody>
          <a:bodyPr wrap="square">
            <a:spAutoFit/>
          </a:bodyPr>
          <a:lstStyle/>
          <a:p>
            <a:pPr algn="l">
              <a:defRPr sz="900" b="0" i="0">
                <a:solidFill>
                  <a:srgbClr val="22C55E"/>
                </a:solidFill>
                <a:latin typeface="Calibri"/>
              </a:defRPr>
            </a:pPr>
            <a:r>
              <a:t>Standard CoDa</a:t>
            </a:r>
          </a:p>
        </p:txBody>
      </p:sp>
      <p:sp>
        <p:nvSpPr>
          <p:cNvPr id="17" name="Rectangle 16"/>
          <p:cNvSpPr/>
          <p:nvPr/>
        </p:nvSpPr>
        <p:spPr>
          <a:xfrm>
            <a:off x="9235440" y="1463040"/>
            <a:ext cx="2560320" cy="10972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345168" y="1600200"/>
            <a:ext cx="457200" cy="45720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Calibri"/>
              </a:defRPr>
            </a:pPr>
            <a:r>
              <a:t>4</a:t>
            </a:r>
          </a:p>
        </p:txBody>
      </p:sp>
      <p:sp>
        <p:nvSpPr>
          <p:cNvPr id="19" name="TextBox 18"/>
          <p:cNvSpPr txBox="1"/>
          <p:nvPr/>
        </p:nvSpPr>
        <p:spPr>
          <a:xfrm>
            <a:off x="9966960" y="1645920"/>
            <a:ext cx="1645920" cy="640080"/>
          </a:xfrm>
          <a:prstGeom prst="rect">
            <a:avLst/>
          </a:prstGeom>
          <a:noFill/>
        </p:spPr>
        <p:txBody>
          <a:bodyPr wrap="square">
            <a:spAutoFit/>
          </a:bodyPr>
          <a:lstStyle/>
          <a:p>
            <a:pPr algn="l">
              <a:defRPr sz="1400" b="1" i="0">
                <a:solidFill>
                  <a:srgbClr val="FFFFFF"/>
                </a:solidFill>
                <a:latin typeface="Calibri"/>
              </a:defRPr>
            </a:pPr>
            <a:r>
              <a:t>Aitchison Variance</a:t>
            </a:r>
          </a:p>
        </p:txBody>
      </p:sp>
      <p:sp>
        <p:nvSpPr>
          <p:cNvPr id="20" name="TextBox 19"/>
          <p:cNvSpPr txBox="1"/>
          <p:nvPr/>
        </p:nvSpPr>
        <p:spPr>
          <a:xfrm>
            <a:off x="9966960" y="2103120"/>
            <a:ext cx="1645920" cy="274320"/>
          </a:xfrm>
          <a:prstGeom prst="rect">
            <a:avLst/>
          </a:prstGeom>
          <a:noFill/>
        </p:spPr>
        <p:txBody>
          <a:bodyPr wrap="square">
            <a:spAutoFit/>
          </a:bodyPr>
          <a:lstStyle/>
          <a:p>
            <a:pPr algn="l">
              <a:defRPr sz="900" b="0" i="0">
                <a:solidFill>
                  <a:srgbClr val="22C55E"/>
                </a:solidFill>
                <a:latin typeface="Calibri"/>
              </a:defRPr>
            </a:pPr>
            <a:r>
              <a:t>Standard CoDa</a:t>
            </a:r>
          </a:p>
        </p:txBody>
      </p:sp>
      <p:sp>
        <p:nvSpPr>
          <p:cNvPr id="21" name="Rectangle 20"/>
          <p:cNvSpPr/>
          <p:nvPr/>
        </p:nvSpPr>
        <p:spPr>
          <a:xfrm>
            <a:off x="731520" y="2834640"/>
            <a:ext cx="2560320" cy="10972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1248" y="2971800"/>
            <a:ext cx="457200" cy="45720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Calibri"/>
              </a:defRPr>
            </a:pPr>
            <a:r>
              <a:t>5</a:t>
            </a:r>
          </a:p>
        </p:txBody>
      </p:sp>
      <p:sp>
        <p:nvSpPr>
          <p:cNvPr id="23" name="TextBox 22"/>
          <p:cNvSpPr txBox="1"/>
          <p:nvPr/>
        </p:nvSpPr>
        <p:spPr>
          <a:xfrm>
            <a:off x="1463040" y="3017520"/>
            <a:ext cx="1645920" cy="640080"/>
          </a:xfrm>
          <a:prstGeom prst="rect">
            <a:avLst/>
          </a:prstGeom>
          <a:noFill/>
        </p:spPr>
        <p:txBody>
          <a:bodyPr wrap="square">
            <a:spAutoFit/>
          </a:bodyPr>
          <a:lstStyle/>
          <a:p>
            <a:pPr algn="l">
              <a:defRPr sz="1400" b="1" i="0">
                <a:solidFill>
                  <a:srgbClr val="FFFFFF"/>
                </a:solidFill>
                <a:latin typeface="Calibri"/>
              </a:defRPr>
            </a:pPr>
            <a:r>
              <a:t>HVLD Shape</a:t>
            </a:r>
          </a:p>
        </p:txBody>
      </p:sp>
      <p:sp>
        <p:nvSpPr>
          <p:cNvPr id="24" name="TextBox 23"/>
          <p:cNvSpPr txBox="1"/>
          <p:nvPr/>
        </p:nvSpPr>
        <p:spPr>
          <a:xfrm>
            <a:off x="1463040" y="3474720"/>
            <a:ext cx="1645920" cy="274320"/>
          </a:xfrm>
          <a:prstGeom prst="rect">
            <a:avLst/>
          </a:prstGeom>
          <a:noFill/>
        </p:spPr>
        <p:txBody>
          <a:bodyPr wrap="square">
            <a:spAutoFit/>
          </a:bodyPr>
          <a:lstStyle/>
          <a:p>
            <a:pPr algn="l">
              <a:defRPr sz="900" b="0" i="0">
                <a:solidFill>
                  <a:srgbClr val="F59E0B"/>
                </a:solidFill>
                <a:latin typeface="Calibri"/>
              </a:defRPr>
            </a:pPr>
            <a:r>
              <a:t>NEW</a:t>
            </a:r>
          </a:p>
        </p:txBody>
      </p:sp>
      <p:sp>
        <p:nvSpPr>
          <p:cNvPr id="25" name="Rectangle 24"/>
          <p:cNvSpPr/>
          <p:nvPr/>
        </p:nvSpPr>
        <p:spPr>
          <a:xfrm>
            <a:off x="3566160" y="2834640"/>
            <a:ext cx="2560320" cy="10972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675888" y="2971800"/>
            <a:ext cx="457200" cy="45720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Calibri"/>
              </a:defRPr>
            </a:pPr>
            <a:r>
              <a:t>6</a:t>
            </a:r>
          </a:p>
        </p:txBody>
      </p:sp>
      <p:sp>
        <p:nvSpPr>
          <p:cNvPr id="27" name="TextBox 26"/>
          <p:cNvSpPr txBox="1"/>
          <p:nvPr/>
        </p:nvSpPr>
        <p:spPr>
          <a:xfrm>
            <a:off x="4297680" y="3017520"/>
            <a:ext cx="1645920" cy="640080"/>
          </a:xfrm>
          <a:prstGeom prst="rect">
            <a:avLst/>
          </a:prstGeom>
          <a:noFill/>
        </p:spPr>
        <p:txBody>
          <a:bodyPr wrap="square">
            <a:spAutoFit/>
          </a:bodyPr>
          <a:lstStyle/>
          <a:p>
            <a:pPr algn="l">
              <a:defRPr sz="1400" b="1" i="0">
                <a:solidFill>
                  <a:srgbClr val="FFFFFF"/>
                </a:solidFill>
                <a:latin typeface="Calibri"/>
              </a:defRPr>
            </a:pPr>
            <a:r>
              <a:t>Transcendental Squeeze</a:t>
            </a:r>
          </a:p>
        </p:txBody>
      </p:sp>
      <p:sp>
        <p:nvSpPr>
          <p:cNvPr id="28" name="TextBox 27"/>
          <p:cNvSpPr txBox="1"/>
          <p:nvPr/>
        </p:nvSpPr>
        <p:spPr>
          <a:xfrm>
            <a:off x="4297680" y="3474720"/>
            <a:ext cx="1645920" cy="274320"/>
          </a:xfrm>
          <a:prstGeom prst="rect">
            <a:avLst/>
          </a:prstGeom>
          <a:noFill/>
        </p:spPr>
        <p:txBody>
          <a:bodyPr wrap="square">
            <a:spAutoFit/>
          </a:bodyPr>
          <a:lstStyle/>
          <a:p>
            <a:pPr algn="l">
              <a:defRPr sz="900" b="0" i="0">
                <a:solidFill>
                  <a:srgbClr val="F59E0B"/>
                </a:solidFill>
                <a:latin typeface="Calibri"/>
              </a:defRPr>
            </a:pPr>
            <a:r>
              <a:t>NEW</a:t>
            </a:r>
          </a:p>
        </p:txBody>
      </p:sp>
      <p:sp>
        <p:nvSpPr>
          <p:cNvPr id="29" name="Rectangle 28"/>
          <p:cNvSpPr/>
          <p:nvPr/>
        </p:nvSpPr>
        <p:spPr>
          <a:xfrm>
            <a:off x="6400800" y="2834640"/>
            <a:ext cx="2560320" cy="10972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10528" y="2971800"/>
            <a:ext cx="457200" cy="45720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Calibri"/>
              </a:defRPr>
            </a:pPr>
            <a:r>
              <a:t>7</a:t>
            </a:r>
          </a:p>
        </p:txBody>
      </p:sp>
      <p:sp>
        <p:nvSpPr>
          <p:cNvPr id="31" name="TextBox 30"/>
          <p:cNvSpPr txBox="1"/>
          <p:nvPr/>
        </p:nvSpPr>
        <p:spPr>
          <a:xfrm>
            <a:off x="7132320" y="3017520"/>
            <a:ext cx="1645920" cy="640080"/>
          </a:xfrm>
          <a:prstGeom prst="rect">
            <a:avLst/>
          </a:prstGeom>
          <a:noFill/>
        </p:spPr>
        <p:txBody>
          <a:bodyPr wrap="square">
            <a:spAutoFit/>
          </a:bodyPr>
          <a:lstStyle/>
          <a:p>
            <a:pPr algn="l">
              <a:defRPr sz="1400" b="1" i="0">
                <a:solidFill>
                  <a:srgbClr val="FFFFFF"/>
                </a:solidFill>
                <a:latin typeface="Calibri"/>
              </a:defRPr>
            </a:pPr>
            <a:r>
              <a:t>EITT Entropy Test</a:t>
            </a:r>
          </a:p>
        </p:txBody>
      </p:sp>
      <p:sp>
        <p:nvSpPr>
          <p:cNvPr id="32" name="TextBox 31"/>
          <p:cNvSpPr txBox="1"/>
          <p:nvPr/>
        </p:nvSpPr>
        <p:spPr>
          <a:xfrm>
            <a:off x="7132320" y="3474720"/>
            <a:ext cx="1645920" cy="274320"/>
          </a:xfrm>
          <a:prstGeom prst="rect">
            <a:avLst/>
          </a:prstGeom>
          <a:noFill/>
        </p:spPr>
        <p:txBody>
          <a:bodyPr wrap="square">
            <a:spAutoFit/>
          </a:bodyPr>
          <a:lstStyle/>
          <a:p>
            <a:pPr algn="l">
              <a:defRPr sz="900" b="0" i="0">
                <a:solidFill>
                  <a:srgbClr val="666677"/>
                </a:solidFill>
                <a:latin typeface="Calibri"/>
              </a:defRPr>
            </a:pPr>
            <a:r>
              <a:t>Extended Panel</a:t>
            </a:r>
          </a:p>
        </p:txBody>
      </p:sp>
      <p:sp>
        <p:nvSpPr>
          <p:cNvPr id="33" name="Rectangle 32"/>
          <p:cNvSpPr/>
          <p:nvPr/>
        </p:nvSpPr>
        <p:spPr>
          <a:xfrm>
            <a:off x="9235440" y="2834640"/>
            <a:ext cx="2560320" cy="10972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345168" y="2971800"/>
            <a:ext cx="457200" cy="45720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Calibri"/>
              </a:defRPr>
            </a:pPr>
            <a:r>
              <a:t>8</a:t>
            </a:r>
          </a:p>
        </p:txBody>
      </p:sp>
      <p:sp>
        <p:nvSpPr>
          <p:cNvPr id="35" name="TextBox 34"/>
          <p:cNvSpPr txBox="1"/>
          <p:nvPr/>
        </p:nvSpPr>
        <p:spPr>
          <a:xfrm>
            <a:off x="9966960" y="3017520"/>
            <a:ext cx="1645920" cy="640080"/>
          </a:xfrm>
          <a:prstGeom prst="rect">
            <a:avLst/>
          </a:prstGeom>
          <a:noFill/>
        </p:spPr>
        <p:txBody>
          <a:bodyPr wrap="square">
            <a:spAutoFit/>
          </a:bodyPr>
          <a:lstStyle/>
          <a:p>
            <a:pPr algn="l">
              <a:defRPr sz="1400" b="1" i="0">
                <a:solidFill>
                  <a:srgbClr val="FFFFFF"/>
                </a:solidFill>
                <a:latin typeface="Calibri"/>
              </a:defRPr>
            </a:pPr>
            <a:r>
              <a:t>Per-Carrier Decomposition</a:t>
            </a:r>
          </a:p>
        </p:txBody>
      </p:sp>
      <p:sp>
        <p:nvSpPr>
          <p:cNvPr id="36" name="TextBox 35"/>
          <p:cNvSpPr txBox="1"/>
          <p:nvPr/>
        </p:nvSpPr>
        <p:spPr>
          <a:xfrm>
            <a:off x="9966960" y="3474720"/>
            <a:ext cx="1645920" cy="274320"/>
          </a:xfrm>
          <a:prstGeom prst="rect">
            <a:avLst/>
          </a:prstGeom>
          <a:noFill/>
        </p:spPr>
        <p:txBody>
          <a:bodyPr wrap="square">
            <a:spAutoFit/>
          </a:bodyPr>
          <a:lstStyle/>
          <a:p>
            <a:pPr algn="l">
              <a:defRPr sz="900" b="0" i="0">
                <a:solidFill>
                  <a:srgbClr val="666677"/>
                </a:solidFill>
                <a:latin typeface="Calibri"/>
              </a:defRPr>
            </a:pPr>
            <a:r>
              <a:t>Extended Panel</a:t>
            </a:r>
          </a:p>
        </p:txBody>
      </p:sp>
      <p:sp>
        <p:nvSpPr>
          <p:cNvPr id="37" name="Rectangle 36"/>
          <p:cNvSpPr/>
          <p:nvPr/>
        </p:nvSpPr>
        <p:spPr>
          <a:xfrm>
            <a:off x="731520" y="4206240"/>
            <a:ext cx="2560320" cy="10972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41248" y="4343400"/>
            <a:ext cx="457200" cy="45720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Calibri"/>
              </a:defRPr>
            </a:pPr>
            <a:r>
              <a:t>9</a:t>
            </a:r>
          </a:p>
        </p:txBody>
      </p:sp>
      <p:sp>
        <p:nvSpPr>
          <p:cNvPr id="39" name="TextBox 38"/>
          <p:cNvSpPr txBox="1"/>
          <p:nvPr/>
        </p:nvSpPr>
        <p:spPr>
          <a:xfrm>
            <a:off x="1463040" y="4389120"/>
            <a:ext cx="1645920" cy="640080"/>
          </a:xfrm>
          <a:prstGeom prst="rect">
            <a:avLst/>
          </a:prstGeom>
          <a:noFill/>
        </p:spPr>
        <p:txBody>
          <a:bodyPr wrap="square">
            <a:spAutoFit/>
          </a:bodyPr>
          <a:lstStyle/>
          <a:p>
            <a:pPr algn="l">
              <a:defRPr sz="1400" b="1" i="0">
                <a:solidFill>
                  <a:srgbClr val="FFFFFF"/>
                </a:solidFill>
                <a:latin typeface="Calibri"/>
              </a:defRPr>
            </a:pPr>
            <a:r>
              <a:t>Transfer Entropy</a:t>
            </a:r>
          </a:p>
        </p:txBody>
      </p:sp>
      <p:sp>
        <p:nvSpPr>
          <p:cNvPr id="40" name="TextBox 39"/>
          <p:cNvSpPr txBox="1"/>
          <p:nvPr/>
        </p:nvSpPr>
        <p:spPr>
          <a:xfrm>
            <a:off x="1463040" y="4846320"/>
            <a:ext cx="1645920" cy="274320"/>
          </a:xfrm>
          <a:prstGeom prst="rect">
            <a:avLst/>
          </a:prstGeom>
          <a:noFill/>
        </p:spPr>
        <p:txBody>
          <a:bodyPr wrap="square">
            <a:spAutoFit/>
          </a:bodyPr>
          <a:lstStyle/>
          <a:p>
            <a:pPr algn="l">
              <a:defRPr sz="900" b="0" i="0">
                <a:solidFill>
                  <a:srgbClr val="666677"/>
                </a:solidFill>
                <a:latin typeface="Calibri"/>
              </a:defRPr>
            </a:pPr>
            <a:r>
              <a:t>Extended Panel</a:t>
            </a:r>
          </a:p>
        </p:txBody>
      </p:sp>
      <p:sp>
        <p:nvSpPr>
          <p:cNvPr id="41" name="Rectangle 40"/>
          <p:cNvSpPr/>
          <p:nvPr/>
        </p:nvSpPr>
        <p:spPr>
          <a:xfrm>
            <a:off x="3566160" y="4206240"/>
            <a:ext cx="2560320" cy="10972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675888" y="4343400"/>
            <a:ext cx="548640" cy="45720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Calibri"/>
              </a:defRPr>
            </a:pPr>
            <a:r>
              <a:t>10</a:t>
            </a:r>
          </a:p>
        </p:txBody>
      </p:sp>
      <p:sp>
        <p:nvSpPr>
          <p:cNvPr id="43" name="TextBox 42"/>
          <p:cNvSpPr txBox="1"/>
          <p:nvPr/>
        </p:nvSpPr>
        <p:spPr>
          <a:xfrm>
            <a:off x="4297680" y="4389120"/>
            <a:ext cx="1645920" cy="640080"/>
          </a:xfrm>
          <a:prstGeom prst="rect">
            <a:avLst/>
          </a:prstGeom>
          <a:noFill/>
        </p:spPr>
        <p:txBody>
          <a:bodyPr wrap="square">
            <a:spAutoFit/>
          </a:bodyPr>
          <a:lstStyle/>
          <a:p>
            <a:pPr algn="l">
              <a:defRPr sz="1400" b="1" i="0">
                <a:solidFill>
                  <a:srgbClr val="FFFFFF"/>
                </a:solidFill>
                <a:latin typeface="Calibri"/>
              </a:defRPr>
            </a:pPr>
            <a:r>
              <a:t>Ratio-Pair Stability</a:t>
            </a:r>
          </a:p>
        </p:txBody>
      </p:sp>
      <p:sp>
        <p:nvSpPr>
          <p:cNvPr id="44" name="TextBox 43"/>
          <p:cNvSpPr txBox="1"/>
          <p:nvPr/>
        </p:nvSpPr>
        <p:spPr>
          <a:xfrm>
            <a:off x="4297680" y="4846320"/>
            <a:ext cx="1645920" cy="274320"/>
          </a:xfrm>
          <a:prstGeom prst="rect">
            <a:avLst/>
          </a:prstGeom>
          <a:noFill/>
        </p:spPr>
        <p:txBody>
          <a:bodyPr wrap="square">
            <a:spAutoFit/>
          </a:bodyPr>
          <a:lstStyle/>
          <a:p>
            <a:pPr algn="l">
              <a:defRPr sz="900" b="0" i="0">
                <a:solidFill>
                  <a:srgbClr val="666677"/>
                </a:solidFill>
                <a:latin typeface="Calibri"/>
              </a:defRPr>
            </a:pPr>
            <a:r>
              <a:t>Extended Panel</a:t>
            </a:r>
          </a:p>
        </p:txBody>
      </p:sp>
      <p:sp>
        <p:nvSpPr>
          <p:cNvPr id="45" name="Rectangle 44"/>
          <p:cNvSpPr/>
          <p:nvPr/>
        </p:nvSpPr>
        <p:spPr>
          <a:xfrm>
            <a:off x="6400800" y="4206240"/>
            <a:ext cx="2560320" cy="10972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510528" y="4343400"/>
            <a:ext cx="548640" cy="45720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Calibri"/>
              </a:defRPr>
            </a:pPr>
            <a:r>
              <a:t>11</a:t>
            </a:r>
          </a:p>
        </p:txBody>
      </p:sp>
      <p:sp>
        <p:nvSpPr>
          <p:cNvPr id="47" name="TextBox 46"/>
          <p:cNvSpPr txBox="1"/>
          <p:nvPr/>
        </p:nvSpPr>
        <p:spPr>
          <a:xfrm>
            <a:off x="7132320" y="4389120"/>
            <a:ext cx="1645920" cy="640080"/>
          </a:xfrm>
          <a:prstGeom prst="rect">
            <a:avLst/>
          </a:prstGeom>
          <a:noFill/>
        </p:spPr>
        <p:txBody>
          <a:bodyPr wrap="square">
            <a:spAutoFit/>
          </a:bodyPr>
          <a:lstStyle/>
          <a:p>
            <a:pPr algn="l">
              <a:defRPr sz="1400" b="1" i="0">
                <a:solidFill>
                  <a:srgbClr val="FFFFFF"/>
                </a:solidFill>
                <a:latin typeface="Calibri"/>
              </a:defRPr>
            </a:pPr>
            <a:r>
              <a:t>Drift Analysis</a:t>
            </a:r>
          </a:p>
        </p:txBody>
      </p:sp>
      <p:sp>
        <p:nvSpPr>
          <p:cNvPr id="48" name="TextBox 47"/>
          <p:cNvSpPr txBox="1"/>
          <p:nvPr/>
        </p:nvSpPr>
        <p:spPr>
          <a:xfrm>
            <a:off x="7132320" y="4846320"/>
            <a:ext cx="1645920" cy="274320"/>
          </a:xfrm>
          <a:prstGeom prst="rect">
            <a:avLst/>
          </a:prstGeom>
          <a:noFill/>
        </p:spPr>
        <p:txBody>
          <a:bodyPr wrap="square">
            <a:spAutoFit/>
          </a:bodyPr>
          <a:lstStyle/>
          <a:p>
            <a:pPr algn="l">
              <a:defRPr sz="900" b="0" i="0">
                <a:solidFill>
                  <a:srgbClr val="666677"/>
                </a:solidFill>
                <a:latin typeface="Calibri"/>
              </a:defRPr>
            </a:pPr>
            <a:r>
              <a:t>Extended Panel</a:t>
            </a:r>
          </a:p>
        </p:txBody>
      </p:sp>
      <p:sp>
        <p:nvSpPr>
          <p:cNvPr id="49" name="Rectangle 48"/>
          <p:cNvSpPr/>
          <p:nvPr/>
        </p:nvSpPr>
        <p:spPr>
          <a:xfrm>
            <a:off x="9235440" y="4206240"/>
            <a:ext cx="2560320" cy="10972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345168" y="4343400"/>
            <a:ext cx="548640" cy="45720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Calibri"/>
              </a:defRPr>
            </a:pPr>
            <a:r>
              <a:t>12</a:t>
            </a:r>
          </a:p>
        </p:txBody>
      </p:sp>
      <p:sp>
        <p:nvSpPr>
          <p:cNvPr id="51" name="TextBox 50"/>
          <p:cNvSpPr txBox="1"/>
          <p:nvPr/>
        </p:nvSpPr>
        <p:spPr>
          <a:xfrm>
            <a:off x="9966960" y="4389120"/>
            <a:ext cx="1645920" cy="640080"/>
          </a:xfrm>
          <a:prstGeom prst="rect">
            <a:avLst/>
          </a:prstGeom>
          <a:noFill/>
        </p:spPr>
        <p:txBody>
          <a:bodyPr wrap="square">
            <a:spAutoFit/>
          </a:bodyPr>
          <a:lstStyle/>
          <a:p>
            <a:pPr algn="l">
              <a:defRPr sz="1400" b="1" i="0">
                <a:solidFill>
                  <a:srgbClr val="FFFFFF"/>
                </a:solidFill>
                <a:latin typeface="Calibri"/>
              </a:defRPr>
            </a:pPr>
            <a:r>
              <a:t>Fingerprint Generation</a:t>
            </a:r>
          </a:p>
        </p:txBody>
      </p:sp>
      <p:sp>
        <p:nvSpPr>
          <p:cNvPr id="52" name="TextBox 51"/>
          <p:cNvSpPr txBox="1"/>
          <p:nvPr/>
        </p:nvSpPr>
        <p:spPr>
          <a:xfrm>
            <a:off x="9966960" y="4846320"/>
            <a:ext cx="1645920" cy="274320"/>
          </a:xfrm>
          <a:prstGeom prst="rect">
            <a:avLst/>
          </a:prstGeom>
          <a:noFill/>
        </p:spPr>
        <p:txBody>
          <a:bodyPr wrap="square">
            <a:spAutoFit/>
          </a:bodyPr>
          <a:lstStyle/>
          <a:p>
            <a:pPr algn="l">
              <a:defRPr sz="900" b="0" i="0">
                <a:solidFill>
                  <a:srgbClr val="666677"/>
                </a:solidFill>
                <a:latin typeface="Calibri"/>
              </a:defRPr>
            </a:pPr>
            <a:r>
              <a:t>Extended Panel</a:t>
            </a:r>
          </a:p>
        </p:txBody>
      </p:sp>
      <p:sp>
        <p:nvSpPr>
          <p:cNvPr id="53" name="Rectangle 52"/>
          <p:cNvSpPr/>
          <p:nvPr/>
        </p:nvSpPr>
        <p:spPr>
          <a:xfrm>
            <a:off x="0" y="5943600"/>
            <a:ext cx="12191695" cy="9144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1520" y="6126480"/>
            <a:ext cx="2103120" cy="457200"/>
          </a:xfrm>
          <a:prstGeom prst="rect">
            <a:avLst/>
          </a:prstGeom>
          <a:noFill/>
        </p:spPr>
        <p:txBody>
          <a:bodyPr wrap="square">
            <a:spAutoFit/>
          </a:bodyPr>
          <a:lstStyle/>
          <a:p>
            <a:pPr algn="ctr">
              <a:defRPr sz="1300" b="1" i="0">
                <a:solidFill>
                  <a:srgbClr val="60A0FF"/>
                </a:solidFill>
                <a:latin typeface="Calibri"/>
              </a:defRPr>
            </a:pPr>
            <a:r>
              <a:t>4 Input Guards</a:t>
            </a:r>
          </a:p>
        </p:txBody>
      </p:sp>
      <p:sp>
        <p:nvSpPr>
          <p:cNvPr id="55" name="TextBox 54"/>
          <p:cNvSpPr txBox="1"/>
          <p:nvPr/>
        </p:nvSpPr>
        <p:spPr>
          <a:xfrm>
            <a:off x="3017520" y="6126480"/>
            <a:ext cx="2103120" cy="457200"/>
          </a:xfrm>
          <a:prstGeom prst="rect">
            <a:avLst/>
          </a:prstGeom>
          <a:noFill/>
        </p:spPr>
        <p:txBody>
          <a:bodyPr wrap="square">
            <a:spAutoFit/>
          </a:bodyPr>
          <a:lstStyle/>
          <a:p>
            <a:pPr algn="ctr">
              <a:defRPr sz="1300" b="1" i="0">
                <a:solidFill>
                  <a:srgbClr val="60A0FF"/>
                </a:solidFill>
                <a:latin typeface="Calibri"/>
              </a:defRPr>
            </a:pPr>
            <a:r>
              <a:t>78 Diagnostic Codes</a:t>
            </a:r>
          </a:p>
        </p:txBody>
      </p:sp>
      <p:sp>
        <p:nvSpPr>
          <p:cNvPr id="56" name="TextBox 55"/>
          <p:cNvSpPr txBox="1"/>
          <p:nvPr/>
        </p:nvSpPr>
        <p:spPr>
          <a:xfrm>
            <a:off x="5303520" y="6126480"/>
            <a:ext cx="2103120" cy="457200"/>
          </a:xfrm>
          <a:prstGeom prst="rect">
            <a:avLst/>
          </a:prstGeom>
          <a:noFill/>
        </p:spPr>
        <p:txBody>
          <a:bodyPr wrap="square">
            <a:spAutoFit/>
          </a:bodyPr>
          <a:lstStyle/>
          <a:p>
            <a:pPr algn="ctr">
              <a:defRPr sz="1300" b="1" i="0">
                <a:solidFill>
                  <a:srgbClr val="60A0FF"/>
                </a:solidFill>
                <a:latin typeface="Calibri"/>
              </a:defRPr>
            </a:pPr>
            <a:r>
              <a:t>10 Structural Modes</a:t>
            </a:r>
          </a:p>
        </p:txBody>
      </p:sp>
      <p:sp>
        <p:nvSpPr>
          <p:cNvPr id="57" name="TextBox 56"/>
          <p:cNvSpPr txBox="1"/>
          <p:nvPr/>
        </p:nvSpPr>
        <p:spPr>
          <a:xfrm>
            <a:off x="7589520" y="6126480"/>
            <a:ext cx="2103120" cy="457200"/>
          </a:xfrm>
          <a:prstGeom prst="rect">
            <a:avLst/>
          </a:prstGeom>
          <a:noFill/>
        </p:spPr>
        <p:txBody>
          <a:bodyPr wrap="square">
            <a:spAutoFit/>
          </a:bodyPr>
          <a:lstStyle/>
          <a:p>
            <a:pPr algn="ctr">
              <a:defRPr sz="1300" b="1" i="0">
                <a:solidFill>
                  <a:srgbClr val="60A0FF"/>
                </a:solidFill>
                <a:latin typeface="Calibri"/>
              </a:defRPr>
            </a:pPr>
            <a:r>
              <a:t>5 Languages</a:t>
            </a:r>
          </a:p>
        </p:txBody>
      </p:sp>
      <p:sp>
        <p:nvSpPr>
          <p:cNvPr id="58" name="TextBox 57"/>
          <p:cNvSpPr txBox="1"/>
          <p:nvPr/>
        </p:nvSpPr>
        <p:spPr>
          <a:xfrm>
            <a:off x="9875520" y="6126480"/>
            <a:ext cx="2103120" cy="457200"/>
          </a:xfrm>
          <a:prstGeom prst="rect">
            <a:avLst/>
          </a:prstGeom>
          <a:noFill/>
        </p:spPr>
        <p:txBody>
          <a:bodyPr wrap="square">
            <a:spAutoFit/>
          </a:bodyPr>
          <a:lstStyle/>
          <a:p>
            <a:pPr algn="ctr">
              <a:defRPr sz="1300" b="1" i="0">
                <a:solidFill>
                  <a:srgbClr val="60A0FF"/>
                </a:solidFill>
                <a:latin typeface="Calibri"/>
              </a:defRPr>
            </a:pPr>
            <a:r>
              <a:t>Full Audit Trail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7315200" cy="640080"/>
          </a:xfrm>
          <a:prstGeom prst="rect">
            <a:avLst/>
          </a:prstGeom>
          <a:noFill/>
        </p:spPr>
        <p:txBody>
          <a:bodyPr wrap="square">
            <a:spAutoFit/>
          </a:bodyPr>
          <a:lstStyle/>
          <a:p>
            <a:pPr algn="l">
              <a:defRPr sz="3600" b="1" i="0">
                <a:solidFill>
                  <a:srgbClr val="FFFFFF"/>
                </a:solidFill>
                <a:latin typeface="Calibri"/>
              </a:defRPr>
            </a:pPr>
            <a:r>
              <a:t>The Knowledge Engine</a:t>
            </a:r>
          </a:p>
        </p:txBody>
      </p:sp>
      <p:sp>
        <p:nvSpPr>
          <p:cNvPr id="4" name="TextBox 3"/>
          <p:cNvSpPr txBox="1"/>
          <p:nvPr/>
        </p:nvSpPr>
        <p:spPr>
          <a:xfrm>
            <a:off x="731520" y="777240"/>
            <a:ext cx="7315200" cy="365760"/>
          </a:xfrm>
          <a:prstGeom prst="rect">
            <a:avLst/>
          </a:prstGeom>
          <a:noFill/>
        </p:spPr>
        <p:txBody>
          <a:bodyPr wrap="square">
            <a:spAutoFit/>
          </a:bodyPr>
          <a:lstStyle/>
          <a:p>
            <a:pPr algn="l">
              <a:defRPr sz="1400" b="0" i="0">
                <a:solidFill>
                  <a:srgbClr val="60A0FF"/>
                </a:solidFill>
                <a:latin typeface="Calibri"/>
              </a:defRPr>
            </a:pPr>
            <a:r>
              <a:t>Run → Diagnose → Fingerprint → Catalogue</a:t>
            </a:r>
          </a:p>
        </p:txBody>
      </p:sp>
      <p:sp>
        <p:nvSpPr>
          <p:cNvPr id="5" name="Rectangle 4"/>
          <p:cNvSpPr/>
          <p:nvPr/>
        </p:nvSpPr>
        <p:spPr>
          <a:xfrm>
            <a:off x="731520" y="1463040"/>
            <a:ext cx="3383280" cy="32004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38328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2834640" cy="457200"/>
          </a:xfrm>
          <a:prstGeom prst="rect">
            <a:avLst/>
          </a:prstGeom>
          <a:noFill/>
        </p:spPr>
        <p:txBody>
          <a:bodyPr wrap="square">
            <a:spAutoFit/>
          </a:bodyPr>
          <a:lstStyle/>
          <a:p>
            <a:pPr algn="l">
              <a:defRPr sz="2200" b="1" i="0">
                <a:solidFill>
                  <a:srgbClr val="22C55E"/>
                </a:solidFill>
                <a:latin typeface="Calibri"/>
              </a:defRPr>
            </a:pPr>
            <a:r>
              <a:t>Diagnosis</a:t>
            </a:r>
          </a:p>
        </p:txBody>
      </p:sp>
      <p:sp>
        <p:nvSpPr>
          <p:cNvPr id="8" name="TextBox 7"/>
          <p:cNvSpPr txBox="1"/>
          <p:nvPr/>
        </p:nvSpPr>
        <p:spPr>
          <a:xfrm>
            <a:off x="1005840" y="2286000"/>
            <a:ext cx="2834640" cy="2194560"/>
          </a:xfrm>
          <a:prstGeom prst="rect">
            <a:avLst/>
          </a:prstGeom>
          <a:noFill/>
        </p:spPr>
        <p:txBody>
          <a:bodyPr wrap="square">
            <a:spAutoFit/>
          </a:bodyPr>
          <a:lstStyle/>
          <a:p>
            <a:pPr algn="l">
              <a:defRPr sz="1400" b="0" i="0">
                <a:solidFill>
                  <a:srgbClr val="CCCCCC"/>
                </a:solidFill>
                <a:latin typeface="Calibri"/>
              </a:defRPr>
            </a:pPr>
            <a:r>
              <a:t>78 diagnostic codes</a:t>
            </a:r>
            <a:br/>
            <a:r>
              <a:t>10 structural modes</a:t>
            </a:r>
            <a:br/>
            <a:r>
              <a:t>Clear/actionable</a:t>
            </a:r>
          </a:p>
        </p:txBody>
      </p:sp>
      <p:sp>
        <p:nvSpPr>
          <p:cNvPr id="9" name="Rectangle 8"/>
          <p:cNvSpPr/>
          <p:nvPr/>
        </p:nvSpPr>
        <p:spPr>
          <a:xfrm>
            <a:off x="4480559" y="1463040"/>
            <a:ext cx="3383280" cy="32004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80559" y="1463040"/>
            <a:ext cx="3383280" cy="54864"/>
          </a:xfrm>
          <a:prstGeom prst="rect">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1737360"/>
            <a:ext cx="2834640" cy="457200"/>
          </a:xfrm>
          <a:prstGeom prst="rect">
            <a:avLst/>
          </a:prstGeom>
          <a:noFill/>
        </p:spPr>
        <p:txBody>
          <a:bodyPr wrap="square">
            <a:spAutoFit/>
          </a:bodyPr>
          <a:lstStyle/>
          <a:p>
            <a:pPr algn="l">
              <a:defRPr sz="2200" b="1" i="0">
                <a:solidFill>
                  <a:srgbClr val="60A0FF"/>
                </a:solidFill>
                <a:latin typeface="Calibri"/>
              </a:defRPr>
            </a:pPr>
            <a:r>
              <a:t>Fingerprint</a:t>
            </a:r>
          </a:p>
        </p:txBody>
      </p:sp>
      <p:sp>
        <p:nvSpPr>
          <p:cNvPr id="12" name="TextBox 11"/>
          <p:cNvSpPr txBox="1"/>
          <p:nvPr/>
        </p:nvSpPr>
        <p:spPr>
          <a:xfrm>
            <a:off x="4754879" y="2286000"/>
            <a:ext cx="2834640" cy="2194560"/>
          </a:xfrm>
          <a:prstGeom prst="rect">
            <a:avLst/>
          </a:prstGeom>
          <a:noFill/>
        </p:spPr>
        <p:txBody>
          <a:bodyPr wrap="square">
            <a:spAutoFit/>
          </a:bodyPr>
          <a:lstStyle/>
          <a:p>
            <a:pPr algn="l">
              <a:defRPr sz="1400" b="0" i="0">
                <a:solidFill>
                  <a:srgbClr val="CCCCCC"/>
                </a:solidFill>
                <a:latin typeface="Calibri"/>
              </a:defRPr>
            </a:pPr>
            <a:r>
              <a:t>7-dimension identity vector</a:t>
            </a:r>
            <a:br/>
            <a:r>
              <a:t>Shape · R² · Classification</a:t>
            </a:r>
            <a:br/>
            <a:r>
              <a:t>Constant family · EITT · Chaos · Drift</a:t>
            </a:r>
          </a:p>
        </p:txBody>
      </p:sp>
      <p:sp>
        <p:nvSpPr>
          <p:cNvPr id="13" name="Rectangle 12"/>
          <p:cNvSpPr/>
          <p:nvPr/>
        </p:nvSpPr>
        <p:spPr>
          <a:xfrm>
            <a:off x="8229600" y="1463040"/>
            <a:ext cx="3383280" cy="32004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1463040"/>
            <a:ext cx="3383280" cy="5486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1737360"/>
            <a:ext cx="2834640" cy="457200"/>
          </a:xfrm>
          <a:prstGeom prst="rect">
            <a:avLst/>
          </a:prstGeom>
          <a:noFill/>
        </p:spPr>
        <p:txBody>
          <a:bodyPr wrap="square">
            <a:spAutoFit/>
          </a:bodyPr>
          <a:lstStyle/>
          <a:p>
            <a:pPr algn="l">
              <a:defRPr sz="2200" b="1" i="0">
                <a:solidFill>
                  <a:srgbClr val="A855F7"/>
                </a:solidFill>
                <a:latin typeface="Calibri"/>
              </a:defRPr>
            </a:pPr>
            <a:r>
              <a:t>Audit Trail</a:t>
            </a:r>
          </a:p>
        </p:txBody>
      </p:sp>
      <p:sp>
        <p:nvSpPr>
          <p:cNvPr id="16" name="TextBox 15"/>
          <p:cNvSpPr txBox="1"/>
          <p:nvPr/>
        </p:nvSpPr>
        <p:spPr>
          <a:xfrm>
            <a:off x="8503920" y="2286000"/>
            <a:ext cx="2834640" cy="2194560"/>
          </a:xfrm>
          <a:prstGeom prst="rect">
            <a:avLst/>
          </a:prstGeom>
          <a:noFill/>
        </p:spPr>
        <p:txBody>
          <a:bodyPr wrap="square">
            <a:spAutoFit/>
          </a:bodyPr>
          <a:lstStyle/>
          <a:p>
            <a:pPr algn="l">
              <a:defRPr sz="1400" b="0" i="0">
                <a:solidFill>
                  <a:srgbClr val="CCCCCC"/>
                </a:solidFill>
                <a:latin typeface="Calibri"/>
              </a:defRPr>
            </a:pPr>
            <a:r>
              <a:t>SHA-256 hash chain</a:t>
            </a:r>
            <a:br/>
            <a:r>
              <a:t>Input → Output provenance</a:t>
            </a:r>
            <a:br/>
            <a:r>
              <a:t>Chain of custody</a:t>
            </a:r>
          </a:p>
        </p:txBody>
      </p:sp>
      <p:sp>
        <p:nvSpPr>
          <p:cNvPr id="17" name="TextBox 16"/>
          <p:cNvSpPr txBox="1"/>
          <p:nvPr/>
        </p:nvSpPr>
        <p:spPr>
          <a:xfrm>
            <a:off x="731520" y="5029200"/>
            <a:ext cx="10972800" cy="457200"/>
          </a:xfrm>
          <a:prstGeom prst="rect">
            <a:avLst/>
          </a:prstGeom>
          <a:noFill/>
        </p:spPr>
        <p:txBody>
          <a:bodyPr wrap="square">
            <a:spAutoFit/>
          </a:bodyPr>
          <a:lstStyle/>
          <a:p>
            <a:pPr algn="ctr">
              <a:defRPr sz="1600" b="1" i="0">
                <a:solidFill>
                  <a:srgbClr val="FFFFFF"/>
                </a:solidFill>
                <a:latin typeface="Calibri"/>
              </a:defRPr>
            </a:pPr>
            <a:r>
              <a:t>25 experiments · 18 domains · 53 systems · 44 orders of magnitude</a:t>
            </a:r>
          </a:p>
        </p:txBody>
      </p:sp>
      <p:sp>
        <p:nvSpPr>
          <p:cNvPr id="18" name="TextBox 17"/>
          <p:cNvSpPr txBox="1"/>
          <p:nvPr/>
        </p:nvSpPr>
        <p:spPr>
          <a:xfrm>
            <a:off x="731520" y="5486400"/>
            <a:ext cx="10972800" cy="365760"/>
          </a:xfrm>
          <a:prstGeom prst="rect">
            <a:avLst/>
          </a:prstGeom>
          <a:noFill/>
        </p:spPr>
        <p:txBody>
          <a:bodyPr wrap="square">
            <a:spAutoFit/>
          </a:bodyPr>
          <a:lstStyle/>
          <a:p>
            <a:pPr algn="ctr">
              <a:defRPr sz="1300" b="0" i="1">
                <a:solidFill>
                  <a:srgbClr val="666677"/>
                </a:solidFill>
                <a:latin typeface="Calibri"/>
              </a:defRPr>
            </a:pPr>
            <a:r>
              <a:t>Nuclear binding energy ← → Composition of the universe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640080"/>
          </a:xfrm>
          <a:prstGeom prst="rect">
            <a:avLst/>
          </a:prstGeom>
          <a:noFill/>
        </p:spPr>
        <p:txBody>
          <a:bodyPr wrap="square">
            <a:spAutoFit/>
          </a:bodyPr>
          <a:lstStyle/>
          <a:p>
            <a:pPr algn="l">
              <a:defRPr sz="3600" b="1" i="0">
                <a:solidFill>
                  <a:srgbClr val="FFFFFF"/>
                </a:solidFill>
                <a:latin typeface="Calibri"/>
              </a:defRPr>
            </a:pPr>
            <a:r>
              <a:t>The Centrepiece: The Universe</a:t>
            </a:r>
          </a:p>
        </p:txBody>
      </p:sp>
      <p:sp>
        <p:nvSpPr>
          <p:cNvPr id="4" name="TextBox 3"/>
          <p:cNvSpPr txBox="1"/>
          <p:nvPr/>
        </p:nvSpPr>
        <p:spPr>
          <a:xfrm>
            <a:off x="731520" y="777240"/>
            <a:ext cx="7315200" cy="365760"/>
          </a:xfrm>
          <a:prstGeom prst="rect">
            <a:avLst/>
          </a:prstGeom>
          <a:noFill/>
        </p:spPr>
        <p:txBody>
          <a:bodyPr wrap="square">
            <a:spAutoFit/>
          </a:bodyPr>
          <a:lstStyle/>
          <a:p>
            <a:pPr algn="l">
              <a:defRPr sz="1400" b="0" i="0">
                <a:solidFill>
                  <a:srgbClr val="A855F7"/>
                </a:solidFill>
                <a:latin typeface="Calibri"/>
              </a:defRPr>
            </a:pPr>
            <a:r>
              <a:t>Planck 2018 ΛCDM · Hs-25 Cosmic Energy Budget</a:t>
            </a:r>
          </a:p>
        </p:txBody>
      </p:sp>
      <p:sp>
        <p:nvSpPr>
          <p:cNvPr id="5" name="Rectangle 4"/>
          <p:cNvSpPr/>
          <p:nvPr/>
        </p:nvSpPr>
        <p:spPr>
          <a:xfrm>
            <a:off x="457200" y="1463040"/>
            <a:ext cx="2011680" cy="18288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63040"/>
            <a:ext cx="2011680" cy="4572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691640"/>
            <a:ext cx="1737360" cy="365760"/>
          </a:xfrm>
          <a:prstGeom prst="rect">
            <a:avLst/>
          </a:prstGeom>
          <a:noFill/>
        </p:spPr>
        <p:txBody>
          <a:bodyPr wrap="square">
            <a:spAutoFit/>
          </a:bodyPr>
          <a:lstStyle/>
          <a:p>
            <a:pPr algn="l">
              <a:defRPr sz="1300" b="1" i="0">
                <a:solidFill>
                  <a:srgbClr val="A855F7"/>
                </a:solidFill>
                <a:latin typeface="Calibri"/>
              </a:defRPr>
            </a:pPr>
            <a:r>
              <a:t>Dark Energy</a:t>
            </a:r>
          </a:p>
        </p:txBody>
      </p:sp>
      <p:sp>
        <p:nvSpPr>
          <p:cNvPr id="8" name="TextBox 7"/>
          <p:cNvSpPr txBox="1"/>
          <p:nvPr/>
        </p:nvSpPr>
        <p:spPr>
          <a:xfrm>
            <a:off x="594360" y="2103120"/>
            <a:ext cx="1737360" cy="548640"/>
          </a:xfrm>
          <a:prstGeom prst="rect">
            <a:avLst/>
          </a:prstGeom>
          <a:noFill/>
        </p:spPr>
        <p:txBody>
          <a:bodyPr wrap="square">
            <a:spAutoFit/>
          </a:bodyPr>
          <a:lstStyle/>
          <a:p>
            <a:pPr algn="l">
              <a:defRPr sz="2800" b="1" i="0">
                <a:solidFill>
                  <a:srgbClr val="FFFFFF"/>
                </a:solidFill>
                <a:latin typeface="Calibri"/>
              </a:defRPr>
            </a:pPr>
            <a:r>
              <a:t>69.0%</a:t>
            </a:r>
          </a:p>
        </p:txBody>
      </p:sp>
      <p:sp>
        <p:nvSpPr>
          <p:cNvPr id="9" name="TextBox 8"/>
          <p:cNvSpPr txBox="1"/>
          <p:nvPr/>
        </p:nvSpPr>
        <p:spPr>
          <a:xfrm>
            <a:off x="594360" y="2651760"/>
            <a:ext cx="1737360" cy="365760"/>
          </a:xfrm>
          <a:prstGeom prst="rect">
            <a:avLst/>
          </a:prstGeom>
          <a:noFill/>
        </p:spPr>
        <p:txBody>
          <a:bodyPr wrap="square">
            <a:spAutoFit/>
          </a:bodyPr>
          <a:lstStyle/>
          <a:p>
            <a:pPr algn="l">
              <a:defRPr sz="1100" b="0" i="0">
                <a:solidFill>
                  <a:srgbClr val="666677"/>
                </a:solidFill>
                <a:latin typeface="Consolas"/>
              </a:defRPr>
            </a:pPr>
            <a:r>
              <a:t>w = −1</a:t>
            </a:r>
          </a:p>
        </p:txBody>
      </p:sp>
      <p:sp>
        <p:nvSpPr>
          <p:cNvPr id="10" name="Rectangle 9"/>
          <p:cNvSpPr/>
          <p:nvPr/>
        </p:nvSpPr>
        <p:spPr>
          <a:xfrm>
            <a:off x="2743200" y="1463040"/>
            <a:ext cx="2011680" cy="18288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0" y="1463040"/>
            <a:ext cx="2011680" cy="45720"/>
          </a:xfrm>
          <a:prstGeom prst="rect">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80360" y="1691640"/>
            <a:ext cx="1737360" cy="365760"/>
          </a:xfrm>
          <a:prstGeom prst="rect">
            <a:avLst/>
          </a:prstGeom>
          <a:noFill/>
        </p:spPr>
        <p:txBody>
          <a:bodyPr wrap="square">
            <a:spAutoFit/>
          </a:bodyPr>
          <a:lstStyle/>
          <a:p>
            <a:pPr algn="l">
              <a:defRPr sz="1300" b="1" i="0">
                <a:solidFill>
                  <a:srgbClr val="60A0FF"/>
                </a:solidFill>
                <a:latin typeface="Calibri"/>
              </a:defRPr>
            </a:pPr>
            <a:r>
              <a:t>Cold Dark Matter</a:t>
            </a:r>
          </a:p>
        </p:txBody>
      </p:sp>
      <p:sp>
        <p:nvSpPr>
          <p:cNvPr id="13" name="TextBox 12"/>
          <p:cNvSpPr txBox="1"/>
          <p:nvPr/>
        </p:nvSpPr>
        <p:spPr>
          <a:xfrm>
            <a:off x="2880360" y="2103120"/>
            <a:ext cx="1737360" cy="548640"/>
          </a:xfrm>
          <a:prstGeom prst="rect">
            <a:avLst/>
          </a:prstGeom>
          <a:noFill/>
        </p:spPr>
        <p:txBody>
          <a:bodyPr wrap="square">
            <a:spAutoFit/>
          </a:bodyPr>
          <a:lstStyle/>
          <a:p>
            <a:pPr algn="l">
              <a:defRPr sz="2800" b="1" i="0">
                <a:solidFill>
                  <a:srgbClr val="FFFFFF"/>
                </a:solidFill>
                <a:latin typeface="Calibri"/>
              </a:defRPr>
            </a:pPr>
            <a:r>
              <a:t>26.1%</a:t>
            </a:r>
          </a:p>
        </p:txBody>
      </p:sp>
      <p:sp>
        <p:nvSpPr>
          <p:cNvPr id="14" name="TextBox 13"/>
          <p:cNvSpPr txBox="1"/>
          <p:nvPr/>
        </p:nvSpPr>
        <p:spPr>
          <a:xfrm>
            <a:off x="2880360" y="2651760"/>
            <a:ext cx="1737360" cy="365760"/>
          </a:xfrm>
          <a:prstGeom prst="rect">
            <a:avLst/>
          </a:prstGeom>
          <a:noFill/>
        </p:spPr>
        <p:txBody>
          <a:bodyPr wrap="square">
            <a:spAutoFit/>
          </a:bodyPr>
          <a:lstStyle/>
          <a:p>
            <a:pPr algn="l">
              <a:defRPr sz="1100" b="0" i="0">
                <a:solidFill>
                  <a:srgbClr val="666677"/>
                </a:solidFill>
                <a:latin typeface="Consolas"/>
              </a:defRPr>
            </a:pPr>
            <a:r>
              <a:t>∝ (1+z)³</a:t>
            </a:r>
          </a:p>
        </p:txBody>
      </p:sp>
      <p:sp>
        <p:nvSpPr>
          <p:cNvPr id="15" name="Rectangle 14"/>
          <p:cNvSpPr/>
          <p:nvPr/>
        </p:nvSpPr>
        <p:spPr>
          <a:xfrm>
            <a:off x="5029200" y="1463040"/>
            <a:ext cx="2011680" cy="18288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0" y="1463040"/>
            <a:ext cx="2011680"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1691640"/>
            <a:ext cx="1737360" cy="365760"/>
          </a:xfrm>
          <a:prstGeom prst="rect">
            <a:avLst/>
          </a:prstGeom>
          <a:noFill/>
        </p:spPr>
        <p:txBody>
          <a:bodyPr wrap="square">
            <a:spAutoFit/>
          </a:bodyPr>
          <a:lstStyle/>
          <a:p>
            <a:pPr algn="l">
              <a:defRPr sz="1300" b="1" i="0">
                <a:solidFill>
                  <a:srgbClr val="22C55E"/>
                </a:solidFill>
                <a:latin typeface="Calibri"/>
              </a:defRPr>
            </a:pPr>
            <a:r>
              <a:t>Baryonic Matter</a:t>
            </a:r>
          </a:p>
        </p:txBody>
      </p:sp>
      <p:sp>
        <p:nvSpPr>
          <p:cNvPr id="18" name="TextBox 17"/>
          <p:cNvSpPr txBox="1"/>
          <p:nvPr/>
        </p:nvSpPr>
        <p:spPr>
          <a:xfrm>
            <a:off x="5166360" y="2103120"/>
            <a:ext cx="1737360" cy="548640"/>
          </a:xfrm>
          <a:prstGeom prst="rect">
            <a:avLst/>
          </a:prstGeom>
          <a:noFill/>
        </p:spPr>
        <p:txBody>
          <a:bodyPr wrap="square">
            <a:spAutoFit/>
          </a:bodyPr>
          <a:lstStyle/>
          <a:p>
            <a:pPr algn="l">
              <a:defRPr sz="2800" b="1" i="0">
                <a:solidFill>
                  <a:srgbClr val="FFFFFF"/>
                </a:solidFill>
                <a:latin typeface="Calibri"/>
              </a:defRPr>
            </a:pPr>
            <a:r>
              <a:t>4.9%</a:t>
            </a:r>
          </a:p>
        </p:txBody>
      </p:sp>
      <p:sp>
        <p:nvSpPr>
          <p:cNvPr id="19" name="TextBox 18"/>
          <p:cNvSpPr txBox="1"/>
          <p:nvPr/>
        </p:nvSpPr>
        <p:spPr>
          <a:xfrm>
            <a:off x="5166360" y="2651760"/>
            <a:ext cx="1737360" cy="365760"/>
          </a:xfrm>
          <a:prstGeom prst="rect">
            <a:avLst/>
          </a:prstGeom>
          <a:noFill/>
        </p:spPr>
        <p:txBody>
          <a:bodyPr wrap="square">
            <a:spAutoFit/>
          </a:bodyPr>
          <a:lstStyle/>
          <a:p>
            <a:pPr algn="l">
              <a:defRPr sz="1100" b="0" i="0">
                <a:solidFill>
                  <a:srgbClr val="666677"/>
                </a:solidFill>
                <a:latin typeface="Consolas"/>
              </a:defRPr>
            </a:pPr>
            <a:r>
              <a:t>∝ (1+z)³</a:t>
            </a:r>
          </a:p>
        </p:txBody>
      </p:sp>
      <p:sp>
        <p:nvSpPr>
          <p:cNvPr id="20" name="Rectangle 19"/>
          <p:cNvSpPr/>
          <p:nvPr/>
        </p:nvSpPr>
        <p:spPr>
          <a:xfrm>
            <a:off x="7315200" y="1463040"/>
            <a:ext cx="2011680" cy="18288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0" y="1463040"/>
            <a:ext cx="20116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52360" y="1691640"/>
            <a:ext cx="1737360" cy="365760"/>
          </a:xfrm>
          <a:prstGeom prst="rect">
            <a:avLst/>
          </a:prstGeom>
          <a:noFill/>
        </p:spPr>
        <p:txBody>
          <a:bodyPr wrap="square">
            <a:spAutoFit/>
          </a:bodyPr>
          <a:lstStyle/>
          <a:p>
            <a:pPr algn="l">
              <a:defRPr sz="1300" b="1" i="0">
                <a:solidFill>
                  <a:srgbClr val="F59E0B"/>
                </a:solidFill>
                <a:latin typeface="Calibri"/>
              </a:defRPr>
            </a:pPr>
            <a:r>
              <a:t>Photon Radiation</a:t>
            </a:r>
          </a:p>
        </p:txBody>
      </p:sp>
      <p:sp>
        <p:nvSpPr>
          <p:cNvPr id="23" name="TextBox 22"/>
          <p:cNvSpPr txBox="1"/>
          <p:nvPr/>
        </p:nvSpPr>
        <p:spPr>
          <a:xfrm>
            <a:off x="7452360" y="2103120"/>
            <a:ext cx="1737360" cy="548640"/>
          </a:xfrm>
          <a:prstGeom prst="rect">
            <a:avLst/>
          </a:prstGeom>
          <a:noFill/>
        </p:spPr>
        <p:txBody>
          <a:bodyPr wrap="square">
            <a:spAutoFit/>
          </a:bodyPr>
          <a:lstStyle/>
          <a:p>
            <a:pPr algn="l">
              <a:defRPr sz="2800" b="1" i="0">
                <a:solidFill>
                  <a:srgbClr val="FFFFFF"/>
                </a:solidFill>
                <a:latin typeface="Calibri"/>
              </a:defRPr>
            </a:pPr>
            <a:r>
              <a:t>0.005%</a:t>
            </a:r>
          </a:p>
        </p:txBody>
      </p:sp>
      <p:sp>
        <p:nvSpPr>
          <p:cNvPr id="24" name="TextBox 23"/>
          <p:cNvSpPr txBox="1"/>
          <p:nvPr/>
        </p:nvSpPr>
        <p:spPr>
          <a:xfrm>
            <a:off x="7452360" y="2651760"/>
            <a:ext cx="1737360" cy="365760"/>
          </a:xfrm>
          <a:prstGeom prst="rect">
            <a:avLst/>
          </a:prstGeom>
          <a:noFill/>
        </p:spPr>
        <p:txBody>
          <a:bodyPr wrap="square">
            <a:spAutoFit/>
          </a:bodyPr>
          <a:lstStyle/>
          <a:p>
            <a:pPr algn="l">
              <a:defRPr sz="1100" b="0" i="0">
                <a:solidFill>
                  <a:srgbClr val="666677"/>
                </a:solidFill>
                <a:latin typeface="Consolas"/>
              </a:defRPr>
            </a:pPr>
            <a:r>
              <a:t>∝ (1+z)⁴</a:t>
            </a:r>
          </a:p>
        </p:txBody>
      </p:sp>
      <p:sp>
        <p:nvSpPr>
          <p:cNvPr id="25" name="Rectangle 24"/>
          <p:cNvSpPr/>
          <p:nvPr/>
        </p:nvSpPr>
        <p:spPr>
          <a:xfrm>
            <a:off x="9601200" y="1463040"/>
            <a:ext cx="2011680" cy="18288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601200" y="1463040"/>
            <a:ext cx="201168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38360" y="1691640"/>
            <a:ext cx="1737360" cy="365760"/>
          </a:xfrm>
          <a:prstGeom prst="rect">
            <a:avLst/>
          </a:prstGeom>
          <a:noFill/>
        </p:spPr>
        <p:txBody>
          <a:bodyPr wrap="square">
            <a:spAutoFit/>
          </a:bodyPr>
          <a:lstStyle/>
          <a:p>
            <a:pPr algn="l">
              <a:defRPr sz="1300" b="1" i="0">
                <a:solidFill>
                  <a:srgbClr val="EF4444"/>
                </a:solidFill>
                <a:latin typeface="Calibri"/>
              </a:defRPr>
            </a:pPr>
            <a:r>
              <a:t>Neutrinos</a:t>
            </a:r>
          </a:p>
        </p:txBody>
      </p:sp>
      <p:sp>
        <p:nvSpPr>
          <p:cNvPr id="28" name="TextBox 27"/>
          <p:cNvSpPr txBox="1"/>
          <p:nvPr/>
        </p:nvSpPr>
        <p:spPr>
          <a:xfrm>
            <a:off x="9738360" y="2103120"/>
            <a:ext cx="1737360" cy="548640"/>
          </a:xfrm>
          <a:prstGeom prst="rect">
            <a:avLst/>
          </a:prstGeom>
          <a:noFill/>
        </p:spPr>
        <p:txBody>
          <a:bodyPr wrap="square">
            <a:spAutoFit/>
          </a:bodyPr>
          <a:lstStyle/>
          <a:p>
            <a:pPr algn="l">
              <a:defRPr sz="2800" b="1" i="0">
                <a:solidFill>
                  <a:srgbClr val="FFFFFF"/>
                </a:solidFill>
                <a:latin typeface="Calibri"/>
              </a:defRPr>
            </a:pPr>
            <a:r>
              <a:t>0.004%</a:t>
            </a:r>
          </a:p>
        </p:txBody>
      </p:sp>
      <p:sp>
        <p:nvSpPr>
          <p:cNvPr id="29" name="TextBox 28"/>
          <p:cNvSpPr txBox="1"/>
          <p:nvPr/>
        </p:nvSpPr>
        <p:spPr>
          <a:xfrm>
            <a:off x="9738360" y="2651760"/>
            <a:ext cx="1737360" cy="365760"/>
          </a:xfrm>
          <a:prstGeom prst="rect">
            <a:avLst/>
          </a:prstGeom>
          <a:noFill/>
        </p:spPr>
        <p:txBody>
          <a:bodyPr wrap="square">
            <a:spAutoFit/>
          </a:bodyPr>
          <a:lstStyle/>
          <a:p>
            <a:pPr algn="l">
              <a:defRPr sz="1100" b="0" i="0">
                <a:solidFill>
                  <a:srgbClr val="666677"/>
                </a:solidFill>
                <a:latin typeface="Consolas"/>
              </a:defRPr>
            </a:pPr>
            <a:r>
              <a:t>∝ (1+z)⁴</a:t>
            </a:r>
          </a:p>
        </p:txBody>
      </p:sp>
      <p:sp>
        <p:nvSpPr>
          <p:cNvPr id="30" name="TextBox 29"/>
          <p:cNvSpPr txBox="1"/>
          <p:nvPr/>
        </p:nvSpPr>
        <p:spPr>
          <a:xfrm>
            <a:off x="731520" y="3657600"/>
            <a:ext cx="10515600" cy="2286000"/>
          </a:xfrm>
          <a:prstGeom prst="rect">
            <a:avLst/>
          </a:prstGeom>
          <a:noFill/>
        </p:spPr>
        <p:txBody>
          <a:bodyPr wrap="square">
            <a:spAutoFit/>
          </a:bodyPr>
          <a:lstStyle/>
          <a:p>
            <a:pPr algn="l">
              <a:spcAft>
                <a:spcPts val="840"/>
              </a:spcAft>
              <a:defRPr sz="1400" b="0" i="0">
                <a:solidFill>
                  <a:srgbClr val="CCCCCC"/>
                </a:solidFill>
                <a:latin typeface="Calibri"/>
              </a:defRPr>
            </a:pPr>
            <a:r>
              <a:t>103 epochs from z = 0 (today) to z = 3400 (past matter-radiation equality)</a:t>
            </a:r>
          </a:p>
          <a:p>
            <a:pPr algn="l">
              <a:spcAft>
                <a:spcPts val="840"/>
              </a:spcAft>
              <a:defRPr sz="1400" b="0" i="0">
                <a:solidFill>
                  <a:srgbClr val="888888"/>
                </a:solidFill>
                <a:latin typeface="Calibri"/>
              </a:defRPr>
            </a:pPr>
            <a:r>
              <a:t>Three phase transitions · Hierarchy ratio &gt; 10⁴ · Fractions span 5 orders of magnitude</a:t>
            </a:r>
          </a:p>
          <a:p>
            <a:pPr algn="l">
              <a:spcAft>
                <a:spcPts val="840"/>
              </a:spcAft>
              <a:defRPr sz="1600" b="1" i="0">
                <a:solidFill>
                  <a:srgbClr val="FFFFFF"/>
                </a:solidFill>
                <a:latin typeface="Calibri"/>
              </a:defRPr>
            </a:pPr>
            <a:r>
              <a:t>Same 12 steps. No domain-specific tuning. Same instrument.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640080"/>
          </a:xfrm>
          <a:prstGeom prst="rect">
            <a:avLst/>
          </a:prstGeom>
          <a:noFill/>
        </p:spPr>
        <p:txBody>
          <a:bodyPr wrap="square">
            <a:spAutoFit/>
          </a:bodyPr>
          <a:lstStyle/>
          <a:p>
            <a:pPr algn="l">
              <a:defRPr sz="3600" b="1" i="0">
                <a:solidFill>
                  <a:srgbClr val="FFFFFF"/>
                </a:solidFill>
                <a:latin typeface="Calibri"/>
              </a:defRPr>
            </a:pPr>
            <a:r>
              <a:t>Composition Across Cosmic Time</a:t>
            </a:r>
          </a:p>
        </p:txBody>
      </p:sp>
      <p:sp>
        <p:nvSpPr>
          <p:cNvPr id="4" name="Rectangle 3"/>
          <p:cNvSpPr/>
          <p:nvPr/>
        </p:nvSpPr>
        <p:spPr>
          <a:xfrm>
            <a:off x="731520" y="1371600"/>
            <a:ext cx="2240280" cy="4572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2103120" cy="365760"/>
          </a:xfrm>
          <a:prstGeom prst="rect">
            <a:avLst/>
          </a:prstGeom>
          <a:noFill/>
        </p:spPr>
        <p:txBody>
          <a:bodyPr wrap="square">
            <a:spAutoFit/>
          </a:bodyPr>
          <a:lstStyle/>
          <a:p>
            <a:pPr algn="ctr">
              <a:defRPr sz="1200" b="1" i="0">
                <a:solidFill>
                  <a:srgbClr val="FFFFFF"/>
                </a:solidFill>
                <a:latin typeface="Calibri"/>
              </a:defRPr>
            </a:pPr>
            <a:r>
              <a:t>Epoch</a:t>
            </a:r>
          </a:p>
        </p:txBody>
      </p:sp>
      <p:sp>
        <p:nvSpPr>
          <p:cNvPr id="6" name="Rectangle 5"/>
          <p:cNvSpPr/>
          <p:nvPr/>
        </p:nvSpPr>
        <p:spPr>
          <a:xfrm>
            <a:off x="3017520" y="1371600"/>
            <a:ext cx="1600200" cy="4572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0" y="1417320"/>
            <a:ext cx="1463040" cy="365760"/>
          </a:xfrm>
          <a:prstGeom prst="rect">
            <a:avLst/>
          </a:prstGeom>
          <a:noFill/>
        </p:spPr>
        <p:txBody>
          <a:bodyPr wrap="square">
            <a:spAutoFit/>
          </a:bodyPr>
          <a:lstStyle/>
          <a:p>
            <a:pPr algn="ctr">
              <a:defRPr sz="1200" b="1" i="0">
                <a:solidFill>
                  <a:srgbClr val="A855F7"/>
                </a:solidFill>
                <a:latin typeface="Calibri"/>
              </a:defRPr>
            </a:pPr>
            <a:r>
              <a:t>Dark Energy</a:t>
            </a:r>
          </a:p>
        </p:txBody>
      </p:sp>
      <p:sp>
        <p:nvSpPr>
          <p:cNvPr id="8" name="Rectangle 7"/>
          <p:cNvSpPr/>
          <p:nvPr/>
        </p:nvSpPr>
        <p:spPr>
          <a:xfrm>
            <a:off x="4663440" y="1371600"/>
            <a:ext cx="1600200" cy="4572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79" y="1417320"/>
            <a:ext cx="1463040" cy="365760"/>
          </a:xfrm>
          <a:prstGeom prst="rect">
            <a:avLst/>
          </a:prstGeom>
          <a:noFill/>
        </p:spPr>
        <p:txBody>
          <a:bodyPr wrap="square">
            <a:spAutoFit/>
          </a:bodyPr>
          <a:lstStyle/>
          <a:p>
            <a:pPr algn="ctr">
              <a:defRPr sz="1200" b="1" i="0">
                <a:solidFill>
                  <a:srgbClr val="60A0FF"/>
                </a:solidFill>
                <a:latin typeface="Calibri"/>
              </a:defRPr>
            </a:pPr>
            <a:r>
              <a:t>CDM</a:t>
            </a:r>
          </a:p>
        </p:txBody>
      </p:sp>
      <p:sp>
        <p:nvSpPr>
          <p:cNvPr id="10" name="Rectangle 9"/>
          <p:cNvSpPr/>
          <p:nvPr/>
        </p:nvSpPr>
        <p:spPr>
          <a:xfrm>
            <a:off x="6309359" y="1371600"/>
            <a:ext cx="1600200" cy="4572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799" y="1417320"/>
            <a:ext cx="1463040" cy="365760"/>
          </a:xfrm>
          <a:prstGeom prst="rect">
            <a:avLst/>
          </a:prstGeom>
          <a:noFill/>
        </p:spPr>
        <p:txBody>
          <a:bodyPr wrap="square">
            <a:spAutoFit/>
          </a:bodyPr>
          <a:lstStyle/>
          <a:p>
            <a:pPr algn="ctr">
              <a:defRPr sz="1200" b="1" i="0">
                <a:solidFill>
                  <a:srgbClr val="22C55E"/>
                </a:solidFill>
                <a:latin typeface="Calibri"/>
              </a:defRPr>
            </a:pPr>
            <a:r>
              <a:t>Baryon</a:t>
            </a:r>
          </a:p>
        </p:txBody>
      </p:sp>
      <p:sp>
        <p:nvSpPr>
          <p:cNvPr id="12" name="Rectangle 11"/>
          <p:cNvSpPr/>
          <p:nvPr/>
        </p:nvSpPr>
        <p:spPr>
          <a:xfrm>
            <a:off x="7955279" y="1371600"/>
            <a:ext cx="1600200" cy="4572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9" y="1417320"/>
            <a:ext cx="1463040" cy="365760"/>
          </a:xfrm>
          <a:prstGeom prst="rect">
            <a:avLst/>
          </a:prstGeom>
          <a:noFill/>
        </p:spPr>
        <p:txBody>
          <a:bodyPr wrap="square">
            <a:spAutoFit/>
          </a:bodyPr>
          <a:lstStyle/>
          <a:p>
            <a:pPr algn="ctr">
              <a:defRPr sz="1200" b="1" i="0">
                <a:solidFill>
                  <a:srgbClr val="F59E0B"/>
                </a:solidFill>
                <a:latin typeface="Calibri"/>
              </a:defRPr>
            </a:pPr>
            <a:r>
              <a:t>Photon</a:t>
            </a:r>
          </a:p>
        </p:txBody>
      </p:sp>
      <p:sp>
        <p:nvSpPr>
          <p:cNvPr id="14" name="Rectangle 13"/>
          <p:cNvSpPr/>
          <p:nvPr/>
        </p:nvSpPr>
        <p:spPr>
          <a:xfrm>
            <a:off x="9601200" y="1371600"/>
            <a:ext cx="1600200" cy="4572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0" y="1417320"/>
            <a:ext cx="1463040" cy="365760"/>
          </a:xfrm>
          <a:prstGeom prst="rect">
            <a:avLst/>
          </a:prstGeom>
          <a:noFill/>
        </p:spPr>
        <p:txBody>
          <a:bodyPr wrap="square">
            <a:spAutoFit/>
          </a:bodyPr>
          <a:lstStyle/>
          <a:p>
            <a:pPr algn="ctr">
              <a:defRPr sz="1200" b="1" i="0">
                <a:solidFill>
                  <a:srgbClr val="EF4444"/>
                </a:solidFill>
                <a:latin typeface="Calibri"/>
              </a:defRPr>
            </a:pPr>
            <a:r>
              <a:t>Neutrino</a:t>
            </a:r>
          </a:p>
        </p:txBody>
      </p:sp>
      <p:sp>
        <p:nvSpPr>
          <p:cNvPr id="16" name="Rectangle 15"/>
          <p:cNvSpPr/>
          <p:nvPr/>
        </p:nvSpPr>
        <p:spPr>
          <a:xfrm>
            <a:off x="731520" y="1920240"/>
            <a:ext cx="2240280" cy="548640"/>
          </a:xfrm>
          <a:prstGeom prst="rect">
            <a:avLst/>
          </a:prstGeom>
          <a:solidFill>
            <a:srgbClr val="1A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011680"/>
            <a:ext cx="2103120" cy="365760"/>
          </a:xfrm>
          <a:prstGeom prst="rect">
            <a:avLst/>
          </a:prstGeom>
          <a:noFill/>
        </p:spPr>
        <p:txBody>
          <a:bodyPr wrap="square">
            <a:spAutoFit/>
          </a:bodyPr>
          <a:lstStyle/>
          <a:p>
            <a:pPr algn="l">
              <a:defRPr sz="1300" b="1" i="0">
                <a:solidFill>
                  <a:srgbClr val="FFFFFF"/>
                </a:solidFill>
                <a:latin typeface="Calibri"/>
              </a:defRPr>
            </a:pPr>
            <a:r>
              <a:t>Today (z=0)</a:t>
            </a:r>
          </a:p>
        </p:txBody>
      </p:sp>
      <p:sp>
        <p:nvSpPr>
          <p:cNvPr id="18" name="Rectangle 17"/>
          <p:cNvSpPr/>
          <p:nvPr/>
        </p:nvSpPr>
        <p:spPr>
          <a:xfrm>
            <a:off x="3017520" y="1920240"/>
            <a:ext cx="1600200" cy="548640"/>
          </a:xfrm>
          <a:prstGeom prst="rect">
            <a:avLst/>
          </a:prstGeom>
          <a:solidFill>
            <a:srgbClr val="1A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2011680"/>
            <a:ext cx="1463040" cy="365760"/>
          </a:xfrm>
          <a:prstGeom prst="rect">
            <a:avLst/>
          </a:prstGeom>
          <a:noFill/>
        </p:spPr>
        <p:txBody>
          <a:bodyPr wrap="square">
            <a:spAutoFit/>
          </a:bodyPr>
          <a:lstStyle/>
          <a:p>
            <a:pPr algn="ctr">
              <a:defRPr sz="1400" b="0" i="0">
                <a:solidFill>
                  <a:srgbClr val="A855F7"/>
                </a:solidFill>
                <a:latin typeface="Consolas"/>
              </a:defRPr>
            </a:pPr>
            <a:r>
              <a:t>69.0%</a:t>
            </a:r>
          </a:p>
        </p:txBody>
      </p:sp>
      <p:sp>
        <p:nvSpPr>
          <p:cNvPr id="20" name="Rectangle 19"/>
          <p:cNvSpPr/>
          <p:nvPr/>
        </p:nvSpPr>
        <p:spPr>
          <a:xfrm>
            <a:off x="4663440" y="1920240"/>
            <a:ext cx="1600200" cy="548640"/>
          </a:xfrm>
          <a:prstGeom prst="rect">
            <a:avLst/>
          </a:prstGeom>
          <a:solidFill>
            <a:srgbClr val="1A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79" y="2011680"/>
            <a:ext cx="1463040" cy="365760"/>
          </a:xfrm>
          <a:prstGeom prst="rect">
            <a:avLst/>
          </a:prstGeom>
          <a:noFill/>
        </p:spPr>
        <p:txBody>
          <a:bodyPr wrap="square">
            <a:spAutoFit/>
          </a:bodyPr>
          <a:lstStyle/>
          <a:p>
            <a:pPr algn="ctr">
              <a:defRPr sz="1400" b="0" i="0">
                <a:solidFill>
                  <a:srgbClr val="60A0FF"/>
                </a:solidFill>
                <a:latin typeface="Consolas"/>
              </a:defRPr>
            </a:pPr>
            <a:r>
              <a:t>26.1%</a:t>
            </a:r>
          </a:p>
        </p:txBody>
      </p:sp>
      <p:sp>
        <p:nvSpPr>
          <p:cNvPr id="22" name="Rectangle 21"/>
          <p:cNvSpPr/>
          <p:nvPr/>
        </p:nvSpPr>
        <p:spPr>
          <a:xfrm>
            <a:off x="6309359" y="1920240"/>
            <a:ext cx="1600200" cy="548640"/>
          </a:xfrm>
          <a:prstGeom prst="rect">
            <a:avLst/>
          </a:prstGeom>
          <a:solidFill>
            <a:srgbClr val="1A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799" y="2011680"/>
            <a:ext cx="1463040" cy="365760"/>
          </a:xfrm>
          <a:prstGeom prst="rect">
            <a:avLst/>
          </a:prstGeom>
          <a:noFill/>
        </p:spPr>
        <p:txBody>
          <a:bodyPr wrap="square">
            <a:spAutoFit/>
          </a:bodyPr>
          <a:lstStyle/>
          <a:p>
            <a:pPr algn="ctr">
              <a:defRPr sz="1400" b="0" i="0">
                <a:solidFill>
                  <a:srgbClr val="22C55E"/>
                </a:solidFill>
                <a:latin typeface="Consolas"/>
              </a:defRPr>
            </a:pPr>
            <a:r>
              <a:t>4.9%</a:t>
            </a:r>
          </a:p>
        </p:txBody>
      </p:sp>
      <p:sp>
        <p:nvSpPr>
          <p:cNvPr id="24" name="Rectangle 23"/>
          <p:cNvSpPr/>
          <p:nvPr/>
        </p:nvSpPr>
        <p:spPr>
          <a:xfrm>
            <a:off x="7955279" y="1920240"/>
            <a:ext cx="1600200" cy="548640"/>
          </a:xfrm>
          <a:prstGeom prst="rect">
            <a:avLst/>
          </a:prstGeom>
          <a:solidFill>
            <a:srgbClr val="1A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19" y="2011680"/>
            <a:ext cx="1463040" cy="365760"/>
          </a:xfrm>
          <a:prstGeom prst="rect">
            <a:avLst/>
          </a:prstGeom>
          <a:noFill/>
        </p:spPr>
        <p:txBody>
          <a:bodyPr wrap="square">
            <a:spAutoFit/>
          </a:bodyPr>
          <a:lstStyle/>
          <a:p>
            <a:pPr algn="ctr">
              <a:defRPr sz="1400" b="0" i="0">
                <a:solidFill>
                  <a:srgbClr val="F59E0B"/>
                </a:solidFill>
                <a:latin typeface="Consolas"/>
              </a:defRPr>
            </a:pPr>
            <a:r>
              <a:t>0.005%</a:t>
            </a:r>
          </a:p>
        </p:txBody>
      </p:sp>
      <p:sp>
        <p:nvSpPr>
          <p:cNvPr id="26" name="Rectangle 25"/>
          <p:cNvSpPr/>
          <p:nvPr/>
        </p:nvSpPr>
        <p:spPr>
          <a:xfrm>
            <a:off x="9601200" y="1920240"/>
            <a:ext cx="1600200" cy="548640"/>
          </a:xfrm>
          <a:prstGeom prst="rect">
            <a:avLst/>
          </a:prstGeom>
          <a:solidFill>
            <a:srgbClr val="1A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0" y="2011680"/>
            <a:ext cx="1463040" cy="365760"/>
          </a:xfrm>
          <a:prstGeom prst="rect">
            <a:avLst/>
          </a:prstGeom>
          <a:noFill/>
        </p:spPr>
        <p:txBody>
          <a:bodyPr wrap="square">
            <a:spAutoFit/>
          </a:bodyPr>
          <a:lstStyle/>
          <a:p>
            <a:pPr algn="ctr">
              <a:defRPr sz="1400" b="0" i="0">
                <a:solidFill>
                  <a:srgbClr val="EF4444"/>
                </a:solidFill>
                <a:latin typeface="Consolas"/>
              </a:defRPr>
            </a:pPr>
            <a:r>
              <a:t>0.004%</a:t>
            </a:r>
          </a:p>
        </p:txBody>
      </p:sp>
      <p:sp>
        <p:nvSpPr>
          <p:cNvPr id="28" name="Rectangle 27"/>
          <p:cNvSpPr/>
          <p:nvPr/>
        </p:nvSpPr>
        <p:spPr>
          <a:xfrm>
            <a:off x="731520" y="2560320"/>
            <a:ext cx="2240280" cy="54864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2651760"/>
            <a:ext cx="2103120" cy="365760"/>
          </a:xfrm>
          <a:prstGeom prst="rect">
            <a:avLst/>
          </a:prstGeom>
          <a:noFill/>
        </p:spPr>
        <p:txBody>
          <a:bodyPr wrap="square">
            <a:spAutoFit/>
          </a:bodyPr>
          <a:lstStyle/>
          <a:p>
            <a:pPr algn="l">
              <a:defRPr sz="1300" b="1" i="0">
                <a:solidFill>
                  <a:srgbClr val="FFFFFF"/>
                </a:solidFill>
                <a:latin typeface="Calibri"/>
              </a:defRPr>
            </a:pPr>
            <a:r>
              <a:t>z = 0.3</a:t>
            </a:r>
          </a:p>
        </p:txBody>
      </p:sp>
      <p:sp>
        <p:nvSpPr>
          <p:cNvPr id="30" name="Rectangle 29"/>
          <p:cNvSpPr/>
          <p:nvPr/>
        </p:nvSpPr>
        <p:spPr>
          <a:xfrm>
            <a:off x="3017520" y="2560320"/>
            <a:ext cx="1600200" cy="54864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0" y="2651760"/>
            <a:ext cx="1463040" cy="365760"/>
          </a:xfrm>
          <a:prstGeom prst="rect">
            <a:avLst/>
          </a:prstGeom>
          <a:noFill/>
        </p:spPr>
        <p:txBody>
          <a:bodyPr wrap="square">
            <a:spAutoFit/>
          </a:bodyPr>
          <a:lstStyle/>
          <a:p>
            <a:pPr algn="ctr">
              <a:defRPr sz="1400" b="0" i="0">
                <a:solidFill>
                  <a:srgbClr val="A855F7"/>
                </a:solidFill>
                <a:latin typeface="Consolas"/>
              </a:defRPr>
            </a:pPr>
            <a:r>
              <a:t>50.3%</a:t>
            </a:r>
          </a:p>
        </p:txBody>
      </p:sp>
      <p:sp>
        <p:nvSpPr>
          <p:cNvPr id="32" name="Rectangle 31"/>
          <p:cNvSpPr/>
          <p:nvPr/>
        </p:nvSpPr>
        <p:spPr>
          <a:xfrm>
            <a:off x="4663440" y="2560320"/>
            <a:ext cx="1600200" cy="54864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79" y="2651760"/>
            <a:ext cx="1463040" cy="365760"/>
          </a:xfrm>
          <a:prstGeom prst="rect">
            <a:avLst/>
          </a:prstGeom>
          <a:noFill/>
        </p:spPr>
        <p:txBody>
          <a:bodyPr wrap="square">
            <a:spAutoFit/>
          </a:bodyPr>
          <a:lstStyle/>
          <a:p>
            <a:pPr algn="ctr">
              <a:defRPr sz="1400" b="0" i="0">
                <a:solidFill>
                  <a:srgbClr val="60A0FF"/>
                </a:solidFill>
                <a:latin typeface="Consolas"/>
              </a:defRPr>
            </a:pPr>
            <a:r>
              <a:t>41.8%</a:t>
            </a:r>
          </a:p>
        </p:txBody>
      </p:sp>
      <p:sp>
        <p:nvSpPr>
          <p:cNvPr id="34" name="Rectangle 33"/>
          <p:cNvSpPr/>
          <p:nvPr/>
        </p:nvSpPr>
        <p:spPr>
          <a:xfrm>
            <a:off x="6309359" y="2560320"/>
            <a:ext cx="1600200" cy="54864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799" y="2651760"/>
            <a:ext cx="1463040" cy="365760"/>
          </a:xfrm>
          <a:prstGeom prst="rect">
            <a:avLst/>
          </a:prstGeom>
          <a:noFill/>
        </p:spPr>
        <p:txBody>
          <a:bodyPr wrap="square">
            <a:spAutoFit/>
          </a:bodyPr>
          <a:lstStyle/>
          <a:p>
            <a:pPr algn="ctr">
              <a:defRPr sz="1400" b="0" i="0">
                <a:solidFill>
                  <a:srgbClr val="22C55E"/>
                </a:solidFill>
                <a:latin typeface="Consolas"/>
              </a:defRPr>
            </a:pPr>
            <a:r>
              <a:t>7.8%</a:t>
            </a:r>
          </a:p>
        </p:txBody>
      </p:sp>
      <p:sp>
        <p:nvSpPr>
          <p:cNvPr id="36" name="Rectangle 35"/>
          <p:cNvSpPr/>
          <p:nvPr/>
        </p:nvSpPr>
        <p:spPr>
          <a:xfrm>
            <a:off x="7955279" y="2560320"/>
            <a:ext cx="1600200" cy="54864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19" y="2651760"/>
            <a:ext cx="1463040" cy="365760"/>
          </a:xfrm>
          <a:prstGeom prst="rect">
            <a:avLst/>
          </a:prstGeom>
          <a:noFill/>
        </p:spPr>
        <p:txBody>
          <a:bodyPr wrap="square">
            <a:spAutoFit/>
          </a:bodyPr>
          <a:lstStyle/>
          <a:p>
            <a:pPr algn="ctr">
              <a:defRPr sz="1400" b="0" i="0">
                <a:solidFill>
                  <a:srgbClr val="F59E0B"/>
                </a:solidFill>
                <a:latin typeface="Consolas"/>
              </a:defRPr>
            </a:pPr>
            <a:r>
              <a:t>0.011%</a:t>
            </a:r>
          </a:p>
        </p:txBody>
      </p:sp>
      <p:sp>
        <p:nvSpPr>
          <p:cNvPr id="38" name="Rectangle 37"/>
          <p:cNvSpPr/>
          <p:nvPr/>
        </p:nvSpPr>
        <p:spPr>
          <a:xfrm>
            <a:off x="9601200" y="2560320"/>
            <a:ext cx="1600200" cy="54864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92640" y="2651760"/>
            <a:ext cx="1463040" cy="365760"/>
          </a:xfrm>
          <a:prstGeom prst="rect">
            <a:avLst/>
          </a:prstGeom>
          <a:noFill/>
        </p:spPr>
        <p:txBody>
          <a:bodyPr wrap="square">
            <a:spAutoFit/>
          </a:bodyPr>
          <a:lstStyle/>
          <a:p>
            <a:pPr algn="ctr">
              <a:defRPr sz="1400" b="0" i="0">
                <a:solidFill>
                  <a:srgbClr val="EF4444"/>
                </a:solidFill>
                <a:latin typeface="Consolas"/>
              </a:defRPr>
            </a:pPr>
            <a:r>
              <a:t>0.008%</a:t>
            </a:r>
          </a:p>
        </p:txBody>
      </p:sp>
      <p:sp>
        <p:nvSpPr>
          <p:cNvPr id="40" name="Rectangle 39"/>
          <p:cNvSpPr/>
          <p:nvPr/>
        </p:nvSpPr>
        <p:spPr>
          <a:xfrm>
            <a:off x="731520" y="3200400"/>
            <a:ext cx="2240280" cy="548640"/>
          </a:xfrm>
          <a:prstGeom prst="rect">
            <a:avLst/>
          </a:prstGeom>
          <a:solidFill>
            <a:srgbClr val="1A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3291840"/>
            <a:ext cx="2103120" cy="365760"/>
          </a:xfrm>
          <a:prstGeom prst="rect">
            <a:avLst/>
          </a:prstGeom>
          <a:noFill/>
        </p:spPr>
        <p:txBody>
          <a:bodyPr wrap="square">
            <a:spAutoFit/>
          </a:bodyPr>
          <a:lstStyle/>
          <a:p>
            <a:pPr algn="l">
              <a:defRPr sz="1300" b="1" i="0">
                <a:solidFill>
                  <a:srgbClr val="FFFFFF"/>
                </a:solidFill>
                <a:latin typeface="Calibri"/>
              </a:defRPr>
            </a:pPr>
            <a:r>
              <a:t>z = 1100 (CMB)</a:t>
            </a:r>
          </a:p>
        </p:txBody>
      </p:sp>
      <p:sp>
        <p:nvSpPr>
          <p:cNvPr id="42" name="Rectangle 41"/>
          <p:cNvSpPr/>
          <p:nvPr/>
        </p:nvSpPr>
        <p:spPr>
          <a:xfrm>
            <a:off x="3017520" y="3200400"/>
            <a:ext cx="1600200" cy="548640"/>
          </a:xfrm>
          <a:prstGeom prst="rect">
            <a:avLst/>
          </a:prstGeom>
          <a:solidFill>
            <a:srgbClr val="1A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08960" y="3291840"/>
            <a:ext cx="1463040" cy="365760"/>
          </a:xfrm>
          <a:prstGeom prst="rect">
            <a:avLst/>
          </a:prstGeom>
          <a:noFill/>
        </p:spPr>
        <p:txBody>
          <a:bodyPr wrap="square">
            <a:spAutoFit/>
          </a:bodyPr>
          <a:lstStyle/>
          <a:p>
            <a:pPr algn="ctr">
              <a:defRPr sz="1400" b="0" i="0">
                <a:solidFill>
                  <a:srgbClr val="666677"/>
                </a:solidFill>
                <a:latin typeface="Consolas"/>
              </a:defRPr>
            </a:pPr>
            <a:r>
              <a:t>~0</a:t>
            </a:r>
          </a:p>
        </p:txBody>
      </p:sp>
      <p:sp>
        <p:nvSpPr>
          <p:cNvPr id="44" name="Rectangle 43"/>
          <p:cNvSpPr/>
          <p:nvPr/>
        </p:nvSpPr>
        <p:spPr>
          <a:xfrm>
            <a:off x="4663440" y="3200400"/>
            <a:ext cx="1600200" cy="548640"/>
          </a:xfrm>
          <a:prstGeom prst="rect">
            <a:avLst/>
          </a:prstGeom>
          <a:solidFill>
            <a:srgbClr val="1A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54879" y="3291840"/>
            <a:ext cx="1463040" cy="365760"/>
          </a:xfrm>
          <a:prstGeom prst="rect">
            <a:avLst/>
          </a:prstGeom>
          <a:noFill/>
        </p:spPr>
        <p:txBody>
          <a:bodyPr wrap="square">
            <a:spAutoFit/>
          </a:bodyPr>
          <a:lstStyle/>
          <a:p>
            <a:pPr algn="ctr">
              <a:defRPr sz="1400" b="0" i="0">
                <a:solidFill>
                  <a:srgbClr val="60A0FF"/>
                </a:solidFill>
                <a:latin typeface="Consolas"/>
              </a:defRPr>
            </a:pPr>
            <a:r>
              <a:t>63.7%</a:t>
            </a:r>
          </a:p>
        </p:txBody>
      </p:sp>
      <p:sp>
        <p:nvSpPr>
          <p:cNvPr id="46" name="Rectangle 45"/>
          <p:cNvSpPr/>
          <p:nvPr/>
        </p:nvSpPr>
        <p:spPr>
          <a:xfrm>
            <a:off x="6309359" y="3200400"/>
            <a:ext cx="1600200" cy="548640"/>
          </a:xfrm>
          <a:prstGeom prst="rect">
            <a:avLst/>
          </a:prstGeom>
          <a:solidFill>
            <a:srgbClr val="1A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799" y="3291840"/>
            <a:ext cx="1463040" cy="365760"/>
          </a:xfrm>
          <a:prstGeom prst="rect">
            <a:avLst/>
          </a:prstGeom>
          <a:noFill/>
        </p:spPr>
        <p:txBody>
          <a:bodyPr wrap="square">
            <a:spAutoFit/>
          </a:bodyPr>
          <a:lstStyle/>
          <a:p>
            <a:pPr algn="ctr">
              <a:defRPr sz="1400" b="0" i="0">
                <a:solidFill>
                  <a:srgbClr val="22C55E"/>
                </a:solidFill>
                <a:latin typeface="Consolas"/>
              </a:defRPr>
            </a:pPr>
            <a:r>
              <a:t>11.9%</a:t>
            </a:r>
          </a:p>
        </p:txBody>
      </p:sp>
      <p:sp>
        <p:nvSpPr>
          <p:cNvPr id="48" name="Rectangle 47"/>
          <p:cNvSpPr/>
          <p:nvPr/>
        </p:nvSpPr>
        <p:spPr>
          <a:xfrm>
            <a:off x="7955279" y="3200400"/>
            <a:ext cx="1600200" cy="548640"/>
          </a:xfrm>
          <a:prstGeom prst="rect">
            <a:avLst/>
          </a:prstGeom>
          <a:solidFill>
            <a:srgbClr val="1A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19" y="3291840"/>
            <a:ext cx="1463040" cy="365760"/>
          </a:xfrm>
          <a:prstGeom prst="rect">
            <a:avLst/>
          </a:prstGeom>
          <a:noFill/>
        </p:spPr>
        <p:txBody>
          <a:bodyPr wrap="square">
            <a:spAutoFit/>
          </a:bodyPr>
          <a:lstStyle/>
          <a:p>
            <a:pPr algn="ctr">
              <a:defRPr sz="1400" b="0" i="0">
                <a:solidFill>
                  <a:srgbClr val="F59E0B"/>
                </a:solidFill>
                <a:latin typeface="Consolas"/>
              </a:defRPr>
            </a:pPr>
            <a:r>
              <a:t>14.6%</a:t>
            </a:r>
          </a:p>
        </p:txBody>
      </p:sp>
      <p:sp>
        <p:nvSpPr>
          <p:cNvPr id="50" name="Rectangle 49"/>
          <p:cNvSpPr/>
          <p:nvPr/>
        </p:nvSpPr>
        <p:spPr>
          <a:xfrm>
            <a:off x="9601200" y="3200400"/>
            <a:ext cx="1600200" cy="548640"/>
          </a:xfrm>
          <a:prstGeom prst="rect">
            <a:avLst/>
          </a:prstGeom>
          <a:solidFill>
            <a:srgbClr val="1A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92640" y="3291840"/>
            <a:ext cx="1463040" cy="365760"/>
          </a:xfrm>
          <a:prstGeom prst="rect">
            <a:avLst/>
          </a:prstGeom>
          <a:noFill/>
        </p:spPr>
        <p:txBody>
          <a:bodyPr wrap="square">
            <a:spAutoFit/>
          </a:bodyPr>
          <a:lstStyle/>
          <a:p>
            <a:pPr algn="ctr">
              <a:defRPr sz="1400" b="0" i="0">
                <a:solidFill>
                  <a:srgbClr val="EF4444"/>
                </a:solidFill>
                <a:latin typeface="Consolas"/>
              </a:defRPr>
            </a:pPr>
            <a:r>
              <a:t>9.8%</a:t>
            </a:r>
          </a:p>
        </p:txBody>
      </p:sp>
      <p:sp>
        <p:nvSpPr>
          <p:cNvPr id="52" name="Rectangle 51"/>
          <p:cNvSpPr/>
          <p:nvPr/>
        </p:nvSpPr>
        <p:spPr>
          <a:xfrm>
            <a:off x="731520" y="3840479"/>
            <a:ext cx="2240280" cy="54864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2960" y="3931919"/>
            <a:ext cx="2103120" cy="365760"/>
          </a:xfrm>
          <a:prstGeom prst="rect">
            <a:avLst/>
          </a:prstGeom>
          <a:noFill/>
        </p:spPr>
        <p:txBody>
          <a:bodyPr wrap="square">
            <a:spAutoFit/>
          </a:bodyPr>
          <a:lstStyle/>
          <a:p>
            <a:pPr algn="l">
              <a:defRPr sz="1300" b="1" i="0">
                <a:solidFill>
                  <a:srgbClr val="FFFFFF"/>
                </a:solidFill>
                <a:latin typeface="Calibri"/>
              </a:defRPr>
            </a:pPr>
            <a:r>
              <a:t>z = 3400</a:t>
            </a:r>
          </a:p>
        </p:txBody>
      </p:sp>
      <p:sp>
        <p:nvSpPr>
          <p:cNvPr id="54" name="Rectangle 53"/>
          <p:cNvSpPr/>
          <p:nvPr/>
        </p:nvSpPr>
        <p:spPr>
          <a:xfrm>
            <a:off x="3017520" y="3840479"/>
            <a:ext cx="1600200" cy="54864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108960" y="3931919"/>
            <a:ext cx="1463040" cy="365760"/>
          </a:xfrm>
          <a:prstGeom prst="rect">
            <a:avLst/>
          </a:prstGeom>
          <a:noFill/>
        </p:spPr>
        <p:txBody>
          <a:bodyPr wrap="square">
            <a:spAutoFit/>
          </a:bodyPr>
          <a:lstStyle/>
          <a:p>
            <a:pPr algn="ctr">
              <a:defRPr sz="1400" b="0" i="0">
                <a:solidFill>
                  <a:srgbClr val="666677"/>
                </a:solidFill>
                <a:latin typeface="Consolas"/>
              </a:defRPr>
            </a:pPr>
            <a:r>
              <a:t>~0</a:t>
            </a:r>
          </a:p>
        </p:txBody>
      </p:sp>
      <p:sp>
        <p:nvSpPr>
          <p:cNvPr id="56" name="Rectangle 55"/>
          <p:cNvSpPr/>
          <p:nvPr/>
        </p:nvSpPr>
        <p:spPr>
          <a:xfrm>
            <a:off x="4663440" y="3840479"/>
            <a:ext cx="1600200" cy="54864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754879" y="3931919"/>
            <a:ext cx="1463040" cy="365760"/>
          </a:xfrm>
          <a:prstGeom prst="rect">
            <a:avLst/>
          </a:prstGeom>
          <a:noFill/>
        </p:spPr>
        <p:txBody>
          <a:bodyPr wrap="square">
            <a:spAutoFit/>
          </a:bodyPr>
          <a:lstStyle/>
          <a:p>
            <a:pPr algn="ctr">
              <a:defRPr sz="1400" b="0" i="0">
                <a:solidFill>
                  <a:srgbClr val="60A0FF"/>
                </a:solidFill>
                <a:latin typeface="Consolas"/>
              </a:defRPr>
            </a:pPr>
            <a:r>
              <a:t>42.2%</a:t>
            </a:r>
          </a:p>
        </p:txBody>
      </p:sp>
      <p:sp>
        <p:nvSpPr>
          <p:cNvPr id="58" name="Rectangle 57"/>
          <p:cNvSpPr/>
          <p:nvPr/>
        </p:nvSpPr>
        <p:spPr>
          <a:xfrm>
            <a:off x="6309359" y="3840479"/>
            <a:ext cx="1600200" cy="54864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799" y="3931919"/>
            <a:ext cx="1463040" cy="365760"/>
          </a:xfrm>
          <a:prstGeom prst="rect">
            <a:avLst/>
          </a:prstGeom>
          <a:noFill/>
        </p:spPr>
        <p:txBody>
          <a:bodyPr wrap="square">
            <a:spAutoFit/>
          </a:bodyPr>
          <a:lstStyle/>
          <a:p>
            <a:pPr algn="ctr">
              <a:defRPr sz="1400" b="0" i="0">
                <a:solidFill>
                  <a:srgbClr val="22C55E"/>
                </a:solidFill>
                <a:latin typeface="Consolas"/>
              </a:defRPr>
            </a:pPr>
            <a:r>
              <a:t>7.9%</a:t>
            </a:r>
          </a:p>
        </p:txBody>
      </p:sp>
      <p:sp>
        <p:nvSpPr>
          <p:cNvPr id="60" name="Rectangle 59"/>
          <p:cNvSpPr/>
          <p:nvPr/>
        </p:nvSpPr>
        <p:spPr>
          <a:xfrm>
            <a:off x="7955279" y="3840479"/>
            <a:ext cx="1600200" cy="54864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046719" y="3931919"/>
            <a:ext cx="1463040" cy="365760"/>
          </a:xfrm>
          <a:prstGeom prst="rect">
            <a:avLst/>
          </a:prstGeom>
          <a:noFill/>
        </p:spPr>
        <p:txBody>
          <a:bodyPr wrap="square">
            <a:spAutoFit/>
          </a:bodyPr>
          <a:lstStyle/>
          <a:p>
            <a:pPr algn="ctr">
              <a:defRPr sz="1400" b="0" i="0">
                <a:solidFill>
                  <a:srgbClr val="F59E0B"/>
                </a:solidFill>
                <a:latin typeface="Consolas"/>
              </a:defRPr>
            </a:pPr>
            <a:r>
              <a:t>29.8%</a:t>
            </a:r>
          </a:p>
        </p:txBody>
      </p:sp>
      <p:sp>
        <p:nvSpPr>
          <p:cNvPr id="62" name="Rectangle 61"/>
          <p:cNvSpPr/>
          <p:nvPr/>
        </p:nvSpPr>
        <p:spPr>
          <a:xfrm>
            <a:off x="9601200" y="3840479"/>
            <a:ext cx="1600200" cy="54864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692640" y="3931919"/>
            <a:ext cx="1463040" cy="365760"/>
          </a:xfrm>
          <a:prstGeom prst="rect">
            <a:avLst/>
          </a:prstGeom>
          <a:noFill/>
        </p:spPr>
        <p:txBody>
          <a:bodyPr wrap="square">
            <a:spAutoFit/>
          </a:bodyPr>
          <a:lstStyle/>
          <a:p>
            <a:pPr algn="ctr">
              <a:defRPr sz="1400" b="0" i="0">
                <a:solidFill>
                  <a:srgbClr val="EF4444"/>
                </a:solidFill>
                <a:latin typeface="Consolas"/>
              </a:defRPr>
            </a:pPr>
            <a:r>
              <a:t>20.1%</a:t>
            </a:r>
          </a:p>
        </p:txBody>
      </p:sp>
      <p:sp>
        <p:nvSpPr>
          <p:cNvPr id="64" name="TextBox 63"/>
          <p:cNvSpPr txBox="1"/>
          <p:nvPr/>
        </p:nvSpPr>
        <p:spPr>
          <a:xfrm>
            <a:off x="731520" y="4754880"/>
            <a:ext cx="10058400" cy="1371600"/>
          </a:xfrm>
          <a:prstGeom prst="rect">
            <a:avLst/>
          </a:prstGeom>
          <a:noFill/>
        </p:spPr>
        <p:txBody>
          <a:bodyPr wrap="square">
            <a:spAutoFit/>
          </a:bodyPr>
          <a:lstStyle/>
          <a:p>
            <a:pPr algn="l">
              <a:defRPr sz="1500" b="0" i="1">
                <a:solidFill>
                  <a:srgbClr val="888888"/>
                </a:solidFill>
                <a:latin typeface="Calibri"/>
              </a:defRPr>
            </a:pPr>
            <a:r>
              <a:t>The composition of the universe reshapes completely across 13.8 billion years.</a:t>
            </a:r>
            <a:br/>
            <a:r>
              <a:t>All five carriers. All on the simplex. Three phase transitions.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640080"/>
          </a:xfrm>
          <a:prstGeom prst="rect">
            <a:avLst/>
          </a:prstGeom>
          <a:noFill/>
        </p:spPr>
        <p:txBody>
          <a:bodyPr wrap="square">
            <a:spAutoFit/>
          </a:bodyPr>
          <a:lstStyle/>
          <a:p>
            <a:pPr algn="l">
              <a:defRPr sz="3600" b="1" i="0">
                <a:solidFill>
                  <a:srgbClr val="FFFFFF"/>
                </a:solidFill>
                <a:latin typeface="Calibri"/>
              </a:defRPr>
            </a:pPr>
            <a:r>
              <a:t>Two Perfect Log-Ratio Invariants</a:t>
            </a:r>
          </a:p>
        </p:txBody>
      </p:sp>
      <p:sp>
        <p:nvSpPr>
          <p:cNvPr id="4" name="TextBox 3"/>
          <p:cNvSpPr txBox="1"/>
          <p:nvPr/>
        </p:nvSpPr>
        <p:spPr>
          <a:xfrm>
            <a:off x="731520" y="777240"/>
            <a:ext cx="7315200" cy="365760"/>
          </a:xfrm>
          <a:prstGeom prst="rect">
            <a:avLst/>
          </a:prstGeom>
          <a:noFill/>
        </p:spPr>
        <p:txBody>
          <a:bodyPr wrap="square">
            <a:spAutoFit/>
          </a:bodyPr>
          <a:lstStyle/>
          <a:p>
            <a:pPr algn="l">
              <a:defRPr sz="1400" b="0" i="0">
                <a:solidFill>
                  <a:srgbClr val="22C55E"/>
                </a:solidFill>
                <a:latin typeface="Calibri"/>
              </a:defRPr>
            </a:pPr>
            <a:r>
              <a:t>Conservation laws — written on the simplex</a:t>
            </a:r>
          </a:p>
        </p:txBody>
      </p:sp>
      <p:sp>
        <p:nvSpPr>
          <p:cNvPr id="5" name="Rectangle 4"/>
          <p:cNvSpPr/>
          <p:nvPr/>
        </p:nvSpPr>
        <p:spPr>
          <a:xfrm>
            <a:off x="731520" y="1463040"/>
            <a:ext cx="5029200" cy="22860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4864" cy="2286000"/>
          </a:xfrm>
          <a:prstGeom prst="rect">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3657600" cy="457200"/>
          </a:xfrm>
          <a:prstGeom prst="rect">
            <a:avLst/>
          </a:prstGeom>
          <a:noFill/>
        </p:spPr>
        <p:txBody>
          <a:bodyPr wrap="square">
            <a:spAutoFit/>
          </a:bodyPr>
          <a:lstStyle/>
          <a:p>
            <a:pPr algn="l">
              <a:defRPr sz="2000" b="1" i="0">
                <a:solidFill>
                  <a:srgbClr val="60A0FF"/>
                </a:solidFill>
                <a:latin typeface="Consolas"/>
              </a:defRPr>
            </a:pPr>
            <a:r>
              <a:t>ln(CDM / Baryon)</a:t>
            </a:r>
          </a:p>
        </p:txBody>
      </p:sp>
      <p:sp>
        <p:nvSpPr>
          <p:cNvPr id="8" name="TextBox 7"/>
          <p:cNvSpPr txBox="1"/>
          <p:nvPr/>
        </p:nvSpPr>
        <p:spPr>
          <a:xfrm>
            <a:off x="1005840" y="2103120"/>
            <a:ext cx="1828800" cy="457200"/>
          </a:xfrm>
          <a:prstGeom prst="rect">
            <a:avLst/>
          </a:prstGeom>
          <a:noFill/>
        </p:spPr>
        <p:txBody>
          <a:bodyPr wrap="square">
            <a:spAutoFit/>
          </a:bodyPr>
          <a:lstStyle/>
          <a:p>
            <a:pPr algn="l">
              <a:defRPr sz="2800" b="1" i="0">
                <a:solidFill>
                  <a:srgbClr val="FFFFFF"/>
                </a:solidFill>
                <a:latin typeface="Consolas"/>
              </a:defRPr>
            </a:pPr>
            <a:r>
              <a:t>CV = 0</a:t>
            </a:r>
          </a:p>
        </p:txBody>
      </p:sp>
      <p:sp>
        <p:nvSpPr>
          <p:cNvPr id="9" name="TextBox 8"/>
          <p:cNvSpPr txBox="1"/>
          <p:nvPr/>
        </p:nvSpPr>
        <p:spPr>
          <a:xfrm>
            <a:off x="1005840" y="2560320"/>
            <a:ext cx="4114800" cy="914400"/>
          </a:xfrm>
          <a:prstGeom prst="rect">
            <a:avLst/>
          </a:prstGeom>
          <a:noFill/>
        </p:spPr>
        <p:txBody>
          <a:bodyPr wrap="square">
            <a:spAutoFit/>
          </a:bodyPr>
          <a:lstStyle/>
          <a:p>
            <a:pPr algn="l">
              <a:defRPr sz="1300" b="0" i="0">
                <a:solidFill>
                  <a:srgbClr val="CCCCCC"/>
                </a:solidFill>
                <a:latin typeface="Calibri"/>
              </a:defRPr>
            </a:pPr>
            <a:r>
              <a:t>Both dilute as (1+z)³</a:t>
            </a:r>
            <a:br/>
            <a:r>
              <a:t>Ratio fixed at the Big Bang</a:t>
            </a:r>
            <a:br/>
            <a:r>
              <a:t>Never changed since</a:t>
            </a:r>
          </a:p>
        </p:txBody>
      </p:sp>
      <p:sp>
        <p:nvSpPr>
          <p:cNvPr id="10" name="Rectangle 9"/>
          <p:cNvSpPr/>
          <p:nvPr/>
        </p:nvSpPr>
        <p:spPr>
          <a:xfrm>
            <a:off x="6400800" y="1463040"/>
            <a:ext cx="5029200" cy="228600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463040"/>
            <a:ext cx="54864" cy="2286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645920"/>
            <a:ext cx="4114800" cy="457200"/>
          </a:xfrm>
          <a:prstGeom prst="rect">
            <a:avLst/>
          </a:prstGeom>
          <a:noFill/>
        </p:spPr>
        <p:txBody>
          <a:bodyPr wrap="square">
            <a:spAutoFit/>
          </a:bodyPr>
          <a:lstStyle/>
          <a:p>
            <a:pPr algn="l">
              <a:defRPr sz="2000" b="1" i="0">
                <a:solidFill>
                  <a:srgbClr val="F59E0B"/>
                </a:solidFill>
                <a:latin typeface="Consolas"/>
              </a:defRPr>
            </a:pPr>
            <a:r>
              <a:t>ln(Photon / Neutrino)</a:t>
            </a:r>
          </a:p>
        </p:txBody>
      </p:sp>
      <p:sp>
        <p:nvSpPr>
          <p:cNvPr id="13" name="TextBox 12"/>
          <p:cNvSpPr txBox="1"/>
          <p:nvPr/>
        </p:nvSpPr>
        <p:spPr>
          <a:xfrm>
            <a:off x="6675120" y="2103120"/>
            <a:ext cx="1828800" cy="457200"/>
          </a:xfrm>
          <a:prstGeom prst="rect">
            <a:avLst/>
          </a:prstGeom>
          <a:noFill/>
        </p:spPr>
        <p:txBody>
          <a:bodyPr wrap="square">
            <a:spAutoFit/>
          </a:bodyPr>
          <a:lstStyle/>
          <a:p>
            <a:pPr algn="l">
              <a:defRPr sz="2800" b="1" i="0">
                <a:solidFill>
                  <a:srgbClr val="FFFFFF"/>
                </a:solidFill>
                <a:latin typeface="Consolas"/>
              </a:defRPr>
            </a:pPr>
            <a:r>
              <a:t>CV = 0</a:t>
            </a:r>
          </a:p>
        </p:txBody>
      </p:sp>
      <p:sp>
        <p:nvSpPr>
          <p:cNvPr id="14" name="TextBox 13"/>
          <p:cNvSpPr txBox="1"/>
          <p:nvPr/>
        </p:nvSpPr>
        <p:spPr>
          <a:xfrm>
            <a:off x="6675120" y="2560320"/>
            <a:ext cx="4114800" cy="914400"/>
          </a:xfrm>
          <a:prstGeom prst="rect">
            <a:avLst/>
          </a:prstGeom>
          <a:noFill/>
        </p:spPr>
        <p:txBody>
          <a:bodyPr wrap="square">
            <a:spAutoFit/>
          </a:bodyPr>
          <a:lstStyle/>
          <a:p>
            <a:pPr algn="l">
              <a:defRPr sz="1300" b="0" i="0">
                <a:solidFill>
                  <a:srgbClr val="CCCCCC"/>
                </a:solidFill>
                <a:latin typeface="Calibri"/>
              </a:defRPr>
            </a:pPr>
            <a:r>
              <a:t>Both dilute as (1+z)⁴</a:t>
            </a:r>
            <a:br/>
            <a:r>
              <a:t>Ratio fixed at neutrino decoupling</a:t>
            </a:r>
            <a:br/>
            <a:r>
              <a:t>~1 second after the Big Bang</a:t>
            </a:r>
          </a:p>
        </p:txBody>
      </p:sp>
      <p:sp>
        <p:nvSpPr>
          <p:cNvPr id="15" name="Rectangle 14"/>
          <p:cNvSpPr/>
          <p:nvPr/>
        </p:nvSpPr>
        <p:spPr>
          <a:xfrm>
            <a:off x="731520" y="4114800"/>
            <a:ext cx="10698480" cy="1097280"/>
          </a:xfrm>
          <a:prstGeom prst="rect">
            <a:avLst/>
          </a:prstGeom>
          <a:solidFill>
            <a:srgbClr val="2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114800"/>
            <a:ext cx="54864" cy="10972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06240"/>
            <a:ext cx="4572000" cy="365760"/>
          </a:xfrm>
          <a:prstGeom prst="rect">
            <a:avLst/>
          </a:prstGeom>
          <a:noFill/>
        </p:spPr>
        <p:txBody>
          <a:bodyPr wrap="square">
            <a:spAutoFit/>
          </a:bodyPr>
          <a:lstStyle/>
          <a:p>
            <a:pPr algn="l">
              <a:defRPr sz="1800" b="1" i="0">
                <a:solidFill>
                  <a:srgbClr val="EF4444"/>
                </a:solidFill>
                <a:latin typeface="Calibri"/>
              </a:defRPr>
            </a:pPr>
            <a:r>
              <a:t>Dark Energy ratios: CV &gt; 100%</a:t>
            </a:r>
          </a:p>
        </p:txBody>
      </p:sp>
      <p:sp>
        <p:nvSpPr>
          <p:cNvPr id="18" name="TextBox 17"/>
          <p:cNvSpPr txBox="1"/>
          <p:nvPr/>
        </p:nvSpPr>
        <p:spPr>
          <a:xfrm>
            <a:off x="1005840" y="4572000"/>
            <a:ext cx="9144000" cy="457200"/>
          </a:xfrm>
          <a:prstGeom prst="rect">
            <a:avLst/>
          </a:prstGeom>
          <a:noFill/>
        </p:spPr>
        <p:txBody>
          <a:bodyPr wrap="square">
            <a:spAutoFit/>
          </a:bodyPr>
          <a:lstStyle/>
          <a:p>
            <a:pPr algn="l">
              <a:defRPr sz="1300" b="0" i="0">
                <a:solidFill>
                  <a:srgbClr val="CCCCCC"/>
                </a:solidFill>
                <a:latin typeface="Calibri"/>
              </a:defRPr>
            </a:pPr>
            <a:r>
              <a:t>Compositionally independent of all other carriers. Different equation of state (w = −1). Does not participate in any coupling.</a:t>
            </a:r>
          </a:p>
        </p:txBody>
      </p:sp>
      <p:sp>
        <p:nvSpPr>
          <p:cNvPr id="19" name="TextBox 18"/>
          <p:cNvSpPr txBox="1"/>
          <p:nvPr/>
        </p:nvSpPr>
        <p:spPr>
          <a:xfrm>
            <a:off x="731520" y="5486400"/>
            <a:ext cx="10058400" cy="731520"/>
          </a:xfrm>
          <a:prstGeom prst="rect">
            <a:avLst/>
          </a:prstGeom>
          <a:noFill/>
        </p:spPr>
        <p:txBody>
          <a:bodyPr wrap="square">
            <a:spAutoFit/>
          </a:bodyPr>
          <a:lstStyle/>
          <a:p>
            <a:pPr algn="l">
              <a:defRPr sz="1400" b="0" i="1">
                <a:solidFill>
                  <a:srgbClr val="666677"/>
                </a:solidFill>
                <a:latin typeface="Calibri"/>
              </a:defRPr>
            </a:pPr>
            <a:r>
              <a:t>The pipeline found both invariants automatically.</a:t>
            </a:r>
            <a:br/>
            <a:r>
              <a:t>It tests all D(D−1)/2 = 10 ratio pairs and reports stability.</a:t>
            </a:r>
          </a:p>
        </p:txBody>
      </p:sp>
      <p:sp>
        <p:nvSpPr>
          <p:cNvPr id="20" name="Rounded Rectangle 19"/>
          <p:cNvSpPr/>
          <p:nvPr/>
        </p:nvSpPr>
        <p:spPr>
          <a:xfrm>
            <a:off x="8686800" y="5669280"/>
            <a:ext cx="1280160" cy="274320"/>
          </a:xfrm>
          <a:prstGeom prst="roundRect">
            <a:avLst/>
          </a:prstGeom>
          <a:solidFill>
            <a:srgbClr val="1A3A1A"/>
          </a:solidFill>
          <a:ln w="12700">
            <a:solidFill>
              <a:srgbClr val="2A5A2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22C55E"/>
                </a:solidFill>
                <a:latin typeface="Consolas"/>
              </a:defRPr>
            </a:pPr>
            <a:r>
              <a:t>XC-RPS-DIS</a:t>
            </a:r>
          </a:p>
        </p:txBody>
      </p:sp>
      <p:sp>
        <p:nvSpPr>
          <p:cNvPr id="21" name="Rounded Rectangle 20"/>
          <p:cNvSpPr/>
          <p:nvPr/>
        </p:nvSpPr>
        <p:spPr>
          <a:xfrm>
            <a:off x="10058400" y="5669280"/>
            <a:ext cx="1280160" cy="274320"/>
          </a:xfrm>
          <a:prstGeom prst="roundRect">
            <a:avLst/>
          </a:prstGeom>
          <a:solidFill>
            <a:srgbClr val="1A3A1A"/>
          </a:solidFill>
          <a:ln w="12700">
            <a:solidFill>
              <a:srgbClr val="2A5A2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22C55E"/>
                </a:solidFill>
                <a:latin typeface="Consolas"/>
              </a:defRPr>
            </a:pPr>
            <a:r>
              <a:t>XC-RPV-DIS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640080"/>
          </a:xfrm>
          <a:prstGeom prst="rect">
            <a:avLst/>
          </a:prstGeom>
          <a:noFill/>
        </p:spPr>
        <p:txBody>
          <a:bodyPr wrap="square">
            <a:spAutoFit/>
          </a:bodyPr>
          <a:lstStyle/>
          <a:p>
            <a:pPr algn="l">
              <a:defRPr sz="3600" b="1" i="0">
                <a:solidFill>
                  <a:srgbClr val="FFFFFF"/>
                </a:solidFill>
                <a:latin typeface="Calibri"/>
              </a:defRPr>
            </a:pPr>
            <a:r>
              <a:t>Component Power Map</a:t>
            </a:r>
          </a:p>
        </p:txBody>
      </p:sp>
      <p:sp>
        <p:nvSpPr>
          <p:cNvPr id="4" name="TextBox 3"/>
          <p:cNvSpPr txBox="1"/>
          <p:nvPr/>
        </p:nvSpPr>
        <p:spPr>
          <a:xfrm>
            <a:off x="731520" y="777240"/>
            <a:ext cx="9144000" cy="365760"/>
          </a:xfrm>
          <a:prstGeom prst="rect">
            <a:avLst/>
          </a:prstGeom>
          <a:noFill/>
        </p:spPr>
        <p:txBody>
          <a:bodyPr wrap="square">
            <a:spAutoFit/>
          </a:bodyPr>
          <a:lstStyle/>
          <a:p>
            <a:pPr algn="l">
              <a:defRPr sz="1400" b="0" i="0">
                <a:solidFill>
                  <a:srgbClr val="F59E0B"/>
                </a:solidFill>
                <a:latin typeface="Calibri"/>
              </a:defRPr>
            </a:pPr>
            <a:r>
              <a:t>The component whose influence exceeds its fraction</a:t>
            </a:r>
          </a:p>
        </p:txBody>
      </p:sp>
      <p:sp>
        <p:nvSpPr>
          <p:cNvPr id="5" name="TextBox 4"/>
          <p:cNvSpPr txBox="1"/>
          <p:nvPr/>
        </p:nvSpPr>
        <p:spPr>
          <a:xfrm>
            <a:off x="731520" y="1463040"/>
            <a:ext cx="2286000" cy="365760"/>
          </a:xfrm>
          <a:prstGeom prst="rect">
            <a:avLst/>
          </a:prstGeom>
          <a:noFill/>
        </p:spPr>
        <p:txBody>
          <a:bodyPr wrap="square">
            <a:spAutoFit/>
          </a:bodyPr>
          <a:lstStyle/>
          <a:p>
            <a:pPr algn="l">
              <a:defRPr sz="1400" b="1" i="0">
                <a:solidFill>
                  <a:srgbClr val="888888"/>
                </a:solidFill>
                <a:latin typeface="Calibri"/>
              </a:defRPr>
            </a:pPr>
            <a:r>
              <a:t>Carrier</a:t>
            </a:r>
          </a:p>
        </p:txBody>
      </p:sp>
      <p:sp>
        <p:nvSpPr>
          <p:cNvPr id="6" name="TextBox 5"/>
          <p:cNvSpPr txBox="1"/>
          <p:nvPr/>
        </p:nvSpPr>
        <p:spPr>
          <a:xfrm>
            <a:off x="3017520" y="1463040"/>
            <a:ext cx="1828800" cy="365760"/>
          </a:xfrm>
          <a:prstGeom prst="rect">
            <a:avLst/>
          </a:prstGeom>
          <a:noFill/>
        </p:spPr>
        <p:txBody>
          <a:bodyPr wrap="square">
            <a:spAutoFit/>
          </a:bodyPr>
          <a:lstStyle/>
          <a:p>
            <a:pPr algn="ctr">
              <a:defRPr sz="1400" b="1" i="0">
                <a:solidFill>
                  <a:srgbClr val="888888"/>
                </a:solidFill>
                <a:latin typeface="Calibri"/>
              </a:defRPr>
            </a:pPr>
            <a:r>
              <a:t>Mass Fraction</a:t>
            </a:r>
          </a:p>
        </p:txBody>
      </p:sp>
      <p:sp>
        <p:nvSpPr>
          <p:cNvPr id="7" name="TextBox 6"/>
          <p:cNvSpPr txBox="1"/>
          <p:nvPr/>
        </p:nvSpPr>
        <p:spPr>
          <a:xfrm>
            <a:off x="5029200" y="1463040"/>
            <a:ext cx="1371600" cy="365760"/>
          </a:xfrm>
          <a:prstGeom prst="rect">
            <a:avLst/>
          </a:prstGeom>
          <a:noFill/>
        </p:spPr>
        <p:txBody>
          <a:bodyPr wrap="square">
            <a:spAutoFit/>
          </a:bodyPr>
          <a:lstStyle/>
          <a:p>
            <a:pPr algn="ctr">
              <a:defRPr sz="1400" b="1" i="0">
                <a:solidFill>
                  <a:srgbClr val="888888"/>
                </a:solidFill>
                <a:latin typeface="Calibri"/>
              </a:defRPr>
            </a:pPr>
            <a:r>
              <a:t>Power Rank</a:t>
            </a:r>
          </a:p>
        </p:txBody>
      </p:sp>
      <p:sp>
        <p:nvSpPr>
          <p:cNvPr id="8" name="TextBox 7"/>
          <p:cNvSpPr txBox="1"/>
          <p:nvPr/>
        </p:nvSpPr>
        <p:spPr>
          <a:xfrm>
            <a:off x="6675120" y="1463040"/>
            <a:ext cx="1828800" cy="365760"/>
          </a:xfrm>
          <a:prstGeom prst="rect">
            <a:avLst/>
          </a:prstGeom>
          <a:noFill/>
        </p:spPr>
        <p:txBody>
          <a:bodyPr wrap="square">
            <a:spAutoFit/>
          </a:bodyPr>
          <a:lstStyle/>
          <a:p>
            <a:pPr algn="ctr">
              <a:defRPr sz="1400" b="1" i="0">
                <a:solidFill>
                  <a:srgbClr val="888888"/>
                </a:solidFill>
                <a:latin typeface="Calibri"/>
              </a:defRPr>
            </a:pPr>
            <a:r>
              <a:t>Power/Fraction</a:t>
            </a:r>
          </a:p>
        </p:txBody>
      </p:sp>
      <p:sp>
        <p:nvSpPr>
          <p:cNvPr id="9" name="TextBox 8"/>
          <p:cNvSpPr txBox="1"/>
          <p:nvPr/>
        </p:nvSpPr>
        <p:spPr>
          <a:xfrm>
            <a:off x="8686800" y="1463040"/>
            <a:ext cx="3200400" cy="365760"/>
          </a:xfrm>
          <a:prstGeom prst="rect">
            <a:avLst/>
          </a:prstGeom>
          <a:noFill/>
        </p:spPr>
        <p:txBody>
          <a:bodyPr wrap="square">
            <a:spAutoFit/>
          </a:bodyPr>
          <a:lstStyle/>
          <a:p>
            <a:pPr algn="l">
              <a:defRPr sz="1400" b="1" i="0">
                <a:solidFill>
                  <a:srgbClr val="888888"/>
                </a:solidFill>
                <a:latin typeface="Calibri"/>
              </a:defRPr>
            </a:pPr>
            <a:r>
              <a:t>Visual</a:t>
            </a:r>
          </a:p>
        </p:txBody>
      </p:sp>
      <p:sp>
        <p:nvSpPr>
          <p:cNvPr id="10" name="Rectangle 9"/>
          <p:cNvSpPr/>
          <p:nvPr/>
        </p:nvSpPr>
        <p:spPr>
          <a:xfrm>
            <a:off x="731520" y="2011680"/>
            <a:ext cx="10698480" cy="6400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148840"/>
            <a:ext cx="2103120" cy="365760"/>
          </a:xfrm>
          <a:prstGeom prst="rect">
            <a:avLst/>
          </a:prstGeom>
          <a:noFill/>
        </p:spPr>
        <p:txBody>
          <a:bodyPr wrap="square">
            <a:spAutoFit/>
          </a:bodyPr>
          <a:lstStyle/>
          <a:p>
            <a:pPr algn="l">
              <a:defRPr sz="1600" b="1" i="0">
                <a:solidFill>
                  <a:srgbClr val="60A0FF"/>
                </a:solidFill>
                <a:latin typeface="Calibri"/>
              </a:defRPr>
            </a:pPr>
            <a:r>
              <a:t>CDM</a:t>
            </a:r>
          </a:p>
        </p:txBody>
      </p:sp>
      <p:sp>
        <p:nvSpPr>
          <p:cNvPr id="12" name="TextBox 11"/>
          <p:cNvSpPr txBox="1"/>
          <p:nvPr/>
        </p:nvSpPr>
        <p:spPr>
          <a:xfrm>
            <a:off x="3017520" y="2148840"/>
            <a:ext cx="1828800" cy="365760"/>
          </a:xfrm>
          <a:prstGeom prst="rect">
            <a:avLst/>
          </a:prstGeom>
          <a:noFill/>
        </p:spPr>
        <p:txBody>
          <a:bodyPr wrap="square">
            <a:spAutoFit/>
          </a:bodyPr>
          <a:lstStyle/>
          <a:p>
            <a:pPr algn="ctr">
              <a:defRPr sz="1600" b="0" i="0">
                <a:solidFill>
                  <a:srgbClr val="FFFFFF"/>
                </a:solidFill>
                <a:latin typeface="Consolas"/>
              </a:defRPr>
            </a:pPr>
            <a:r>
              <a:t>61.4%</a:t>
            </a:r>
          </a:p>
        </p:txBody>
      </p:sp>
      <p:sp>
        <p:nvSpPr>
          <p:cNvPr id="13" name="TextBox 12"/>
          <p:cNvSpPr txBox="1"/>
          <p:nvPr/>
        </p:nvSpPr>
        <p:spPr>
          <a:xfrm>
            <a:off x="5029200" y="2148840"/>
            <a:ext cx="1371600" cy="365760"/>
          </a:xfrm>
          <a:prstGeom prst="rect">
            <a:avLst/>
          </a:prstGeom>
          <a:noFill/>
        </p:spPr>
        <p:txBody>
          <a:bodyPr wrap="square">
            <a:spAutoFit/>
          </a:bodyPr>
          <a:lstStyle/>
          <a:p>
            <a:pPr algn="ctr">
              <a:defRPr sz="1600" b="0" i="0">
                <a:solidFill>
                  <a:srgbClr val="FFFFFF"/>
                </a:solidFill>
                <a:latin typeface="Consolas"/>
              </a:defRPr>
            </a:pPr>
            <a:r>
              <a:t>#1</a:t>
            </a:r>
          </a:p>
        </p:txBody>
      </p:sp>
      <p:sp>
        <p:nvSpPr>
          <p:cNvPr id="14" name="TextBox 13"/>
          <p:cNvSpPr txBox="1"/>
          <p:nvPr/>
        </p:nvSpPr>
        <p:spPr>
          <a:xfrm>
            <a:off x="6675120" y="2148840"/>
            <a:ext cx="1828800" cy="365760"/>
          </a:xfrm>
          <a:prstGeom prst="rect">
            <a:avLst/>
          </a:prstGeom>
          <a:noFill/>
        </p:spPr>
        <p:txBody>
          <a:bodyPr wrap="square">
            <a:spAutoFit/>
          </a:bodyPr>
          <a:lstStyle/>
          <a:p>
            <a:pPr algn="ctr">
              <a:defRPr sz="1600" b="0" i="0">
                <a:solidFill>
                  <a:srgbClr val="FFFFFF"/>
                </a:solidFill>
                <a:latin typeface="Consolas"/>
              </a:defRPr>
            </a:pPr>
            <a:r>
              <a:t>0.55x</a:t>
            </a:r>
          </a:p>
        </p:txBody>
      </p:sp>
      <p:sp>
        <p:nvSpPr>
          <p:cNvPr id="15" name="Rectangle 14"/>
          <p:cNvSpPr/>
          <p:nvPr/>
        </p:nvSpPr>
        <p:spPr>
          <a:xfrm>
            <a:off x="8686800" y="2194560"/>
            <a:ext cx="167640" cy="274320"/>
          </a:xfrm>
          <a:prstGeom prst="rect">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2788920"/>
            <a:ext cx="10698480" cy="64008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926080"/>
            <a:ext cx="2103120" cy="365760"/>
          </a:xfrm>
          <a:prstGeom prst="rect">
            <a:avLst/>
          </a:prstGeom>
          <a:noFill/>
        </p:spPr>
        <p:txBody>
          <a:bodyPr wrap="square">
            <a:spAutoFit/>
          </a:bodyPr>
          <a:lstStyle/>
          <a:p>
            <a:pPr algn="l">
              <a:defRPr sz="1600" b="1" i="0">
                <a:solidFill>
                  <a:srgbClr val="22C55E"/>
                </a:solidFill>
                <a:latin typeface="Calibri"/>
              </a:defRPr>
            </a:pPr>
            <a:r>
              <a:t>Baryon</a:t>
            </a:r>
          </a:p>
        </p:txBody>
      </p:sp>
      <p:sp>
        <p:nvSpPr>
          <p:cNvPr id="18" name="TextBox 17"/>
          <p:cNvSpPr txBox="1"/>
          <p:nvPr/>
        </p:nvSpPr>
        <p:spPr>
          <a:xfrm>
            <a:off x="3017520" y="2926080"/>
            <a:ext cx="1828800" cy="365760"/>
          </a:xfrm>
          <a:prstGeom prst="rect">
            <a:avLst/>
          </a:prstGeom>
          <a:noFill/>
        </p:spPr>
        <p:txBody>
          <a:bodyPr wrap="square">
            <a:spAutoFit/>
          </a:bodyPr>
          <a:lstStyle/>
          <a:p>
            <a:pPr algn="ctr">
              <a:defRPr sz="1600" b="0" i="0">
                <a:solidFill>
                  <a:srgbClr val="FFFFFF"/>
                </a:solidFill>
                <a:latin typeface="Consolas"/>
              </a:defRPr>
            </a:pPr>
            <a:r>
              <a:t>11.5%</a:t>
            </a:r>
          </a:p>
        </p:txBody>
      </p:sp>
      <p:sp>
        <p:nvSpPr>
          <p:cNvPr id="19" name="TextBox 18"/>
          <p:cNvSpPr txBox="1"/>
          <p:nvPr/>
        </p:nvSpPr>
        <p:spPr>
          <a:xfrm>
            <a:off x="5029200" y="2926080"/>
            <a:ext cx="1371600" cy="365760"/>
          </a:xfrm>
          <a:prstGeom prst="rect">
            <a:avLst/>
          </a:prstGeom>
          <a:noFill/>
        </p:spPr>
        <p:txBody>
          <a:bodyPr wrap="square">
            <a:spAutoFit/>
          </a:bodyPr>
          <a:lstStyle/>
          <a:p>
            <a:pPr algn="ctr">
              <a:defRPr sz="1600" b="0" i="0">
                <a:solidFill>
                  <a:srgbClr val="FFFFFF"/>
                </a:solidFill>
                <a:latin typeface="Consolas"/>
              </a:defRPr>
            </a:pPr>
            <a:r>
              <a:t>#2</a:t>
            </a:r>
          </a:p>
        </p:txBody>
      </p:sp>
      <p:sp>
        <p:nvSpPr>
          <p:cNvPr id="20" name="TextBox 19"/>
          <p:cNvSpPr txBox="1"/>
          <p:nvPr/>
        </p:nvSpPr>
        <p:spPr>
          <a:xfrm>
            <a:off x="6675120" y="2926080"/>
            <a:ext cx="1828800" cy="365760"/>
          </a:xfrm>
          <a:prstGeom prst="rect">
            <a:avLst/>
          </a:prstGeom>
          <a:noFill/>
        </p:spPr>
        <p:txBody>
          <a:bodyPr wrap="square">
            <a:spAutoFit/>
          </a:bodyPr>
          <a:lstStyle/>
          <a:p>
            <a:pPr algn="ctr">
              <a:defRPr sz="1600" b="1" i="0">
                <a:solidFill>
                  <a:srgbClr val="EF4444"/>
                </a:solidFill>
                <a:latin typeface="Consolas"/>
              </a:defRPr>
            </a:pPr>
            <a:r>
              <a:t>2.76x</a:t>
            </a:r>
          </a:p>
        </p:txBody>
      </p:sp>
      <p:sp>
        <p:nvSpPr>
          <p:cNvPr id="21" name="Rectangle 20"/>
          <p:cNvSpPr/>
          <p:nvPr/>
        </p:nvSpPr>
        <p:spPr>
          <a:xfrm>
            <a:off x="8686800" y="2971800"/>
            <a:ext cx="841247" cy="2743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566160"/>
            <a:ext cx="10698480" cy="6400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703320"/>
            <a:ext cx="2103120" cy="365760"/>
          </a:xfrm>
          <a:prstGeom prst="rect">
            <a:avLst/>
          </a:prstGeom>
          <a:noFill/>
        </p:spPr>
        <p:txBody>
          <a:bodyPr wrap="square">
            <a:spAutoFit/>
          </a:bodyPr>
          <a:lstStyle/>
          <a:p>
            <a:pPr algn="l">
              <a:defRPr sz="1600" b="1" i="0">
                <a:solidFill>
                  <a:srgbClr val="A855F7"/>
                </a:solidFill>
                <a:latin typeface="Calibri"/>
              </a:defRPr>
            </a:pPr>
            <a:r>
              <a:t>Dark Energy</a:t>
            </a:r>
          </a:p>
        </p:txBody>
      </p:sp>
      <p:sp>
        <p:nvSpPr>
          <p:cNvPr id="24" name="TextBox 23"/>
          <p:cNvSpPr txBox="1"/>
          <p:nvPr/>
        </p:nvSpPr>
        <p:spPr>
          <a:xfrm>
            <a:off x="3017520" y="3703320"/>
            <a:ext cx="1828800" cy="365760"/>
          </a:xfrm>
          <a:prstGeom prst="rect">
            <a:avLst/>
          </a:prstGeom>
          <a:noFill/>
        </p:spPr>
        <p:txBody>
          <a:bodyPr wrap="square">
            <a:spAutoFit/>
          </a:bodyPr>
          <a:lstStyle/>
          <a:p>
            <a:pPr algn="ctr">
              <a:defRPr sz="1600" b="0" i="0">
                <a:solidFill>
                  <a:srgbClr val="FFFFFF"/>
                </a:solidFill>
                <a:latin typeface="Consolas"/>
              </a:defRPr>
            </a:pPr>
            <a:r>
              <a:t>24.4%</a:t>
            </a:r>
          </a:p>
        </p:txBody>
      </p:sp>
      <p:sp>
        <p:nvSpPr>
          <p:cNvPr id="25" name="TextBox 24"/>
          <p:cNvSpPr txBox="1"/>
          <p:nvPr/>
        </p:nvSpPr>
        <p:spPr>
          <a:xfrm>
            <a:off x="5029200" y="3703320"/>
            <a:ext cx="1371600" cy="365760"/>
          </a:xfrm>
          <a:prstGeom prst="rect">
            <a:avLst/>
          </a:prstGeom>
          <a:noFill/>
        </p:spPr>
        <p:txBody>
          <a:bodyPr wrap="square">
            <a:spAutoFit/>
          </a:bodyPr>
          <a:lstStyle/>
          <a:p>
            <a:pPr algn="ctr">
              <a:defRPr sz="1600" b="0" i="0">
                <a:solidFill>
                  <a:srgbClr val="FFFFFF"/>
                </a:solidFill>
                <a:latin typeface="Consolas"/>
              </a:defRPr>
            </a:pPr>
            <a:r>
              <a:t>#3</a:t>
            </a:r>
          </a:p>
        </p:txBody>
      </p:sp>
      <p:sp>
        <p:nvSpPr>
          <p:cNvPr id="26" name="TextBox 25"/>
          <p:cNvSpPr txBox="1"/>
          <p:nvPr/>
        </p:nvSpPr>
        <p:spPr>
          <a:xfrm>
            <a:off x="6675120" y="3703320"/>
            <a:ext cx="1828800" cy="365760"/>
          </a:xfrm>
          <a:prstGeom prst="rect">
            <a:avLst/>
          </a:prstGeom>
          <a:noFill/>
        </p:spPr>
        <p:txBody>
          <a:bodyPr wrap="square">
            <a:spAutoFit/>
          </a:bodyPr>
          <a:lstStyle/>
          <a:p>
            <a:pPr algn="ctr">
              <a:defRPr sz="1600" b="0" i="0">
                <a:solidFill>
                  <a:srgbClr val="FFFFFF"/>
                </a:solidFill>
                <a:latin typeface="Consolas"/>
              </a:defRPr>
            </a:pPr>
            <a:r>
              <a:t>0.69x</a:t>
            </a:r>
          </a:p>
        </p:txBody>
      </p:sp>
      <p:sp>
        <p:nvSpPr>
          <p:cNvPr id="27" name="Rectangle 26"/>
          <p:cNvSpPr/>
          <p:nvPr/>
        </p:nvSpPr>
        <p:spPr>
          <a:xfrm>
            <a:off x="8686800" y="3749040"/>
            <a:ext cx="210311" cy="27432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 y="4343400"/>
            <a:ext cx="10698480" cy="64008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480560"/>
            <a:ext cx="2103120" cy="365760"/>
          </a:xfrm>
          <a:prstGeom prst="rect">
            <a:avLst/>
          </a:prstGeom>
          <a:noFill/>
        </p:spPr>
        <p:txBody>
          <a:bodyPr wrap="square">
            <a:spAutoFit/>
          </a:bodyPr>
          <a:lstStyle/>
          <a:p>
            <a:pPr algn="l">
              <a:defRPr sz="1600" b="1" i="0">
                <a:solidFill>
                  <a:srgbClr val="F59E0B"/>
                </a:solidFill>
                <a:latin typeface="Calibri"/>
              </a:defRPr>
            </a:pPr>
            <a:r>
              <a:t>Photon</a:t>
            </a:r>
          </a:p>
        </p:txBody>
      </p:sp>
      <p:sp>
        <p:nvSpPr>
          <p:cNvPr id="30" name="TextBox 29"/>
          <p:cNvSpPr txBox="1"/>
          <p:nvPr/>
        </p:nvSpPr>
        <p:spPr>
          <a:xfrm>
            <a:off x="3017520" y="4480560"/>
            <a:ext cx="1828800" cy="365760"/>
          </a:xfrm>
          <a:prstGeom prst="rect">
            <a:avLst/>
          </a:prstGeom>
          <a:noFill/>
        </p:spPr>
        <p:txBody>
          <a:bodyPr wrap="square">
            <a:spAutoFit/>
          </a:bodyPr>
          <a:lstStyle/>
          <a:p>
            <a:pPr algn="ctr">
              <a:defRPr sz="1600" b="0" i="0">
                <a:solidFill>
                  <a:srgbClr val="FFFFFF"/>
                </a:solidFill>
                <a:latin typeface="Consolas"/>
              </a:defRPr>
            </a:pPr>
            <a:r>
              <a:t>1.6%</a:t>
            </a:r>
          </a:p>
        </p:txBody>
      </p:sp>
      <p:sp>
        <p:nvSpPr>
          <p:cNvPr id="31" name="TextBox 30"/>
          <p:cNvSpPr txBox="1"/>
          <p:nvPr/>
        </p:nvSpPr>
        <p:spPr>
          <a:xfrm>
            <a:off x="5029200" y="4480560"/>
            <a:ext cx="1371600" cy="365760"/>
          </a:xfrm>
          <a:prstGeom prst="rect">
            <a:avLst/>
          </a:prstGeom>
          <a:noFill/>
        </p:spPr>
        <p:txBody>
          <a:bodyPr wrap="square">
            <a:spAutoFit/>
          </a:bodyPr>
          <a:lstStyle/>
          <a:p>
            <a:pPr algn="ctr">
              <a:defRPr sz="1600" b="0" i="0">
                <a:solidFill>
                  <a:srgbClr val="FFFFFF"/>
                </a:solidFill>
                <a:latin typeface="Consolas"/>
              </a:defRPr>
            </a:pPr>
            <a:r>
              <a:t>#4</a:t>
            </a:r>
          </a:p>
        </p:txBody>
      </p:sp>
      <p:sp>
        <p:nvSpPr>
          <p:cNvPr id="32" name="TextBox 31"/>
          <p:cNvSpPr txBox="1"/>
          <p:nvPr/>
        </p:nvSpPr>
        <p:spPr>
          <a:xfrm>
            <a:off x="6675120" y="4480560"/>
            <a:ext cx="1828800" cy="365760"/>
          </a:xfrm>
          <a:prstGeom prst="rect">
            <a:avLst/>
          </a:prstGeom>
          <a:noFill/>
        </p:spPr>
        <p:txBody>
          <a:bodyPr wrap="square">
            <a:spAutoFit/>
          </a:bodyPr>
          <a:lstStyle/>
          <a:p>
            <a:pPr algn="ctr">
              <a:defRPr sz="1600" b="1" i="0">
                <a:solidFill>
                  <a:srgbClr val="EF4444"/>
                </a:solidFill>
                <a:latin typeface="Consolas"/>
              </a:defRPr>
            </a:pPr>
            <a:r>
              <a:t>6.28x</a:t>
            </a:r>
          </a:p>
        </p:txBody>
      </p:sp>
      <p:sp>
        <p:nvSpPr>
          <p:cNvPr id="33" name="Rectangle 32"/>
          <p:cNvSpPr/>
          <p:nvPr/>
        </p:nvSpPr>
        <p:spPr>
          <a:xfrm>
            <a:off x="8686800" y="4526280"/>
            <a:ext cx="1914144" cy="274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1520" y="5120640"/>
            <a:ext cx="10698480" cy="6400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257800"/>
            <a:ext cx="2103120" cy="365760"/>
          </a:xfrm>
          <a:prstGeom prst="rect">
            <a:avLst/>
          </a:prstGeom>
          <a:noFill/>
        </p:spPr>
        <p:txBody>
          <a:bodyPr wrap="square">
            <a:spAutoFit/>
          </a:bodyPr>
          <a:lstStyle/>
          <a:p>
            <a:pPr algn="l">
              <a:defRPr sz="1600" b="1" i="0">
                <a:solidFill>
                  <a:srgbClr val="EF4444"/>
                </a:solidFill>
                <a:latin typeface="Calibri"/>
              </a:defRPr>
            </a:pPr>
            <a:r>
              <a:t>Neutrino</a:t>
            </a:r>
          </a:p>
        </p:txBody>
      </p:sp>
      <p:sp>
        <p:nvSpPr>
          <p:cNvPr id="36" name="TextBox 35"/>
          <p:cNvSpPr txBox="1"/>
          <p:nvPr/>
        </p:nvSpPr>
        <p:spPr>
          <a:xfrm>
            <a:off x="3017520" y="5257800"/>
            <a:ext cx="1828800" cy="365760"/>
          </a:xfrm>
          <a:prstGeom prst="rect">
            <a:avLst/>
          </a:prstGeom>
          <a:noFill/>
        </p:spPr>
        <p:txBody>
          <a:bodyPr wrap="square">
            <a:spAutoFit/>
          </a:bodyPr>
          <a:lstStyle/>
          <a:p>
            <a:pPr algn="ctr">
              <a:defRPr sz="1600" b="0" i="0">
                <a:solidFill>
                  <a:srgbClr val="FFFFFF"/>
                </a:solidFill>
                <a:latin typeface="Consolas"/>
              </a:defRPr>
            </a:pPr>
            <a:r>
              <a:t>1.1%</a:t>
            </a:r>
          </a:p>
        </p:txBody>
      </p:sp>
      <p:sp>
        <p:nvSpPr>
          <p:cNvPr id="37" name="TextBox 36"/>
          <p:cNvSpPr txBox="1"/>
          <p:nvPr/>
        </p:nvSpPr>
        <p:spPr>
          <a:xfrm>
            <a:off x="5029200" y="5257800"/>
            <a:ext cx="1371600" cy="365760"/>
          </a:xfrm>
          <a:prstGeom prst="rect">
            <a:avLst/>
          </a:prstGeom>
          <a:noFill/>
        </p:spPr>
        <p:txBody>
          <a:bodyPr wrap="square">
            <a:spAutoFit/>
          </a:bodyPr>
          <a:lstStyle/>
          <a:p>
            <a:pPr algn="ctr">
              <a:defRPr sz="1600" b="0" i="0">
                <a:solidFill>
                  <a:srgbClr val="FFFFFF"/>
                </a:solidFill>
                <a:latin typeface="Consolas"/>
              </a:defRPr>
            </a:pPr>
            <a:r>
              <a:t>#5</a:t>
            </a:r>
          </a:p>
        </p:txBody>
      </p:sp>
      <p:sp>
        <p:nvSpPr>
          <p:cNvPr id="38" name="TextBox 37"/>
          <p:cNvSpPr txBox="1"/>
          <p:nvPr/>
        </p:nvSpPr>
        <p:spPr>
          <a:xfrm>
            <a:off x="6675120" y="5257800"/>
            <a:ext cx="1828800" cy="365760"/>
          </a:xfrm>
          <a:prstGeom prst="rect">
            <a:avLst/>
          </a:prstGeom>
          <a:noFill/>
        </p:spPr>
        <p:txBody>
          <a:bodyPr wrap="square">
            <a:spAutoFit/>
          </a:bodyPr>
          <a:lstStyle/>
          <a:p>
            <a:pPr algn="ctr">
              <a:defRPr sz="1600" b="1" i="0">
                <a:solidFill>
                  <a:srgbClr val="EF4444"/>
                </a:solidFill>
                <a:latin typeface="Consolas"/>
              </a:defRPr>
            </a:pPr>
            <a:r>
              <a:t>8.81x</a:t>
            </a:r>
          </a:p>
        </p:txBody>
      </p:sp>
      <p:sp>
        <p:nvSpPr>
          <p:cNvPr id="39" name="Rectangle 38"/>
          <p:cNvSpPr/>
          <p:nvPr/>
        </p:nvSpPr>
        <p:spPr>
          <a:xfrm>
            <a:off x="8686800" y="5303520"/>
            <a:ext cx="2685288" cy="2743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760720"/>
            <a:ext cx="10058400" cy="457200"/>
          </a:xfrm>
          <a:prstGeom prst="rect">
            <a:avLst/>
          </a:prstGeom>
          <a:noFill/>
        </p:spPr>
        <p:txBody>
          <a:bodyPr wrap="square">
            <a:spAutoFit/>
          </a:bodyPr>
          <a:lstStyle/>
          <a:p>
            <a:pPr algn="ctr">
              <a:defRPr sz="1400" b="1" i="0">
                <a:solidFill>
                  <a:srgbClr val="FFFFFF"/>
                </a:solidFill>
                <a:latin typeface="Calibri"/>
              </a:defRPr>
            </a:pPr>
            <a:r>
              <a:t>Mass ranking: CDM &gt; DE &gt; Baryon   |   Power ranking: CDM &gt; Baryon &gt; DE   |   Rankings differ.</a:t>
            </a:r>
          </a:p>
        </p:txBody>
      </p:sp>
      <p:sp>
        <p:nvSpPr>
          <p:cNvPr id="41" name="Rounded Rectangle 40"/>
          <p:cNvSpPr/>
          <p:nvPr/>
        </p:nvSpPr>
        <p:spPr>
          <a:xfrm>
            <a:off x="9601200" y="6126480"/>
            <a:ext cx="1280160" cy="274320"/>
          </a:xfrm>
          <a:prstGeom prst="roundRect">
            <a:avLst/>
          </a:prstGeom>
          <a:solidFill>
            <a:srgbClr val="1A3A1A"/>
          </a:solidFill>
          <a:ln w="12700">
            <a:solidFill>
              <a:srgbClr val="2A5A2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22C55E"/>
                </a:solidFill>
                <a:latin typeface="Consolas"/>
              </a:defRPr>
            </a:pPr>
            <a:r>
              <a:t>XU-DPC-DIS</a:t>
            </a:r>
          </a:p>
        </p:txBody>
      </p:sp>
      <p:sp>
        <p:nvSpPr>
          <p:cNvPr id="42" name="Rounded Rectangle 41"/>
          <p:cNvSpPr/>
          <p:nvPr/>
        </p:nvSpPr>
        <p:spPr>
          <a:xfrm>
            <a:off x="10881360" y="6126480"/>
            <a:ext cx="1280160" cy="274320"/>
          </a:xfrm>
          <a:prstGeom prst="roundRect">
            <a:avLst/>
          </a:prstGeom>
          <a:solidFill>
            <a:srgbClr val="1A3A1A"/>
          </a:solidFill>
          <a:ln w="12700">
            <a:solidFill>
              <a:srgbClr val="2A5A2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22C55E"/>
                </a:solidFill>
                <a:latin typeface="Consolas"/>
              </a:defRPr>
            </a:pPr>
            <a:r>
              <a:t>XU-PWR-DIS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640080"/>
          </a:xfrm>
          <a:prstGeom prst="rect">
            <a:avLst/>
          </a:prstGeom>
          <a:noFill/>
        </p:spPr>
        <p:txBody>
          <a:bodyPr wrap="square">
            <a:spAutoFit/>
          </a:bodyPr>
          <a:lstStyle/>
          <a:p>
            <a:pPr algn="l">
              <a:defRPr sz="3600" b="1" i="0">
                <a:solidFill>
                  <a:srgbClr val="FFFFFF"/>
                </a:solidFill>
                <a:latin typeface="Calibri"/>
              </a:defRPr>
            </a:pPr>
            <a:r>
              <a:t>7 / 7 Predictions Confirmed</a:t>
            </a:r>
          </a:p>
        </p:txBody>
      </p:sp>
      <p:sp>
        <p:nvSpPr>
          <p:cNvPr id="4" name="TextBox 3"/>
          <p:cNvSpPr txBox="1"/>
          <p:nvPr/>
        </p:nvSpPr>
        <p:spPr>
          <a:xfrm>
            <a:off x="731520" y="777240"/>
            <a:ext cx="7315200" cy="365760"/>
          </a:xfrm>
          <a:prstGeom prst="rect">
            <a:avLst/>
          </a:prstGeom>
          <a:noFill/>
        </p:spPr>
        <p:txBody>
          <a:bodyPr wrap="square">
            <a:spAutoFit/>
          </a:bodyPr>
          <a:lstStyle/>
          <a:p>
            <a:pPr algn="l">
              <a:defRPr sz="1400" b="0" i="0">
                <a:solidFill>
                  <a:srgbClr val="22C55E"/>
                </a:solidFill>
                <a:latin typeface="Calibri"/>
              </a:defRPr>
            </a:pPr>
            <a:r>
              <a:t>Documented before the pipeline ran</a:t>
            </a:r>
          </a:p>
        </p:txBody>
      </p:sp>
      <p:sp>
        <p:nvSpPr>
          <p:cNvPr id="5" name="Rectangle 4"/>
          <p:cNvSpPr/>
          <p:nvPr/>
        </p:nvSpPr>
        <p:spPr>
          <a:xfrm>
            <a:off x="731520" y="1371600"/>
            <a:ext cx="10698480" cy="59436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57200" cy="457200"/>
          </a:xfrm>
          <a:prstGeom prst="rect">
            <a:avLst/>
          </a:prstGeom>
          <a:noFill/>
        </p:spPr>
        <p:txBody>
          <a:bodyPr wrap="square">
            <a:spAutoFit/>
          </a:bodyPr>
          <a:lstStyle/>
          <a:p>
            <a:pPr algn="l">
              <a:defRPr sz="2200" b="1" i="0">
                <a:solidFill>
                  <a:srgbClr val="22C55E"/>
                </a:solidFill>
                <a:latin typeface="Calibri"/>
              </a:defRPr>
            </a:pPr>
            <a:r>
              <a:t>✓</a:t>
            </a:r>
          </a:p>
        </p:txBody>
      </p:sp>
      <p:sp>
        <p:nvSpPr>
          <p:cNvPr id="7" name="TextBox 6"/>
          <p:cNvSpPr txBox="1"/>
          <p:nvPr/>
        </p:nvSpPr>
        <p:spPr>
          <a:xfrm>
            <a:off x="1371600" y="1481328"/>
            <a:ext cx="4572000" cy="365760"/>
          </a:xfrm>
          <a:prstGeom prst="rect">
            <a:avLst/>
          </a:prstGeom>
          <a:noFill/>
        </p:spPr>
        <p:txBody>
          <a:bodyPr wrap="square">
            <a:spAutoFit/>
          </a:bodyPr>
          <a:lstStyle/>
          <a:p>
            <a:pPr algn="l">
              <a:defRPr sz="1500" b="1" i="0">
                <a:solidFill>
                  <a:srgbClr val="FFFFFF"/>
                </a:solidFill>
                <a:latin typeface="Calibri"/>
              </a:defRPr>
            </a:pPr>
            <a:r>
              <a:t>Classification: NATURAL</a:t>
            </a:r>
          </a:p>
        </p:txBody>
      </p:sp>
      <p:sp>
        <p:nvSpPr>
          <p:cNvPr id="8" name="TextBox 7"/>
          <p:cNvSpPr txBox="1"/>
          <p:nvPr/>
        </p:nvSpPr>
        <p:spPr>
          <a:xfrm>
            <a:off x="5943600" y="1508760"/>
            <a:ext cx="5029200" cy="365760"/>
          </a:xfrm>
          <a:prstGeom prst="rect">
            <a:avLst/>
          </a:prstGeom>
          <a:noFill/>
        </p:spPr>
        <p:txBody>
          <a:bodyPr wrap="square">
            <a:spAutoFit/>
          </a:bodyPr>
          <a:lstStyle/>
          <a:p>
            <a:pPr algn="l">
              <a:defRPr sz="1200" b="0" i="0">
                <a:solidFill>
                  <a:srgbClr val="888888"/>
                </a:solidFill>
                <a:latin typeface="Consolas"/>
              </a:defRPr>
            </a:pPr>
            <a:r>
              <a:t>δ = 4.19 × 10⁻⁵ to 1/(eᵖⁱ)</a:t>
            </a:r>
          </a:p>
        </p:txBody>
      </p:sp>
      <p:sp>
        <p:nvSpPr>
          <p:cNvPr id="9" name="Rectangle 8"/>
          <p:cNvSpPr/>
          <p:nvPr/>
        </p:nvSpPr>
        <p:spPr>
          <a:xfrm>
            <a:off x="731520" y="2057400"/>
            <a:ext cx="10698480" cy="59436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03120"/>
            <a:ext cx="457200" cy="457200"/>
          </a:xfrm>
          <a:prstGeom prst="rect">
            <a:avLst/>
          </a:prstGeom>
          <a:noFill/>
        </p:spPr>
        <p:txBody>
          <a:bodyPr wrap="square">
            <a:spAutoFit/>
          </a:bodyPr>
          <a:lstStyle/>
          <a:p>
            <a:pPr algn="l">
              <a:defRPr sz="2200" b="1" i="0">
                <a:solidFill>
                  <a:srgbClr val="22C55E"/>
                </a:solidFill>
                <a:latin typeface="Calibri"/>
              </a:defRPr>
            </a:pPr>
            <a:r>
              <a:t>✓</a:t>
            </a:r>
          </a:p>
        </p:txBody>
      </p:sp>
      <p:sp>
        <p:nvSpPr>
          <p:cNvPr id="11" name="TextBox 10"/>
          <p:cNvSpPr txBox="1"/>
          <p:nvPr/>
        </p:nvSpPr>
        <p:spPr>
          <a:xfrm>
            <a:off x="1371600" y="2167128"/>
            <a:ext cx="4572000" cy="365760"/>
          </a:xfrm>
          <a:prstGeom prst="rect">
            <a:avLst/>
          </a:prstGeom>
          <a:noFill/>
        </p:spPr>
        <p:txBody>
          <a:bodyPr wrap="square">
            <a:spAutoFit/>
          </a:bodyPr>
          <a:lstStyle/>
          <a:p>
            <a:pPr algn="l">
              <a:defRPr sz="1500" b="1" i="0">
                <a:solidFill>
                  <a:srgbClr val="FFFFFF"/>
                </a:solidFill>
                <a:latin typeface="Calibri"/>
              </a:defRPr>
            </a:pPr>
            <a:r>
              <a:t>CDM/Baryon ratio: stable</a:t>
            </a:r>
          </a:p>
        </p:txBody>
      </p:sp>
      <p:sp>
        <p:nvSpPr>
          <p:cNvPr id="12" name="TextBox 11"/>
          <p:cNvSpPr txBox="1"/>
          <p:nvPr/>
        </p:nvSpPr>
        <p:spPr>
          <a:xfrm>
            <a:off x="5943600" y="2194560"/>
            <a:ext cx="5029200" cy="365760"/>
          </a:xfrm>
          <a:prstGeom prst="rect">
            <a:avLst/>
          </a:prstGeom>
          <a:noFill/>
        </p:spPr>
        <p:txBody>
          <a:bodyPr wrap="square">
            <a:spAutoFit/>
          </a:bodyPr>
          <a:lstStyle/>
          <a:p>
            <a:pPr algn="l">
              <a:defRPr sz="1200" b="0" i="0">
                <a:solidFill>
                  <a:srgbClr val="888888"/>
                </a:solidFill>
                <a:latin typeface="Consolas"/>
              </a:defRPr>
            </a:pPr>
            <a:r>
              <a:t>CV = 0 — fixed at Big Bang</a:t>
            </a:r>
          </a:p>
        </p:txBody>
      </p:sp>
      <p:sp>
        <p:nvSpPr>
          <p:cNvPr id="13" name="Rectangle 12"/>
          <p:cNvSpPr/>
          <p:nvPr/>
        </p:nvSpPr>
        <p:spPr>
          <a:xfrm>
            <a:off x="731520" y="2743200"/>
            <a:ext cx="10698480" cy="59436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88920"/>
            <a:ext cx="457200" cy="457200"/>
          </a:xfrm>
          <a:prstGeom prst="rect">
            <a:avLst/>
          </a:prstGeom>
          <a:noFill/>
        </p:spPr>
        <p:txBody>
          <a:bodyPr wrap="square">
            <a:spAutoFit/>
          </a:bodyPr>
          <a:lstStyle/>
          <a:p>
            <a:pPr algn="l">
              <a:defRPr sz="2200" b="1" i="0">
                <a:solidFill>
                  <a:srgbClr val="22C55E"/>
                </a:solidFill>
                <a:latin typeface="Calibri"/>
              </a:defRPr>
            </a:pPr>
            <a:r>
              <a:t>✓</a:t>
            </a:r>
          </a:p>
        </p:txBody>
      </p:sp>
      <p:sp>
        <p:nvSpPr>
          <p:cNvPr id="15" name="TextBox 14"/>
          <p:cNvSpPr txBox="1"/>
          <p:nvPr/>
        </p:nvSpPr>
        <p:spPr>
          <a:xfrm>
            <a:off x="1371600" y="2852928"/>
            <a:ext cx="4572000" cy="365760"/>
          </a:xfrm>
          <a:prstGeom prst="rect">
            <a:avLst/>
          </a:prstGeom>
          <a:noFill/>
        </p:spPr>
        <p:txBody>
          <a:bodyPr wrap="square">
            <a:spAutoFit/>
          </a:bodyPr>
          <a:lstStyle/>
          <a:p>
            <a:pPr algn="l">
              <a:defRPr sz="1500" b="1" i="0">
                <a:solidFill>
                  <a:srgbClr val="FFFFFF"/>
                </a:solidFill>
                <a:latin typeface="Calibri"/>
              </a:defRPr>
            </a:pPr>
            <a:r>
              <a:t>Photon/Neutrino ratio: stable</a:t>
            </a:r>
          </a:p>
        </p:txBody>
      </p:sp>
      <p:sp>
        <p:nvSpPr>
          <p:cNvPr id="16" name="TextBox 15"/>
          <p:cNvSpPr txBox="1"/>
          <p:nvPr/>
        </p:nvSpPr>
        <p:spPr>
          <a:xfrm>
            <a:off x="5943600" y="2880360"/>
            <a:ext cx="5029200" cy="365760"/>
          </a:xfrm>
          <a:prstGeom prst="rect">
            <a:avLst/>
          </a:prstGeom>
          <a:noFill/>
        </p:spPr>
        <p:txBody>
          <a:bodyPr wrap="square">
            <a:spAutoFit/>
          </a:bodyPr>
          <a:lstStyle/>
          <a:p>
            <a:pPr algn="l">
              <a:defRPr sz="1200" b="0" i="0">
                <a:solidFill>
                  <a:srgbClr val="888888"/>
                </a:solidFill>
                <a:latin typeface="Consolas"/>
              </a:defRPr>
            </a:pPr>
            <a:r>
              <a:t>CV = 0 — fixed at decoupling</a:t>
            </a:r>
          </a:p>
        </p:txBody>
      </p:sp>
      <p:sp>
        <p:nvSpPr>
          <p:cNvPr id="17" name="Rectangle 16"/>
          <p:cNvSpPr/>
          <p:nvPr/>
        </p:nvSpPr>
        <p:spPr>
          <a:xfrm>
            <a:off x="731520" y="3429000"/>
            <a:ext cx="10698480" cy="59436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474720"/>
            <a:ext cx="457200" cy="457200"/>
          </a:xfrm>
          <a:prstGeom prst="rect">
            <a:avLst/>
          </a:prstGeom>
          <a:noFill/>
        </p:spPr>
        <p:txBody>
          <a:bodyPr wrap="square">
            <a:spAutoFit/>
          </a:bodyPr>
          <a:lstStyle/>
          <a:p>
            <a:pPr algn="l">
              <a:defRPr sz="2200" b="1" i="0">
                <a:solidFill>
                  <a:srgbClr val="22C55E"/>
                </a:solidFill>
                <a:latin typeface="Calibri"/>
              </a:defRPr>
            </a:pPr>
            <a:r>
              <a:t>✓</a:t>
            </a:r>
          </a:p>
        </p:txBody>
      </p:sp>
      <p:sp>
        <p:nvSpPr>
          <p:cNvPr id="19" name="TextBox 18"/>
          <p:cNvSpPr txBox="1"/>
          <p:nvPr/>
        </p:nvSpPr>
        <p:spPr>
          <a:xfrm>
            <a:off x="1371600" y="3538728"/>
            <a:ext cx="4572000" cy="365760"/>
          </a:xfrm>
          <a:prstGeom prst="rect">
            <a:avLst/>
          </a:prstGeom>
          <a:noFill/>
        </p:spPr>
        <p:txBody>
          <a:bodyPr wrap="square">
            <a:spAutoFit/>
          </a:bodyPr>
          <a:lstStyle/>
          <a:p>
            <a:pPr algn="l">
              <a:defRPr sz="1500" b="1" i="0">
                <a:solidFill>
                  <a:srgbClr val="FFFFFF"/>
                </a:solidFill>
                <a:latin typeface="Calibri"/>
              </a:defRPr>
            </a:pPr>
            <a:r>
              <a:t>Dark Energy ratios: volatile</a:t>
            </a:r>
          </a:p>
        </p:txBody>
      </p:sp>
      <p:sp>
        <p:nvSpPr>
          <p:cNvPr id="20" name="TextBox 19"/>
          <p:cNvSpPr txBox="1"/>
          <p:nvPr/>
        </p:nvSpPr>
        <p:spPr>
          <a:xfrm>
            <a:off x="5943600" y="3566160"/>
            <a:ext cx="5029200" cy="365760"/>
          </a:xfrm>
          <a:prstGeom prst="rect">
            <a:avLst/>
          </a:prstGeom>
          <a:noFill/>
        </p:spPr>
        <p:txBody>
          <a:bodyPr wrap="square">
            <a:spAutoFit/>
          </a:bodyPr>
          <a:lstStyle/>
          <a:p>
            <a:pPr algn="l">
              <a:defRPr sz="1200" b="0" i="0">
                <a:solidFill>
                  <a:srgbClr val="888888"/>
                </a:solidFill>
                <a:latin typeface="Consolas"/>
              </a:defRPr>
            </a:pPr>
            <a:r>
              <a:t>CV &gt; 100% — independent carrier</a:t>
            </a:r>
          </a:p>
        </p:txBody>
      </p:sp>
      <p:sp>
        <p:nvSpPr>
          <p:cNvPr id="21" name="Rectangle 20"/>
          <p:cNvSpPr/>
          <p:nvPr/>
        </p:nvSpPr>
        <p:spPr>
          <a:xfrm>
            <a:off x="731520" y="4114800"/>
            <a:ext cx="10698480" cy="59436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160520"/>
            <a:ext cx="457200" cy="457200"/>
          </a:xfrm>
          <a:prstGeom prst="rect">
            <a:avLst/>
          </a:prstGeom>
          <a:noFill/>
        </p:spPr>
        <p:txBody>
          <a:bodyPr wrap="square">
            <a:spAutoFit/>
          </a:bodyPr>
          <a:lstStyle/>
          <a:p>
            <a:pPr algn="l">
              <a:defRPr sz="2200" b="1" i="0">
                <a:solidFill>
                  <a:srgbClr val="22C55E"/>
                </a:solidFill>
                <a:latin typeface="Calibri"/>
              </a:defRPr>
            </a:pPr>
            <a:r>
              <a:t>✓</a:t>
            </a:r>
          </a:p>
        </p:txBody>
      </p:sp>
      <p:sp>
        <p:nvSpPr>
          <p:cNvPr id="23" name="TextBox 22"/>
          <p:cNvSpPr txBox="1"/>
          <p:nvPr/>
        </p:nvSpPr>
        <p:spPr>
          <a:xfrm>
            <a:off x="1371600" y="4224528"/>
            <a:ext cx="4572000" cy="365760"/>
          </a:xfrm>
          <a:prstGeom prst="rect">
            <a:avLst/>
          </a:prstGeom>
          <a:noFill/>
        </p:spPr>
        <p:txBody>
          <a:bodyPr wrap="square">
            <a:spAutoFit/>
          </a:bodyPr>
          <a:lstStyle/>
          <a:p>
            <a:pPr algn="l">
              <a:defRPr sz="1500" b="1" i="0">
                <a:solidFill>
                  <a:srgbClr val="FFFFFF"/>
                </a:solidFill>
                <a:latin typeface="Calibri"/>
              </a:defRPr>
            </a:pPr>
            <a:r>
              <a:t>HVLD shape: bowl</a:t>
            </a:r>
          </a:p>
        </p:txBody>
      </p:sp>
      <p:sp>
        <p:nvSpPr>
          <p:cNvPr id="24" name="TextBox 23"/>
          <p:cNvSpPr txBox="1"/>
          <p:nvPr/>
        </p:nvSpPr>
        <p:spPr>
          <a:xfrm>
            <a:off x="5943600" y="4251960"/>
            <a:ext cx="5029200" cy="365760"/>
          </a:xfrm>
          <a:prstGeom prst="rect">
            <a:avLst/>
          </a:prstGeom>
          <a:noFill/>
        </p:spPr>
        <p:txBody>
          <a:bodyPr wrap="square">
            <a:spAutoFit/>
          </a:bodyPr>
          <a:lstStyle/>
          <a:p>
            <a:pPr algn="l">
              <a:defRPr sz="1200" b="0" i="0">
                <a:solidFill>
                  <a:srgbClr val="888888"/>
                </a:solidFill>
                <a:latin typeface="Consolas"/>
              </a:defRPr>
            </a:pPr>
            <a:r>
              <a:t>R² = 0.93 — system integrating</a:t>
            </a:r>
          </a:p>
        </p:txBody>
      </p:sp>
      <p:sp>
        <p:nvSpPr>
          <p:cNvPr id="25" name="Rectangle 24"/>
          <p:cNvSpPr/>
          <p:nvPr/>
        </p:nvSpPr>
        <p:spPr>
          <a:xfrm>
            <a:off x="731520" y="4800600"/>
            <a:ext cx="10698480" cy="59436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846320"/>
            <a:ext cx="457200" cy="457200"/>
          </a:xfrm>
          <a:prstGeom prst="rect">
            <a:avLst/>
          </a:prstGeom>
          <a:noFill/>
        </p:spPr>
        <p:txBody>
          <a:bodyPr wrap="square">
            <a:spAutoFit/>
          </a:bodyPr>
          <a:lstStyle/>
          <a:p>
            <a:pPr algn="l">
              <a:defRPr sz="2200" b="1" i="0">
                <a:solidFill>
                  <a:srgbClr val="22C55E"/>
                </a:solidFill>
                <a:latin typeface="Calibri"/>
              </a:defRPr>
            </a:pPr>
            <a:r>
              <a:t>✓</a:t>
            </a:r>
          </a:p>
        </p:txBody>
      </p:sp>
      <p:sp>
        <p:nvSpPr>
          <p:cNvPr id="27" name="TextBox 26"/>
          <p:cNvSpPr txBox="1"/>
          <p:nvPr/>
        </p:nvSpPr>
        <p:spPr>
          <a:xfrm>
            <a:off x="1371600" y="4910328"/>
            <a:ext cx="4572000" cy="365760"/>
          </a:xfrm>
          <a:prstGeom prst="rect">
            <a:avLst/>
          </a:prstGeom>
          <a:noFill/>
        </p:spPr>
        <p:txBody>
          <a:bodyPr wrap="square">
            <a:spAutoFit/>
          </a:bodyPr>
          <a:lstStyle/>
          <a:p>
            <a:pPr algn="l">
              <a:defRPr sz="1500" b="1" i="0">
                <a:solidFill>
                  <a:srgbClr val="FFFFFF"/>
                </a:solidFill>
                <a:latin typeface="Calibri"/>
              </a:defRPr>
            </a:pPr>
            <a:r>
              <a:t>Dominant variance carrier: Dark Energy</a:t>
            </a:r>
          </a:p>
        </p:txBody>
      </p:sp>
      <p:sp>
        <p:nvSpPr>
          <p:cNvPr id="28" name="TextBox 27"/>
          <p:cNvSpPr txBox="1"/>
          <p:nvPr/>
        </p:nvSpPr>
        <p:spPr>
          <a:xfrm>
            <a:off x="5943600" y="4937760"/>
            <a:ext cx="5029200" cy="365760"/>
          </a:xfrm>
          <a:prstGeom prst="rect">
            <a:avLst/>
          </a:prstGeom>
          <a:noFill/>
        </p:spPr>
        <p:txBody>
          <a:bodyPr wrap="square">
            <a:spAutoFit/>
          </a:bodyPr>
          <a:lstStyle/>
          <a:p>
            <a:pPr algn="l">
              <a:defRPr sz="1200" b="0" i="0">
                <a:solidFill>
                  <a:srgbClr val="888888"/>
                </a:solidFill>
                <a:latin typeface="Consolas"/>
              </a:defRPr>
            </a:pPr>
            <a:r>
              <a:t>72.6% of compositional variance</a:t>
            </a:r>
          </a:p>
        </p:txBody>
      </p:sp>
      <p:sp>
        <p:nvSpPr>
          <p:cNvPr id="29" name="Rectangle 28"/>
          <p:cNvSpPr/>
          <p:nvPr/>
        </p:nvSpPr>
        <p:spPr>
          <a:xfrm>
            <a:off x="731520" y="5486400"/>
            <a:ext cx="10698480" cy="59436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532120"/>
            <a:ext cx="457200" cy="457200"/>
          </a:xfrm>
          <a:prstGeom prst="rect">
            <a:avLst/>
          </a:prstGeom>
          <a:noFill/>
        </p:spPr>
        <p:txBody>
          <a:bodyPr wrap="square">
            <a:spAutoFit/>
          </a:bodyPr>
          <a:lstStyle/>
          <a:p>
            <a:pPr algn="l">
              <a:defRPr sz="2200" b="1" i="0">
                <a:solidFill>
                  <a:srgbClr val="22C55E"/>
                </a:solidFill>
                <a:latin typeface="Calibri"/>
              </a:defRPr>
            </a:pPr>
            <a:r>
              <a:t>✓</a:t>
            </a:r>
          </a:p>
        </p:txBody>
      </p:sp>
      <p:sp>
        <p:nvSpPr>
          <p:cNvPr id="31" name="TextBox 30"/>
          <p:cNvSpPr txBox="1"/>
          <p:nvPr/>
        </p:nvSpPr>
        <p:spPr>
          <a:xfrm>
            <a:off x="1371600" y="5596128"/>
            <a:ext cx="4572000" cy="365760"/>
          </a:xfrm>
          <a:prstGeom prst="rect">
            <a:avLst/>
          </a:prstGeom>
          <a:noFill/>
        </p:spPr>
        <p:txBody>
          <a:bodyPr wrap="square">
            <a:spAutoFit/>
          </a:bodyPr>
          <a:lstStyle/>
          <a:p>
            <a:pPr algn="l">
              <a:defRPr sz="1500" b="1" i="0">
                <a:solidFill>
                  <a:srgbClr val="FFFFFF"/>
                </a:solidFill>
                <a:latin typeface="Calibri"/>
              </a:defRPr>
            </a:pPr>
            <a:r>
              <a:t>Regime transition at matter-radiation boundary</a:t>
            </a:r>
          </a:p>
        </p:txBody>
      </p:sp>
      <p:sp>
        <p:nvSpPr>
          <p:cNvPr id="32" name="TextBox 31"/>
          <p:cNvSpPr txBox="1"/>
          <p:nvPr/>
        </p:nvSpPr>
        <p:spPr>
          <a:xfrm>
            <a:off x="5943600" y="5623560"/>
            <a:ext cx="5029200" cy="365760"/>
          </a:xfrm>
          <a:prstGeom prst="rect">
            <a:avLst/>
          </a:prstGeom>
          <a:noFill/>
        </p:spPr>
        <p:txBody>
          <a:bodyPr wrap="square">
            <a:spAutoFit/>
          </a:bodyPr>
          <a:lstStyle/>
          <a:p>
            <a:pPr algn="l">
              <a:defRPr sz="1200" b="0" i="0">
                <a:solidFill>
                  <a:srgbClr val="888888"/>
                </a:solidFill>
                <a:latin typeface="Consolas"/>
              </a:defRPr>
            </a:pPr>
            <a:r>
              <a:t>SM-RTR-DIS detected at z ≈ 3400</a:t>
            </a:r>
          </a:p>
        </p:txBody>
      </p:sp>
      <p:sp>
        <p:nvSpPr>
          <p:cNvPr id="33" name="TextBox 32"/>
          <p:cNvSpPr txBox="1"/>
          <p:nvPr/>
        </p:nvSpPr>
        <p:spPr>
          <a:xfrm>
            <a:off x="731520" y="6217920"/>
            <a:ext cx="10972800" cy="457200"/>
          </a:xfrm>
          <a:prstGeom prst="rect">
            <a:avLst/>
          </a:prstGeom>
          <a:noFill/>
        </p:spPr>
        <p:txBody>
          <a:bodyPr wrap="square">
            <a:spAutoFit/>
          </a:bodyPr>
          <a:lstStyle/>
          <a:p>
            <a:pPr algn="ctr">
              <a:defRPr sz="1800" b="1" i="0">
                <a:solidFill>
                  <a:srgbClr val="60A0FF"/>
                </a:solidFill>
                <a:latin typeface="Calibri"/>
              </a:defRPr>
            </a:pPr>
            <a:r>
              <a:t>Same 12 steps. Same codes. Same simplex.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640080"/>
          </a:xfrm>
          <a:prstGeom prst="rect">
            <a:avLst/>
          </a:prstGeom>
          <a:noFill/>
        </p:spPr>
        <p:txBody>
          <a:bodyPr wrap="square">
            <a:spAutoFit/>
          </a:bodyPr>
          <a:lstStyle/>
          <a:p>
            <a:pPr algn="l">
              <a:defRPr sz="3600" b="1" i="0">
                <a:solidFill>
                  <a:srgbClr val="FFFFFF"/>
                </a:solidFill>
                <a:latin typeface="Calibri"/>
              </a:defRPr>
            </a:pPr>
            <a:r>
              <a:t>The Open Question: EITT</a:t>
            </a:r>
          </a:p>
        </p:txBody>
      </p:sp>
      <p:sp>
        <p:nvSpPr>
          <p:cNvPr id="4" name="TextBox 3"/>
          <p:cNvSpPr txBox="1"/>
          <p:nvPr/>
        </p:nvSpPr>
        <p:spPr>
          <a:xfrm>
            <a:off x="731520" y="777240"/>
            <a:ext cx="9144000" cy="365760"/>
          </a:xfrm>
          <a:prstGeom prst="rect">
            <a:avLst/>
          </a:prstGeom>
          <a:noFill/>
        </p:spPr>
        <p:txBody>
          <a:bodyPr wrap="square">
            <a:spAutoFit/>
          </a:bodyPr>
          <a:lstStyle/>
          <a:p>
            <a:pPr algn="l">
              <a:defRPr sz="1400" b="0" i="0">
                <a:solidFill>
                  <a:srgbClr val="F59E0B"/>
                </a:solidFill>
                <a:latin typeface="Calibri"/>
              </a:defRPr>
            </a:pPr>
            <a:r>
              <a:t>Entropy Invariance Under Geometric-Mean Decimation</a:t>
            </a:r>
          </a:p>
        </p:txBody>
      </p:sp>
      <p:sp>
        <p:nvSpPr>
          <p:cNvPr id="5" name="Rectangle 4"/>
          <p:cNvSpPr/>
          <p:nvPr/>
        </p:nvSpPr>
        <p:spPr>
          <a:xfrm>
            <a:off x="731520" y="1463040"/>
            <a:ext cx="3383280" cy="164592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2743200" cy="365760"/>
          </a:xfrm>
          <a:prstGeom prst="rect">
            <a:avLst/>
          </a:prstGeom>
          <a:noFill/>
        </p:spPr>
        <p:txBody>
          <a:bodyPr wrap="square">
            <a:spAutoFit/>
          </a:bodyPr>
          <a:lstStyle/>
          <a:p>
            <a:pPr algn="l">
              <a:defRPr sz="1600" b="1" i="0">
                <a:solidFill>
                  <a:srgbClr val="F59E0B"/>
                </a:solidFill>
                <a:latin typeface="Calibri"/>
              </a:defRPr>
            </a:pPr>
            <a:r>
              <a:t>2× compression</a:t>
            </a:r>
          </a:p>
        </p:txBody>
      </p:sp>
      <p:sp>
        <p:nvSpPr>
          <p:cNvPr id="7" name="TextBox 6"/>
          <p:cNvSpPr txBox="1"/>
          <p:nvPr/>
        </p:nvSpPr>
        <p:spPr>
          <a:xfrm>
            <a:off x="1005840" y="2103120"/>
            <a:ext cx="2743200" cy="365760"/>
          </a:xfrm>
          <a:prstGeom prst="rect">
            <a:avLst/>
          </a:prstGeom>
          <a:noFill/>
        </p:spPr>
        <p:txBody>
          <a:bodyPr wrap="square">
            <a:spAutoFit/>
          </a:bodyPr>
          <a:lstStyle/>
          <a:p>
            <a:pPr algn="l">
              <a:defRPr sz="1800" b="0" i="0">
                <a:solidFill>
                  <a:srgbClr val="FFFFFF"/>
                </a:solidFill>
                <a:latin typeface="Consolas"/>
              </a:defRPr>
            </a:pPr>
            <a:r>
              <a:t>Variation: 0.005%</a:t>
            </a:r>
          </a:p>
        </p:txBody>
      </p:sp>
      <p:sp>
        <p:nvSpPr>
          <p:cNvPr id="8" name="TextBox 7"/>
          <p:cNvSpPr txBox="1"/>
          <p:nvPr/>
        </p:nvSpPr>
        <p:spPr>
          <a:xfrm>
            <a:off x="3017520" y="2468880"/>
            <a:ext cx="914400" cy="365760"/>
          </a:xfrm>
          <a:prstGeom prst="rect">
            <a:avLst/>
          </a:prstGeom>
          <a:noFill/>
        </p:spPr>
        <p:txBody>
          <a:bodyPr wrap="square">
            <a:spAutoFit/>
          </a:bodyPr>
          <a:lstStyle/>
          <a:p>
            <a:pPr algn="l">
              <a:defRPr sz="1600" b="1" i="0">
                <a:solidFill>
                  <a:srgbClr val="22C55E"/>
                </a:solidFill>
                <a:latin typeface="Calibri"/>
              </a:defRPr>
            </a:pPr>
            <a:r>
              <a:t>PASS</a:t>
            </a:r>
          </a:p>
        </p:txBody>
      </p:sp>
      <p:sp>
        <p:nvSpPr>
          <p:cNvPr id="9" name="Rectangle 8"/>
          <p:cNvSpPr/>
          <p:nvPr/>
        </p:nvSpPr>
        <p:spPr>
          <a:xfrm>
            <a:off x="4480559" y="1463040"/>
            <a:ext cx="3383280" cy="164592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79" y="1645920"/>
            <a:ext cx="2743200" cy="365760"/>
          </a:xfrm>
          <a:prstGeom prst="rect">
            <a:avLst/>
          </a:prstGeom>
          <a:noFill/>
        </p:spPr>
        <p:txBody>
          <a:bodyPr wrap="square">
            <a:spAutoFit/>
          </a:bodyPr>
          <a:lstStyle/>
          <a:p>
            <a:pPr algn="l">
              <a:defRPr sz="1600" b="1" i="0">
                <a:solidFill>
                  <a:srgbClr val="F59E0B"/>
                </a:solidFill>
                <a:latin typeface="Calibri"/>
              </a:defRPr>
            </a:pPr>
            <a:r>
              <a:t>4× compression</a:t>
            </a:r>
          </a:p>
        </p:txBody>
      </p:sp>
      <p:sp>
        <p:nvSpPr>
          <p:cNvPr id="11" name="TextBox 10"/>
          <p:cNvSpPr txBox="1"/>
          <p:nvPr/>
        </p:nvSpPr>
        <p:spPr>
          <a:xfrm>
            <a:off x="4754879" y="2103120"/>
            <a:ext cx="2743200" cy="365760"/>
          </a:xfrm>
          <a:prstGeom prst="rect">
            <a:avLst/>
          </a:prstGeom>
          <a:noFill/>
        </p:spPr>
        <p:txBody>
          <a:bodyPr wrap="square">
            <a:spAutoFit/>
          </a:bodyPr>
          <a:lstStyle/>
          <a:p>
            <a:pPr algn="l">
              <a:defRPr sz="1800" b="0" i="0">
                <a:solidFill>
                  <a:srgbClr val="FFFFFF"/>
                </a:solidFill>
                <a:latin typeface="Consolas"/>
              </a:defRPr>
            </a:pPr>
            <a:r>
              <a:t>Variation: 0.04%</a:t>
            </a:r>
          </a:p>
        </p:txBody>
      </p:sp>
      <p:sp>
        <p:nvSpPr>
          <p:cNvPr id="12" name="TextBox 11"/>
          <p:cNvSpPr txBox="1"/>
          <p:nvPr/>
        </p:nvSpPr>
        <p:spPr>
          <a:xfrm>
            <a:off x="6766559" y="2468880"/>
            <a:ext cx="914400" cy="365760"/>
          </a:xfrm>
          <a:prstGeom prst="rect">
            <a:avLst/>
          </a:prstGeom>
          <a:noFill/>
        </p:spPr>
        <p:txBody>
          <a:bodyPr wrap="square">
            <a:spAutoFit/>
          </a:bodyPr>
          <a:lstStyle/>
          <a:p>
            <a:pPr algn="l">
              <a:defRPr sz="1600" b="1" i="0">
                <a:solidFill>
                  <a:srgbClr val="22C55E"/>
                </a:solidFill>
                <a:latin typeface="Calibri"/>
              </a:defRPr>
            </a:pPr>
            <a:r>
              <a:t>PASS</a:t>
            </a:r>
          </a:p>
        </p:txBody>
      </p:sp>
      <p:sp>
        <p:nvSpPr>
          <p:cNvPr id="13" name="Rectangle 12"/>
          <p:cNvSpPr/>
          <p:nvPr/>
        </p:nvSpPr>
        <p:spPr>
          <a:xfrm>
            <a:off x="8229600" y="1463040"/>
            <a:ext cx="3383280" cy="164592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1645920"/>
            <a:ext cx="2743200" cy="365760"/>
          </a:xfrm>
          <a:prstGeom prst="rect">
            <a:avLst/>
          </a:prstGeom>
          <a:noFill/>
        </p:spPr>
        <p:txBody>
          <a:bodyPr wrap="square">
            <a:spAutoFit/>
          </a:bodyPr>
          <a:lstStyle/>
          <a:p>
            <a:pPr algn="l">
              <a:defRPr sz="1600" b="1" i="0">
                <a:solidFill>
                  <a:srgbClr val="F59E0B"/>
                </a:solidFill>
                <a:latin typeface="Calibri"/>
              </a:defRPr>
            </a:pPr>
            <a:r>
              <a:t>8× compression</a:t>
            </a:r>
          </a:p>
        </p:txBody>
      </p:sp>
      <p:sp>
        <p:nvSpPr>
          <p:cNvPr id="15" name="TextBox 14"/>
          <p:cNvSpPr txBox="1"/>
          <p:nvPr/>
        </p:nvSpPr>
        <p:spPr>
          <a:xfrm>
            <a:off x="8503920" y="2103120"/>
            <a:ext cx="2743200" cy="365760"/>
          </a:xfrm>
          <a:prstGeom prst="rect">
            <a:avLst/>
          </a:prstGeom>
          <a:noFill/>
        </p:spPr>
        <p:txBody>
          <a:bodyPr wrap="square">
            <a:spAutoFit/>
          </a:bodyPr>
          <a:lstStyle/>
          <a:p>
            <a:pPr algn="l">
              <a:defRPr sz="1800" b="0" i="0">
                <a:solidFill>
                  <a:srgbClr val="FFFFFF"/>
                </a:solidFill>
                <a:latin typeface="Consolas"/>
              </a:defRPr>
            </a:pPr>
            <a:r>
              <a:t>Variation: 0.22%</a:t>
            </a:r>
          </a:p>
        </p:txBody>
      </p:sp>
      <p:sp>
        <p:nvSpPr>
          <p:cNvPr id="16" name="TextBox 15"/>
          <p:cNvSpPr txBox="1"/>
          <p:nvPr/>
        </p:nvSpPr>
        <p:spPr>
          <a:xfrm>
            <a:off x="10515600" y="2468880"/>
            <a:ext cx="914400" cy="365760"/>
          </a:xfrm>
          <a:prstGeom prst="rect">
            <a:avLst/>
          </a:prstGeom>
          <a:noFill/>
        </p:spPr>
        <p:txBody>
          <a:bodyPr wrap="square">
            <a:spAutoFit/>
          </a:bodyPr>
          <a:lstStyle/>
          <a:p>
            <a:pPr algn="l">
              <a:defRPr sz="1600" b="1" i="0">
                <a:solidFill>
                  <a:srgbClr val="22C55E"/>
                </a:solidFill>
                <a:latin typeface="Calibri"/>
              </a:defRPr>
            </a:pPr>
            <a:r>
              <a:t>PASS</a:t>
            </a:r>
          </a:p>
        </p:txBody>
      </p:sp>
      <p:sp>
        <p:nvSpPr>
          <p:cNvPr id="17" name="Rectangle 16"/>
          <p:cNvSpPr/>
          <p:nvPr/>
        </p:nvSpPr>
        <p:spPr>
          <a:xfrm>
            <a:off x="731520" y="3474720"/>
            <a:ext cx="10698480" cy="2286000"/>
          </a:xfrm>
          <a:prstGeom prst="rect">
            <a:avLst/>
          </a:prstGeom>
          <a:solidFill>
            <a:srgbClr val="1A1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474720"/>
            <a:ext cx="106984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657600"/>
            <a:ext cx="9601200" cy="2286000"/>
          </a:xfrm>
          <a:prstGeom prst="rect">
            <a:avLst/>
          </a:prstGeom>
          <a:noFill/>
        </p:spPr>
        <p:txBody>
          <a:bodyPr wrap="square">
            <a:spAutoFit/>
          </a:bodyPr>
          <a:lstStyle/>
          <a:p>
            <a:pPr algn="l">
              <a:spcAft>
                <a:spcPts val="960"/>
              </a:spcAft>
              <a:defRPr sz="1800" b="1" i="0">
                <a:solidFill>
                  <a:srgbClr val="FFFFFF"/>
                </a:solidFill>
                <a:latin typeface="Calibri"/>
              </a:defRPr>
            </a:pPr>
            <a:r>
              <a:t>Every CoDa practitioner in this room uses the geometric mean.</a:t>
            </a:r>
          </a:p>
          <a:p>
            <a:pPr algn="l">
              <a:spcAft>
                <a:spcPts val="960"/>
              </a:spcAft>
              <a:defRPr sz="1600" b="0" i="0">
                <a:solidFill>
                  <a:srgbClr val="CCCCCC"/>
                </a:solidFill>
                <a:latin typeface="Calibri"/>
              </a:defRPr>
            </a:pPr>
            <a:r>
              <a:t>It is the natural centre of the Aitchison simplex.</a:t>
            </a:r>
          </a:p>
          <a:p>
            <a:pPr algn="l">
              <a:spcAft>
                <a:spcPts val="960"/>
              </a:spcAft>
              <a:defRPr sz="800" b="0" i="0">
                <a:solidFill>
                  <a:srgbClr val="FFFFFF"/>
                </a:solidFill>
                <a:latin typeface="Calibri"/>
              </a:defRPr>
            </a:pPr>
          </a:p>
          <a:p>
            <a:pPr algn="l">
              <a:spcAft>
                <a:spcPts val="960"/>
              </a:spcAft>
              <a:defRPr sz="1800" b="1" i="0">
                <a:solidFill>
                  <a:srgbClr val="F59E0B"/>
                </a:solidFill>
                <a:latin typeface="Calibri"/>
              </a:defRPr>
            </a:pPr>
            <a:r>
              <a:t>Can anyone in this room prove WHY geometric-mean decimation preserves Shannon entropy on the simplex?</a:t>
            </a:r>
          </a:p>
          <a:p>
            <a:pPr algn="l">
              <a:spcAft>
                <a:spcPts val="960"/>
              </a:spcAft>
              <a:defRPr sz="800" b="0" i="0">
                <a:solidFill>
                  <a:srgbClr val="FFFFFF"/>
                </a:solidFill>
                <a:latin typeface="Calibri"/>
              </a:defRPr>
            </a:pPr>
          </a:p>
          <a:p>
            <a:pPr algn="l">
              <a:spcAft>
                <a:spcPts val="960"/>
              </a:spcAft>
              <a:defRPr sz="1600" b="0" i="1">
                <a:solidFill>
                  <a:srgbClr val="888888"/>
                </a:solidFill>
                <a:latin typeface="Calibri"/>
              </a:defRPr>
            </a:pPr>
            <a:r>
              <a:t>If you can, that is a theorem. If you can break it, that is equally valuable.</a:t>
            </a:r>
          </a:p>
        </p:txBody>
      </p:sp>
      <p:sp>
        <p:nvSpPr>
          <p:cNvPr id="20" name="TextBox 19"/>
          <p:cNvSpPr txBox="1"/>
          <p:nvPr/>
        </p:nvSpPr>
        <p:spPr>
          <a:xfrm>
            <a:off x="731520" y="6035040"/>
            <a:ext cx="10058400" cy="457200"/>
          </a:xfrm>
          <a:prstGeom prst="rect">
            <a:avLst/>
          </a:prstGeom>
          <a:noFill/>
        </p:spPr>
        <p:txBody>
          <a:bodyPr wrap="square">
            <a:spAutoFit/>
          </a:bodyPr>
          <a:lstStyle/>
          <a:p>
            <a:pPr algn="ctr">
              <a:defRPr sz="1300" b="0" i="0">
                <a:solidFill>
                  <a:srgbClr val="666677"/>
                </a:solidFill>
                <a:latin typeface="Calibri"/>
              </a:defRPr>
            </a:pPr>
            <a:r>
              <a:t>Empirically true: 25 experiments, 18 domains. No formal proof exists.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640080"/>
          </a:xfrm>
          <a:prstGeom prst="rect">
            <a:avLst/>
          </a:prstGeom>
          <a:noFill/>
        </p:spPr>
        <p:txBody>
          <a:bodyPr wrap="square">
            <a:spAutoFit/>
          </a:bodyPr>
          <a:lstStyle/>
          <a:p>
            <a:pPr algn="l">
              <a:defRPr sz="3600" b="1" i="0">
                <a:solidFill>
                  <a:srgbClr val="FFFFFF"/>
                </a:solidFill>
                <a:latin typeface="Calibri"/>
              </a:defRPr>
            </a:pPr>
            <a:r>
              <a:t>Transcendental Resonance</a:t>
            </a:r>
          </a:p>
        </p:txBody>
      </p:sp>
      <p:sp>
        <p:nvSpPr>
          <p:cNvPr id="4" name="TextBox 3"/>
          <p:cNvSpPr txBox="1"/>
          <p:nvPr/>
        </p:nvSpPr>
        <p:spPr>
          <a:xfrm>
            <a:off x="731520" y="777240"/>
            <a:ext cx="7315200" cy="365760"/>
          </a:xfrm>
          <a:prstGeom prst="rect">
            <a:avLst/>
          </a:prstGeom>
          <a:noFill/>
        </p:spPr>
        <p:txBody>
          <a:bodyPr wrap="square">
            <a:spAutoFit/>
          </a:bodyPr>
          <a:lstStyle/>
          <a:p>
            <a:pPr algn="l">
              <a:defRPr sz="1400" b="0" i="0">
                <a:solidFill>
                  <a:srgbClr val="A855F7"/>
                </a:solidFill>
                <a:latin typeface="Calibri"/>
              </a:defRPr>
            </a:pPr>
            <a:r>
              <a:t>Is it in the data, or in the pipeline?</a:t>
            </a:r>
          </a:p>
        </p:txBody>
      </p:sp>
      <p:sp>
        <p:nvSpPr>
          <p:cNvPr id="5" name="Rectangle 4"/>
          <p:cNvSpPr/>
          <p:nvPr/>
        </p:nvSpPr>
        <p:spPr>
          <a:xfrm>
            <a:off x="731520" y="1463040"/>
            <a:ext cx="5029200" cy="38404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4864" cy="384048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114800" cy="365760"/>
          </a:xfrm>
          <a:prstGeom prst="rect">
            <a:avLst/>
          </a:prstGeom>
          <a:noFill/>
        </p:spPr>
        <p:txBody>
          <a:bodyPr wrap="square">
            <a:spAutoFit/>
          </a:bodyPr>
          <a:lstStyle/>
          <a:p>
            <a:pPr algn="l">
              <a:defRPr sz="2000" b="1" i="0">
                <a:solidFill>
                  <a:srgbClr val="A855F7"/>
                </a:solidFill>
                <a:latin typeface="Calibri"/>
              </a:defRPr>
            </a:pPr>
            <a:r>
              <a:t>What We Observe</a:t>
            </a:r>
          </a:p>
        </p:txBody>
      </p:sp>
      <p:sp>
        <p:nvSpPr>
          <p:cNvPr id="8" name="TextBox 7"/>
          <p:cNvSpPr txBox="1"/>
          <p:nvPr/>
        </p:nvSpPr>
        <p:spPr>
          <a:xfrm>
            <a:off x="1005840" y="2103120"/>
            <a:ext cx="4114800" cy="3200400"/>
          </a:xfrm>
          <a:prstGeom prst="rect">
            <a:avLst/>
          </a:prstGeom>
          <a:noFill/>
        </p:spPr>
        <p:txBody>
          <a:bodyPr wrap="square">
            <a:spAutoFit/>
          </a:bodyPr>
          <a:lstStyle/>
          <a:p>
            <a:pPr algn="l">
              <a:spcAft>
                <a:spcPts val="960"/>
              </a:spcAft>
              <a:defRPr sz="1400" b="0" i="0">
                <a:solidFill>
                  <a:srgbClr val="CCCCCC"/>
                </a:solidFill>
                <a:latin typeface="Calibri"/>
              </a:defRPr>
            </a:pPr>
            <a:r>
              <a:t>Natural systems cluster around Euler-family constants:</a:t>
            </a:r>
          </a:p>
          <a:p>
            <a:pPr algn="l">
              <a:spcAft>
                <a:spcPts val="960"/>
              </a:spcAft>
              <a:defRPr sz="600" b="0" i="0">
                <a:solidFill>
                  <a:srgbClr val="FFFFFF"/>
                </a:solidFill>
                <a:latin typeface="Calibri"/>
              </a:defRPr>
            </a:pPr>
          </a:p>
          <a:p>
            <a:pPr algn="l">
              <a:spcAft>
                <a:spcPts val="960"/>
              </a:spcAft>
              <a:defRPr sz="1800" b="1" i="0">
                <a:solidFill>
                  <a:srgbClr val="FFFFFF"/>
                </a:solidFill>
                <a:latin typeface="Consolas"/>
              </a:defRPr>
            </a:pPr>
            <a:r>
              <a:t>  2π,  eᵖⁱ,  πᵉ,  1/(eᵖⁱ),  1/(πᵉ)</a:t>
            </a:r>
          </a:p>
          <a:p>
            <a:pPr algn="l">
              <a:spcAft>
                <a:spcPts val="960"/>
              </a:spcAft>
              <a:defRPr sz="600" b="0" i="0">
                <a:solidFill>
                  <a:srgbClr val="FFFFFF"/>
                </a:solidFill>
                <a:latin typeface="Calibri"/>
              </a:defRPr>
            </a:pPr>
          </a:p>
          <a:p>
            <a:pPr algn="l">
              <a:spcAft>
                <a:spcPts val="960"/>
              </a:spcAft>
              <a:defRPr sz="1400" b="0" i="0">
                <a:solidFill>
                  <a:srgbClr val="CCCCCC"/>
                </a:solidFill>
                <a:latin typeface="Calibri"/>
              </a:defRPr>
            </a:pPr>
            <a:r>
              <a:t>Natural density: 326 matches/unit trajectory</a:t>
            </a:r>
          </a:p>
          <a:p>
            <a:pPr algn="l">
              <a:spcAft>
                <a:spcPts val="960"/>
              </a:spcAft>
              <a:defRPr sz="1400" b="0" i="0">
                <a:solidFill>
                  <a:srgbClr val="888888"/>
                </a:solidFill>
                <a:latin typeface="Calibri"/>
              </a:defRPr>
            </a:pPr>
            <a:r>
              <a:t>Random density: 8.4 matches/unit trajectory</a:t>
            </a:r>
          </a:p>
          <a:p>
            <a:pPr algn="l">
              <a:spcAft>
                <a:spcPts val="960"/>
              </a:spcAft>
              <a:defRPr sz="1400" b="0" i="0">
                <a:solidFill>
                  <a:srgbClr val="888888"/>
                </a:solidFill>
                <a:latin typeface="Calibri"/>
              </a:defRPr>
            </a:pPr>
            <a:r>
              <a:t>Concentration: 0.45 vs 0.08 (Herfindahl)</a:t>
            </a:r>
          </a:p>
          <a:p>
            <a:pPr algn="l">
              <a:spcAft>
                <a:spcPts val="960"/>
              </a:spcAft>
              <a:defRPr sz="600" b="0" i="0">
                <a:solidFill>
                  <a:srgbClr val="FFFFFF"/>
                </a:solidFill>
                <a:latin typeface="Calibri"/>
              </a:defRPr>
            </a:pPr>
          </a:p>
          <a:p>
            <a:pPr algn="l">
              <a:spcAft>
                <a:spcPts val="960"/>
              </a:spcAft>
              <a:defRPr sz="1600" b="1" i="0">
                <a:solidFill>
                  <a:srgbClr val="22C55E"/>
                </a:solidFill>
                <a:latin typeface="Calibri"/>
              </a:defRPr>
            </a:pPr>
            <a:r>
              <a:t>39× higher density in natural systems</a:t>
            </a:r>
          </a:p>
        </p:txBody>
      </p:sp>
      <p:sp>
        <p:nvSpPr>
          <p:cNvPr id="9" name="Rectangle 8"/>
          <p:cNvSpPr/>
          <p:nvPr/>
        </p:nvSpPr>
        <p:spPr>
          <a:xfrm>
            <a:off x="6400800" y="1463040"/>
            <a:ext cx="5029200" cy="384048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63040"/>
            <a:ext cx="54864" cy="3840480"/>
          </a:xfrm>
          <a:prstGeom prst="rect">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645920"/>
            <a:ext cx="4114800" cy="365760"/>
          </a:xfrm>
          <a:prstGeom prst="rect">
            <a:avLst/>
          </a:prstGeom>
          <a:noFill/>
        </p:spPr>
        <p:txBody>
          <a:bodyPr wrap="square">
            <a:spAutoFit/>
          </a:bodyPr>
          <a:lstStyle/>
          <a:p>
            <a:pPr algn="l">
              <a:defRPr sz="2000" b="1" i="0">
                <a:solidFill>
                  <a:srgbClr val="60A0FF"/>
                </a:solidFill>
                <a:latin typeface="Calibri"/>
              </a:defRPr>
            </a:pPr>
            <a:r>
              <a:t>The CoDa Test</a:t>
            </a:r>
          </a:p>
        </p:txBody>
      </p:sp>
      <p:sp>
        <p:nvSpPr>
          <p:cNvPr id="12" name="TextBox 11"/>
          <p:cNvSpPr txBox="1"/>
          <p:nvPr/>
        </p:nvSpPr>
        <p:spPr>
          <a:xfrm>
            <a:off x="6675120" y="2103120"/>
            <a:ext cx="4114800" cy="3200400"/>
          </a:xfrm>
          <a:prstGeom prst="rect">
            <a:avLst/>
          </a:prstGeom>
          <a:noFill/>
        </p:spPr>
        <p:txBody>
          <a:bodyPr wrap="square">
            <a:spAutoFit/>
          </a:bodyPr>
          <a:lstStyle/>
          <a:p>
            <a:pPr algn="l">
              <a:spcAft>
                <a:spcPts val="960"/>
              </a:spcAft>
              <a:defRPr sz="1400" b="0" i="0">
                <a:solidFill>
                  <a:srgbClr val="CCCCCC"/>
                </a:solidFill>
                <a:latin typeface="Calibri"/>
              </a:defRPr>
            </a:pPr>
            <a:r>
              <a:t>CLR introduces logarithms.</a:t>
            </a:r>
          </a:p>
          <a:p>
            <a:pPr algn="l">
              <a:spcAft>
                <a:spcPts val="960"/>
              </a:spcAft>
              <a:defRPr sz="1400" b="0" i="0">
                <a:solidFill>
                  <a:srgbClr val="CCCCCC"/>
                </a:solidFill>
                <a:latin typeface="Calibri"/>
              </a:defRPr>
            </a:pPr>
            <a:r>
              <a:t>The helix introduces angular periodicity.</a:t>
            </a:r>
          </a:p>
          <a:p>
            <a:pPr algn="l">
              <a:spcAft>
                <a:spcPts val="960"/>
              </a:spcAft>
              <a:defRPr sz="600" b="0" i="0">
                <a:solidFill>
                  <a:srgbClr val="FFFFFF"/>
                </a:solidFill>
                <a:latin typeface="Calibri"/>
              </a:defRPr>
            </a:pPr>
          </a:p>
          <a:p>
            <a:pPr algn="l">
              <a:spcAft>
                <a:spcPts val="960"/>
              </a:spcAft>
              <a:defRPr sz="1600" b="1" i="0">
                <a:solidFill>
                  <a:srgbClr val="FFFFFF"/>
                </a:solidFill>
                <a:latin typeface="Calibri"/>
              </a:defRPr>
            </a:pPr>
            <a:r>
              <a:t>Is the resonance from the architecture?</a:t>
            </a:r>
          </a:p>
          <a:p>
            <a:pPr algn="l">
              <a:spcAft>
                <a:spcPts val="960"/>
              </a:spcAft>
              <a:defRPr sz="600" b="0" i="0">
                <a:solidFill>
                  <a:srgbClr val="FFFFFF"/>
                </a:solidFill>
                <a:latin typeface="Calibri"/>
              </a:defRPr>
            </a:pPr>
          </a:p>
          <a:p>
            <a:pPr algn="l">
              <a:spcAft>
                <a:spcPts val="960"/>
              </a:spcAft>
              <a:defRPr sz="1600" b="1" i="0">
                <a:solidFill>
                  <a:srgbClr val="60A0FF"/>
                </a:solidFill>
                <a:latin typeface="Calibri"/>
              </a:defRPr>
            </a:pPr>
            <a:r>
              <a:t>Run ILR instead of CLR.</a:t>
            </a:r>
          </a:p>
          <a:p>
            <a:pPr algn="l">
              <a:spcAft>
                <a:spcPts val="960"/>
              </a:spcAft>
              <a:defRPr sz="1400" b="0" i="0">
                <a:solidFill>
                  <a:srgbClr val="CCCCCC"/>
                </a:solidFill>
                <a:latin typeface="Calibri"/>
              </a:defRPr>
            </a:pPr>
            <a:r>
              <a:t>ILR uses different geometry.</a:t>
            </a:r>
          </a:p>
          <a:p>
            <a:pPr algn="l">
              <a:spcAft>
                <a:spcPts val="960"/>
              </a:spcAft>
              <a:defRPr sz="600" b="0" i="0">
                <a:solidFill>
                  <a:srgbClr val="FFFFFF"/>
                </a:solidFill>
                <a:latin typeface="Calibri"/>
              </a:defRPr>
            </a:pPr>
          </a:p>
          <a:p>
            <a:pPr algn="l">
              <a:spcAft>
                <a:spcPts val="960"/>
              </a:spcAft>
              <a:defRPr sz="1400" b="0" i="0">
                <a:solidFill>
                  <a:srgbClr val="22C55E"/>
                </a:solidFill>
                <a:latin typeface="Calibri"/>
              </a:defRPr>
            </a:pPr>
            <a:r>
              <a:t>If resonance survives → in the data</a:t>
            </a:r>
          </a:p>
          <a:p>
            <a:pPr algn="l">
              <a:spcAft>
                <a:spcPts val="960"/>
              </a:spcAft>
              <a:defRPr sz="1400" b="0" i="0">
                <a:solidFill>
                  <a:srgbClr val="F59E0B"/>
                </a:solidFill>
                <a:latin typeface="Calibri"/>
              </a:defRPr>
            </a:pPr>
            <a:r>
              <a:t>If resonance disappears → in the pipeline</a:t>
            </a:r>
          </a:p>
          <a:p>
            <a:pPr algn="l">
              <a:spcAft>
                <a:spcPts val="960"/>
              </a:spcAft>
              <a:defRPr sz="600" b="0" i="0">
                <a:solidFill>
                  <a:srgbClr val="FFFFFF"/>
                </a:solidFill>
                <a:latin typeface="Calibri"/>
              </a:defRPr>
            </a:pPr>
          </a:p>
          <a:p>
            <a:pPr algn="l">
              <a:spcAft>
                <a:spcPts val="960"/>
              </a:spcAft>
              <a:defRPr sz="1400" b="0" i="1">
                <a:solidFill>
                  <a:srgbClr val="FFFFFF"/>
                </a:solidFill>
                <a:latin typeface="Calibri"/>
              </a:defRPr>
            </a:pPr>
            <a:r>
              <a:t>This experiment has not been done.</a:t>
            </a:r>
          </a:p>
        </p:txBody>
      </p:sp>
      <p:sp>
        <p:nvSpPr>
          <p:cNvPr id="13" name="TextBox 12"/>
          <p:cNvSpPr txBox="1"/>
          <p:nvPr/>
        </p:nvSpPr>
        <p:spPr>
          <a:xfrm>
            <a:off x="731520" y="5669280"/>
            <a:ext cx="10972800" cy="457200"/>
          </a:xfrm>
          <a:prstGeom prst="rect">
            <a:avLst/>
          </a:prstGeom>
          <a:noFill/>
        </p:spPr>
        <p:txBody>
          <a:bodyPr wrap="square">
            <a:spAutoFit/>
          </a:bodyPr>
          <a:lstStyle/>
          <a:p>
            <a:pPr algn="ctr">
              <a:defRPr sz="1800" b="1" i="0">
                <a:solidFill>
                  <a:srgbClr val="FFFFFF"/>
                </a:solidFill>
                <a:latin typeface="Calibri"/>
              </a:defRPr>
            </a:pPr>
            <a:r>
              <a:t>CoDa is the community that can answer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640080"/>
          </a:xfrm>
          <a:prstGeom prst="rect">
            <a:avLst/>
          </a:prstGeom>
          <a:noFill/>
        </p:spPr>
        <p:txBody>
          <a:bodyPr wrap="square">
            <a:spAutoFit/>
          </a:bodyPr>
          <a:lstStyle/>
          <a:p>
            <a:pPr algn="l">
              <a:defRPr sz="3600" b="1" i="0">
                <a:solidFill>
                  <a:srgbClr val="FFFFFF"/>
                </a:solidFill>
                <a:latin typeface="Calibri"/>
              </a:defRPr>
            </a:pPr>
            <a:r>
              <a:t>What CoDa Can Do</a:t>
            </a:r>
          </a:p>
        </p:txBody>
      </p:sp>
      <p:sp>
        <p:nvSpPr>
          <p:cNvPr id="4" name="TextBox 3"/>
          <p:cNvSpPr txBox="1"/>
          <p:nvPr/>
        </p:nvSpPr>
        <p:spPr>
          <a:xfrm>
            <a:off x="731520" y="777240"/>
            <a:ext cx="7315200" cy="365760"/>
          </a:xfrm>
          <a:prstGeom prst="rect">
            <a:avLst/>
          </a:prstGeom>
          <a:noFill/>
        </p:spPr>
        <p:txBody>
          <a:bodyPr wrap="square">
            <a:spAutoFit/>
          </a:bodyPr>
          <a:lstStyle/>
          <a:p>
            <a:pPr algn="l">
              <a:defRPr sz="1400" b="0" i="0">
                <a:solidFill>
                  <a:srgbClr val="22C55E"/>
                </a:solidFill>
                <a:latin typeface="Calibri"/>
              </a:defRPr>
            </a:pPr>
            <a:r>
              <a:t>Three concrete asks</a:t>
            </a:r>
          </a:p>
        </p:txBody>
      </p:sp>
      <p:sp>
        <p:nvSpPr>
          <p:cNvPr id="5" name="Rectangle 4"/>
          <p:cNvSpPr/>
          <p:nvPr/>
        </p:nvSpPr>
        <p:spPr>
          <a:xfrm>
            <a:off x="731520" y="1371600"/>
            <a:ext cx="10698480" cy="146304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54864" cy="14630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1645920"/>
            <a:ext cx="548640" cy="5486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1</a:t>
            </a:r>
          </a:p>
        </p:txBody>
      </p:sp>
      <p:sp>
        <p:nvSpPr>
          <p:cNvPr id="8" name="TextBox 7"/>
          <p:cNvSpPr txBox="1"/>
          <p:nvPr/>
        </p:nvSpPr>
        <p:spPr>
          <a:xfrm>
            <a:off x="1828800" y="1508760"/>
            <a:ext cx="9144000" cy="365760"/>
          </a:xfrm>
          <a:prstGeom prst="rect">
            <a:avLst/>
          </a:prstGeom>
          <a:noFill/>
        </p:spPr>
        <p:txBody>
          <a:bodyPr wrap="square">
            <a:spAutoFit/>
          </a:bodyPr>
          <a:lstStyle/>
          <a:p>
            <a:pPr algn="l">
              <a:defRPr sz="2000" b="1" i="0">
                <a:solidFill>
                  <a:srgbClr val="F59E0B"/>
                </a:solidFill>
                <a:latin typeface="Calibri"/>
              </a:defRPr>
            </a:pPr>
            <a:r>
              <a:t>Prove or Disprove EITT</a:t>
            </a:r>
          </a:p>
        </p:txBody>
      </p:sp>
      <p:sp>
        <p:nvSpPr>
          <p:cNvPr id="9" name="TextBox 8"/>
          <p:cNvSpPr txBox="1"/>
          <p:nvPr/>
        </p:nvSpPr>
        <p:spPr>
          <a:xfrm>
            <a:off x="1828800" y="1920240"/>
            <a:ext cx="9144000" cy="822960"/>
          </a:xfrm>
          <a:prstGeom prst="rect">
            <a:avLst/>
          </a:prstGeom>
          <a:noFill/>
        </p:spPr>
        <p:txBody>
          <a:bodyPr wrap="square">
            <a:spAutoFit/>
          </a:bodyPr>
          <a:lstStyle/>
          <a:p>
            <a:pPr algn="l">
              <a:defRPr sz="1300" b="0" i="0">
                <a:solidFill>
                  <a:srgbClr val="CCCCCC"/>
                </a:solidFill>
                <a:latin typeface="Calibri"/>
              </a:defRPr>
            </a:pPr>
            <a:r>
              <a:t>The formal theorem connecting Shannon entropy preservation to simplex geometry does not exist. The geometric mean is the natural centre. Why does decimation preserve entropy?</a:t>
            </a:r>
          </a:p>
        </p:txBody>
      </p:sp>
      <p:sp>
        <p:nvSpPr>
          <p:cNvPr id="10" name="Rectangle 9"/>
          <p:cNvSpPr/>
          <p:nvPr/>
        </p:nvSpPr>
        <p:spPr>
          <a:xfrm>
            <a:off x="731520" y="3063240"/>
            <a:ext cx="10698480" cy="146304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063240"/>
            <a:ext cx="54864" cy="1463040"/>
          </a:xfrm>
          <a:prstGeom prst="rect">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3337560"/>
            <a:ext cx="548640" cy="548640"/>
          </a:xfrm>
          <a:prstGeom prst="ellipse">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2</a:t>
            </a:r>
          </a:p>
        </p:txBody>
      </p:sp>
      <p:sp>
        <p:nvSpPr>
          <p:cNvPr id="13" name="TextBox 12"/>
          <p:cNvSpPr txBox="1"/>
          <p:nvPr/>
        </p:nvSpPr>
        <p:spPr>
          <a:xfrm>
            <a:off x="1828800" y="3200400"/>
            <a:ext cx="9144000" cy="365760"/>
          </a:xfrm>
          <a:prstGeom prst="rect">
            <a:avLst/>
          </a:prstGeom>
          <a:noFill/>
        </p:spPr>
        <p:txBody>
          <a:bodyPr wrap="square">
            <a:spAutoFit/>
          </a:bodyPr>
          <a:lstStyle/>
          <a:p>
            <a:pPr algn="l">
              <a:defRPr sz="2000" b="1" i="0">
                <a:solidFill>
                  <a:srgbClr val="60A0FF"/>
                </a:solidFill>
                <a:latin typeface="Calibri"/>
              </a:defRPr>
            </a:pPr>
            <a:r>
              <a:t>Test ILR vs CLR</a:t>
            </a:r>
          </a:p>
        </p:txBody>
      </p:sp>
      <p:sp>
        <p:nvSpPr>
          <p:cNvPr id="14" name="TextBox 13"/>
          <p:cNvSpPr txBox="1"/>
          <p:nvPr/>
        </p:nvSpPr>
        <p:spPr>
          <a:xfrm>
            <a:off x="1828800" y="3611880"/>
            <a:ext cx="9144000" cy="822960"/>
          </a:xfrm>
          <a:prstGeom prst="rect">
            <a:avLst/>
          </a:prstGeom>
          <a:noFill/>
        </p:spPr>
        <p:txBody>
          <a:bodyPr wrap="square">
            <a:spAutoFit/>
          </a:bodyPr>
          <a:lstStyle/>
          <a:p>
            <a:pPr algn="l">
              <a:defRPr sz="1300" b="0" i="0">
                <a:solidFill>
                  <a:srgbClr val="CCCCCC"/>
                </a:solidFill>
                <a:latin typeface="Calibri"/>
              </a:defRPr>
            </a:pPr>
            <a:r>
              <a:t>Run the pipeline with ILR instead of CLR. Does the transcendental resonance survive the coordinate change? This determines whether the pattern is in the data or the architecture.</a:t>
            </a:r>
          </a:p>
        </p:txBody>
      </p:sp>
      <p:sp>
        <p:nvSpPr>
          <p:cNvPr id="15" name="Rectangle 14"/>
          <p:cNvSpPr/>
          <p:nvPr/>
        </p:nvSpPr>
        <p:spPr>
          <a:xfrm>
            <a:off x="731520" y="4754880"/>
            <a:ext cx="10698480" cy="1463040"/>
          </a:xfrm>
          <a:prstGeom prst="rect">
            <a:avLst/>
          </a:prstGeom>
          <a:solidFill>
            <a:srgbClr val="14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754880"/>
            <a:ext cx="54864" cy="14630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5029200"/>
            <a:ext cx="548640" cy="54864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3</a:t>
            </a:r>
          </a:p>
        </p:txBody>
      </p:sp>
      <p:sp>
        <p:nvSpPr>
          <p:cNvPr id="18" name="TextBox 17"/>
          <p:cNvSpPr txBox="1"/>
          <p:nvPr/>
        </p:nvSpPr>
        <p:spPr>
          <a:xfrm>
            <a:off x="1828800" y="4892040"/>
            <a:ext cx="9144000" cy="365760"/>
          </a:xfrm>
          <a:prstGeom prst="rect">
            <a:avLst/>
          </a:prstGeom>
          <a:noFill/>
        </p:spPr>
        <p:txBody>
          <a:bodyPr wrap="square">
            <a:spAutoFit/>
          </a:bodyPr>
          <a:lstStyle/>
          <a:p>
            <a:pPr algn="l">
              <a:defRPr sz="2000" b="1" i="0">
                <a:solidFill>
                  <a:srgbClr val="22C55E"/>
                </a:solidFill>
                <a:latin typeface="Calibri"/>
              </a:defRPr>
            </a:pPr>
            <a:r>
              <a:t>Run Your Own Data</a:t>
            </a:r>
          </a:p>
        </p:txBody>
      </p:sp>
      <p:sp>
        <p:nvSpPr>
          <p:cNvPr id="19" name="TextBox 18"/>
          <p:cNvSpPr txBox="1"/>
          <p:nvPr/>
        </p:nvSpPr>
        <p:spPr>
          <a:xfrm>
            <a:off x="1828800" y="5303520"/>
            <a:ext cx="9144000" cy="822960"/>
          </a:xfrm>
          <a:prstGeom prst="rect">
            <a:avLst/>
          </a:prstGeom>
          <a:noFill/>
        </p:spPr>
        <p:txBody>
          <a:bodyPr wrap="square">
            <a:spAutoFit/>
          </a:bodyPr>
          <a:lstStyle/>
          <a:p>
            <a:pPr algn="l">
              <a:defRPr sz="1300" b="0" i="0">
                <a:solidFill>
                  <a:srgbClr val="CCCCCC"/>
                </a:solidFill>
                <a:latin typeface="Calibri"/>
              </a:defRPr>
            </a:pPr>
            <a:r>
              <a:t>python hs_ingest.py yourdata.csv --all-languages</a:t>
            </a:r>
            <a:br/>
            <a:r>
              <a:t>Any CSV of compositions. Column headers become carriers. The repo is public. The tool is free. Independent validation from the community that owns the simplex.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60A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144000" cy="731520"/>
          </a:xfrm>
          <a:prstGeom prst="rect">
            <a:avLst/>
          </a:prstGeom>
          <a:noFill/>
        </p:spPr>
        <p:txBody>
          <a:bodyPr wrap="square">
            <a:spAutoFit/>
          </a:bodyPr>
          <a:lstStyle/>
          <a:p>
            <a:pPr algn="ctr">
              <a:defRPr sz="3600" b="1" i="0">
                <a:solidFill>
                  <a:srgbClr val="FFFFFF"/>
                </a:solidFill>
                <a:latin typeface="Calibri"/>
              </a:defRPr>
            </a:pPr>
            <a:r>
              <a:t>The simplex is the same everywhere.</a:t>
            </a:r>
          </a:p>
        </p:txBody>
      </p:sp>
      <p:sp>
        <p:nvSpPr>
          <p:cNvPr id="4" name="TextBox 3"/>
          <p:cNvSpPr txBox="1"/>
          <p:nvPr/>
        </p:nvSpPr>
        <p:spPr>
          <a:xfrm>
            <a:off x="1371600" y="2560320"/>
            <a:ext cx="9144000" cy="548640"/>
          </a:xfrm>
          <a:prstGeom prst="rect">
            <a:avLst/>
          </a:prstGeom>
          <a:noFill/>
        </p:spPr>
        <p:txBody>
          <a:bodyPr wrap="square">
            <a:spAutoFit/>
          </a:bodyPr>
          <a:lstStyle/>
          <a:p>
            <a:pPr algn="ctr">
              <a:defRPr sz="2800" b="0" i="0">
                <a:solidFill>
                  <a:srgbClr val="60A0FF"/>
                </a:solidFill>
                <a:latin typeface="Calibri"/>
              </a:defRPr>
            </a:pPr>
            <a:r>
              <a:t>You built the engine.</a:t>
            </a:r>
          </a:p>
        </p:txBody>
      </p:sp>
      <p:sp>
        <p:nvSpPr>
          <p:cNvPr id="5" name="TextBox 4"/>
          <p:cNvSpPr txBox="1"/>
          <p:nvPr/>
        </p:nvSpPr>
        <p:spPr>
          <a:xfrm>
            <a:off x="1371600" y="3108960"/>
            <a:ext cx="9144000" cy="548640"/>
          </a:xfrm>
          <a:prstGeom prst="rect">
            <a:avLst/>
          </a:prstGeom>
          <a:noFill/>
        </p:spPr>
        <p:txBody>
          <a:bodyPr wrap="square">
            <a:spAutoFit/>
          </a:bodyPr>
          <a:lstStyle/>
          <a:p>
            <a:pPr algn="ctr">
              <a:defRPr sz="2800" b="0" i="0">
                <a:solidFill>
                  <a:srgbClr val="22C55E"/>
                </a:solidFill>
                <a:latin typeface="Calibri"/>
              </a:defRPr>
            </a:pPr>
            <a:r>
              <a:t>I built the vehicle.</a:t>
            </a:r>
          </a:p>
        </p:txBody>
      </p:sp>
      <p:sp>
        <p:nvSpPr>
          <p:cNvPr id="6" name="TextBox 5"/>
          <p:cNvSpPr txBox="1"/>
          <p:nvPr/>
        </p:nvSpPr>
        <p:spPr>
          <a:xfrm>
            <a:off x="1371600" y="3657600"/>
            <a:ext cx="9144000" cy="548640"/>
          </a:xfrm>
          <a:prstGeom prst="rect">
            <a:avLst/>
          </a:prstGeom>
          <a:noFill/>
        </p:spPr>
        <p:txBody>
          <a:bodyPr wrap="square">
            <a:spAutoFit/>
          </a:bodyPr>
          <a:lstStyle/>
          <a:p>
            <a:pPr algn="ctr">
              <a:defRPr sz="2800" b="0" i="0">
                <a:solidFill>
                  <a:srgbClr val="A855F7"/>
                </a:solidFill>
                <a:latin typeface="Calibri"/>
              </a:defRPr>
            </a:pPr>
            <a:r>
              <a:t>The road is open.</a:t>
            </a:r>
          </a:p>
        </p:txBody>
      </p:sp>
      <p:sp>
        <p:nvSpPr>
          <p:cNvPr id="7" name="Rectangle 6"/>
          <p:cNvSpPr/>
          <p:nvPr/>
        </p:nvSpPr>
        <p:spPr>
          <a:xfrm>
            <a:off x="3657600" y="4572000"/>
            <a:ext cx="4876495" cy="27432"/>
          </a:xfrm>
          <a:prstGeom prst="rect">
            <a:avLst/>
          </a:prstGeom>
          <a:solidFill>
            <a:srgbClr val="6666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846320"/>
            <a:ext cx="9144000" cy="365760"/>
          </a:xfrm>
          <a:prstGeom prst="rect">
            <a:avLst/>
          </a:prstGeom>
          <a:noFill/>
        </p:spPr>
        <p:txBody>
          <a:bodyPr wrap="square">
            <a:spAutoFit/>
          </a:bodyPr>
          <a:lstStyle/>
          <a:p>
            <a:pPr algn="ctr">
              <a:defRPr sz="1600" b="0" i="0">
                <a:solidFill>
                  <a:srgbClr val="60A0FF"/>
                </a:solidFill>
                <a:latin typeface="Consolas"/>
              </a:defRPr>
            </a:pPr>
            <a:r>
              <a:t>github.com/peterhiggins/Hs</a:t>
            </a:r>
          </a:p>
        </p:txBody>
      </p:sp>
      <p:sp>
        <p:nvSpPr>
          <p:cNvPr id="9" name="TextBox 8"/>
          <p:cNvSpPr txBox="1"/>
          <p:nvPr/>
        </p:nvSpPr>
        <p:spPr>
          <a:xfrm>
            <a:off x="1371600" y="5212080"/>
            <a:ext cx="9144000" cy="365760"/>
          </a:xfrm>
          <a:prstGeom prst="rect">
            <a:avLst/>
          </a:prstGeom>
          <a:noFill/>
        </p:spPr>
        <p:txBody>
          <a:bodyPr wrap="square">
            <a:spAutoFit/>
          </a:bodyPr>
          <a:lstStyle/>
          <a:p>
            <a:pPr algn="ctr">
              <a:defRPr sz="1400" b="0" i="0">
                <a:solidFill>
                  <a:srgbClr val="888888"/>
                </a:solidFill>
                <a:latin typeface="Consolas"/>
              </a:defRPr>
            </a:pPr>
            <a:r>
              <a:t>peterhiggins2016@gmail.com</a:t>
            </a:r>
          </a:p>
        </p:txBody>
      </p:sp>
      <p:sp>
        <p:nvSpPr>
          <p:cNvPr id="10" name="TextBox 9"/>
          <p:cNvSpPr txBox="1"/>
          <p:nvPr/>
        </p:nvSpPr>
        <p:spPr>
          <a:xfrm>
            <a:off x="1371600" y="5852160"/>
            <a:ext cx="9144000" cy="365760"/>
          </a:xfrm>
          <a:prstGeom prst="rect">
            <a:avLst/>
          </a:prstGeom>
          <a:noFill/>
        </p:spPr>
        <p:txBody>
          <a:bodyPr wrap="square">
            <a:spAutoFit/>
          </a:bodyPr>
          <a:lstStyle/>
          <a:p>
            <a:pPr algn="ctr">
              <a:defRPr sz="1200" b="0" i="0">
                <a:solidFill>
                  <a:srgbClr val="666677"/>
                </a:solidFill>
                <a:latin typeface="Calibri"/>
              </a:defRPr>
            </a:pPr>
            <a:r>
              <a:t>Peter Higgins · CoDaWork 2026 · Coimbra, Portugal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