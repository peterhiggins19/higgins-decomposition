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r>
              <a:rPr sz="900" b="0" i="0" u="none" strike="noStrike">
                <a:solidFill>
                  <a:srgbClr val="666666"/>
                </a:solidFill>
                <a:latin typeface="Arial"/>
              </a:rPr>
              <a:t>Germany 2020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Bio</c:v>
                  </c:pt>
                  <c:pt idx="1">
                    <c:v>Coal</c:v>
                  </c:pt>
                  <c:pt idx="2">
                    <c:v>Gas</c:v>
                  </c:pt>
                  <c:pt idx="3">
                    <c:v>Hyd</c:v>
                  </c:pt>
                  <c:pt idx="4">
                    <c:v>Nuc</c:v>
                  </c:pt>
                  <c:pt idx="5">
                    <c:v>OFos</c:v>
                  </c:pt>
                  <c:pt idx="6">
                    <c:v>ORen</c:v>
                  </c:pt>
                  <c:pt idx="7">
                    <c:v>Sol</c:v>
                  </c:pt>
                  <c:pt idx="8">
                    <c:v>Wind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23.6</c:v>
                </c:pt>
                <c:pt idx="2">
                  <c:v>16.8</c:v>
                </c:pt>
                <c:pt idx="3">
                  <c:v>3.3</c:v>
                </c:pt>
                <c:pt idx="4">
                  <c:v>11.4</c:v>
                </c:pt>
                <c:pt idx="5">
                  <c:v>3.8</c:v>
                </c:pt>
                <c:pt idx="6">
                  <c:v>0</c:v>
                </c:pt>
                <c:pt idx="7">
                  <c:v>8.7</c:v>
                </c:pt>
                <c:pt idx="8">
                  <c:v>23.4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r>
              <a:rPr sz="900" b="0" i="0" u="none" strike="noStrike">
                <a:solidFill>
                  <a:srgbClr val="666666"/>
                </a:solidFill>
                <a:latin typeface="Arial"/>
              </a:rPr>
              <a:t>Germany 2020 CLR values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CLR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Bio</c:v>
                  </c:pt>
                  <c:pt idx="1">
                    <c:v>Coal</c:v>
                  </c:pt>
                  <c:pt idx="2">
                    <c:v>Gas</c:v>
                  </c:pt>
                  <c:pt idx="3">
                    <c:v>Hyd</c:v>
                  </c:pt>
                  <c:pt idx="4">
                    <c:v>Nuc</c:v>
                  </c:pt>
                  <c:pt idx="5">
                    <c:v>OFos</c:v>
                  </c:pt>
                  <c:pt idx="6">
                    <c:v>ORen</c:v>
                  </c:pt>
                  <c:pt idx="7">
                    <c:v>Sol</c:v>
                  </c:pt>
                  <c:pt idx="8">
                    <c:v>Wind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1.47</c:v>
                </c:pt>
                <c:pt idx="2">
                  <c:v>1.13</c:v>
                </c:pt>
                <c:pt idx="3">
                  <c:v>-0.5</c:v>
                </c:pt>
                <c:pt idx="4">
                  <c:v>0.74</c:v>
                </c:pt>
                <c:pt idx="5">
                  <c:v>-0.37</c:v>
                </c:pt>
                <c:pt idx="6">
                  <c:v>-4.9</c:v>
                </c:pt>
                <c:pt idx="7">
                  <c:v>0.47</c:v>
                </c:pt>
                <c:pt idx="8">
                  <c:v>1.46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r>
              <a:rPr sz="900" b="0" i="0" u="none" strike="noStrike">
                <a:solidFill>
                  <a:srgbClr val="666666"/>
                </a:solidFill>
                <a:latin typeface="Arial"/>
              </a:rPr>
              <a:t>Germany V(t)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V(t)</c:v>
                </c:pt>
              </c:strCache>
            </c:strRef>
          </c:tx>
          <c:spPr>
            <a:solidFill>
              <a:srgbClr val="1E3A5F"/>
            </a:solidFill>
            <a:ln w="2540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2005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2010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2015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</c:v>
                </c:pt>
                <c:pt idx="1">
                  <c:v>3.24</c:v>
                </c:pt>
                <c:pt idx="2">
                  <c:v>3.05</c:v>
                </c:pt>
                <c:pt idx="3">
                  <c:v>2.69</c:v>
                </c:pt>
                <c:pt idx="4">
                  <c:v>2.41</c:v>
                </c:pt>
                <c:pt idx="5">
                  <c:v>2.23</c:v>
                </c:pt>
                <c:pt idx="6">
                  <c:v>2.1</c:v>
                </c:pt>
                <c:pt idx="7">
                  <c:v>1.99</c:v>
                </c:pt>
                <c:pt idx="8">
                  <c:v>2.71</c:v>
                </c:pt>
                <c:pt idx="9">
                  <c:v>3.15</c:v>
                </c:pt>
                <c:pt idx="10">
                  <c:v>3.45</c:v>
                </c:pt>
                <c:pt idx="11">
                  <c:v>3.6</c:v>
                </c:pt>
                <c:pt idx="12">
                  <c:v>3.71</c:v>
                </c:pt>
                <c:pt idx="13">
                  <c:v>3.84</c:v>
                </c:pt>
                <c:pt idx="14">
                  <c:v>3.93</c:v>
                </c:pt>
                <c:pt idx="15">
                  <c:v>3.99</c:v>
                </c:pt>
                <c:pt idx="16">
                  <c:v>4.02</c:v>
                </c:pt>
                <c:pt idx="17">
                  <c:v>4.02</c:v>
                </c:pt>
                <c:pt idx="18">
                  <c:v>4.01</c:v>
                </c:pt>
                <c:pt idx="19">
                  <c:v>3.99</c:v>
                </c:pt>
                <c:pt idx="20">
                  <c:v>3.97</c:v>
                </c:pt>
                <c:pt idx="21">
                  <c:v>3.94</c:v>
                </c:pt>
                <c:pt idx="22">
                  <c:v>3.9</c:v>
                </c:pt>
                <c:pt idx="23">
                  <c:v>3.9</c:v>
                </c:pt>
                <c:pt idx="24">
                  <c:v>5.28</c:v>
                </c:pt>
                <c:pt idx="25">
                  <c:v>6.43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V(t)</c:v>
                </c:pt>
              </c:strCache>
            </c:strRef>
          </c:tx>
          <c:spPr>
            <a:solidFill>
              <a:srgbClr val="1E3A5F"/>
            </a:solidFill>
            <a:ln w="2540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2005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2010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2015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</c:v>
                </c:pt>
                <c:pt idx="1">
                  <c:v>3.24</c:v>
                </c:pt>
                <c:pt idx="2">
                  <c:v>3.05</c:v>
                </c:pt>
                <c:pt idx="3">
                  <c:v>2.69</c:v>
                </c:pt>
                <c:pt idx="4">
                  <c:v>2.41</c:v>
                </c:pt>
                <c:pt idx="5">
                  <c:v>2.23</c:v>
                </c:pt>
                <c:pt idx="6">
                  <c:v>2.1</c:v>
                </c:pt>
                <c:pt idx="7">
                  <c:v>1.99</c:v>
                </c:pt>
                <c:pt idx="8">
                  <c:v>2.71</c:v>
                </c:pt>
                <c:pt idx="9">
                  <c:v>3.15</c:v>
                </c:pt>
                <c:pt idx="10">
                  <c:v>3.45</c:v>
                </c:pt>
                <c:pt idx="11">
                  <c:v>3.6</c:v>
                </c:pt>
                <c:pt idx="12">
                  <c:v>3.71</c:v>
                </c:pt>
                <c:pt idx="13">
                  <c:v>3.84</c:v>
                </c:pt>
                <c:pt idx="14">
                  <c:v>3.93</c:v>
                </c:pt>
                <c:pt idx="15">
                  <c:v>3.99</c:v>
                </c:pt>
                <c:pt idx="16">
                  <c:v>4.02</c:v>
                </c:pt>
                <c:pt idx="17">
                  <c:v>4.02</c:v>
                </c:pt>
                <c:pt idx="18">
                  <c:v>4.01</c:v>
                </c:pt>
                <c:pt idx="19">
                  <c:v>3.99</c:v>
                </c:pt>
                <c:pt idx="20">
                  <c:v>3.97</c:v>
                </c:pt>
                <c:pt idx="21">
                  <c:v>3.94</c:v>
                </c:pt>
                <c:pt idx="22">
                  <c:v>3.9</c:v>
                </c:pt>
                <c:pt idx="23">
                  <c:v>3.9</c:v>
                </c:pt>
                <c:pt idx="24">
                  <c:v>5.28</c:v>
                </c:pt>
                <c:pt idx="25">
                  <c:v>6.43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Fitted parabola</c:v>
                </c:pt>
              </c:strCache>
            </c:strRef>
          </c:tx>
          <c:spPr>
            <a:solidFill>
              <a:srgbClr val="B85042"/>
            </a:solidFill>
            <a:ln w="254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2005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2010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2015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1.854</c:v>
                </c:pt>
                <c:pt idx="1">
                  <c:v>1.98387</c:v>
                </c:pt>
                <c:pt idx="2">
                  <c:v>2.11348</c:v>
                </c:pt>
                <c:pt idx="3">
                  <c:v>2.24283</c:v>
                </c:pt>
                <c:pt idx="4">
                  <c:v>2.3719200000000003</c:v>
                </c:pt>
                <c:pt idx="5">
                  <c:v>2.50075</c:v>
                </c:pt>
                <c:pt idx="6">
                  <c:v>2.62932</c:v>
                </c:pt>
                <c:pt idx="7">
                  <c:v>2.7576300000000002</c:v>
                </c:pt>
                <c:pt idx="8">
                  <c:v>2.88568</c:v>
                </c:pt>
                <c:pt idx="9">
                  <c:v>3.01347</c:v>
                </c:pt>
                <c:pt idx="10">
                  <c:v>3.141</c:v>
                </c:pt>
                <c:pt idx="11">
                  <c:v>3.2682700000000002</c:v>
                </c:pt>
                <c:pt idx="12">
                  <c:v>3.39528</c:v>
                </c:pt>
                <c:pt idx="13">
                  <c:v>3.52203</c:v>
                </c:pt>
                <c:pt idx="14">
                  <c:v>3.6485200000000004</c:v>
                </c:pt>
                <c:pt idx="15">
                  <c:v>3.77475</c:v>
                </c:pt>
                <c:pt idx="16">
                  <c:v>3.90072</c:v>
                </c:pt>
                <c:pt idx="17">
                  <c:v>4.0264299999999995</c:v>
                </c:pt>
                <c:pt idx="18">
                  <c:v>4.15188</c:v>
                </c:pt>
                <c:pt idx="19">
                  <c:v>4.27707</c:v>
                </c:pt>
                <c:pt idx="20">
                  <c:v>4.402</c:v>
                </c:pt>
                <c:pt idx="21">
                  <c:v>4.52667</c:v>
                </c:pt>
                <c:pt idx="22">
                  <c:v>4.65108</c:v>
                </c:pt>
                <c:pt idx="23">
                  <c:v>4.7752300000000005</c:v>
                </c:pt>
                <c:pt idx="24">
                  <c:v>4.89912</c:v>
                </c:pt>
                <c:pt idx="25">
                  <c:v>5.02275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sec.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Introduce the data. 9 carriers, 26 years, 4 countries. This is compositional data on the 8-simplex.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Step 1: closure. Raw energy generation to proportions. The sum constraint defines the simplex. Total TWh discarded.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Step 2: CLR. Log-ratio to geometric mean. Negative = below average. Positive = above average. Sum always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Classic ternary. BUT this is only one projection of 9-dimensional data. We need the full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The variation matrix reveals which carriers move together and which replace each other. Key finding: Coal-OFos coupled, Nuclear substituting with Solar/Wind.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The variance trajectory: total system dispersion over time. A single curve that summarizes all 9 carriers.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Parabola fit to the trajectory. a&lt;0 = DOME = system converging. Germany is a DOME with moderate fit. The trajectory is the system regime.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Lock detection. The trajectory passes near transcendental constants. Not imposed — emergent from the data. Japan hits ln(10)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Pair stability. Who moves together, who replaces each other. This is the coupling structure of the energy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Amalgamation test. The diagnosis is resolution-independent. The DOME survives dimensional reduction from 9 to 3. This is a structural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EITT. The shape survives temporal compression. This is not a sampling artifact. The DOME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The full pipeline. 8 projections through the same object. Each sees something different, each is blind to something. Together: complete structural reconstruction.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The Higgins Diagram notation. Pure ASCII. One line encodes the entire diagnosis. Works in any language, on any output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The pyramid. Four levels from 8 operational diagrams to 1 apex fingerprint. Each level is a dimensional projection. The mathematics of differential geometry applies: curvature, Gauss-Bonnet, geodesics.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sec. Pause. Let it land. Then switch to the Manifold Projector HTML for 3 minutes of live demo. After demo: 5 min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Compositional Data Analysis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Global Energy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9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Simplex to Manifold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063240"/>
            <a:ext cx="2743200" cy="0"/>
          </a:xfrm>
          <a:prstGeom prst="line">
            <a:avLst/>
          </a:prstGeom>
          <a:noFill/>
          <a:ln w="6350">
            <a:solidFill>
              <a:srgbClr val="B09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918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Higgins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Wave Audio — Markham, Ontario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CoDaWork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Energy Carrier Compositions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energy carriers × 26 years (2000–2025) × 4 countries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9 components on the 8-simplex S⁸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observation is a composition: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(x₁, x₂, …, x₉)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xᵢ &gt; 0 and Σxᵢ = constant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Germany, Japan, UK, France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Renew.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Ember Global Electricity Review 2025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Closure — Raw Counts to Proportions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closure operator S maps absolute values to the unit simplex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0" cy="4572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S(x)ᵢ = xᵢ / Σxⱼ        Σ S(x)ᵢ =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magnitude is discarded.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relative shares remain.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 absolute → relative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Discards: total size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Reveals: share structure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09728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HD-S: ( x₁ x₂ … x₉ )  →  S  →  [ .09 .24 .17 .03 .11 .04 .00 .09 .23 ]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Centred Log-Ratio Transform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CLR maps the curved simplex to flat Euclidean space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clr(x)ᵢ = ln( xᵢ / g(x) )    where g(x) = (∏xⱼ)^(1/D)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property: Σ clrᵢ = 0  (always)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measured against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mean of all components.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 curved simplex → flat ℝᴰ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Discards: curvature constraint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Reveals: displacement from geometric centre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0" y="109728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HD-C: [ x ] → /_\ → &lt; ln(x₁/g) … ln(x₉/g) &gt;    sum = 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CoDa: The Ternary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Amalgamation S⁸ → S²:  {Coal,Gas,OFos} · {Nuclear} · {Bio,Hyd,ORen,Sol,Wind}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ternary diagram is the standard CoDa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for 3-part compositions.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trajectory 2000–2025: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Fossil-dominated → Renewable growth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phase-out visible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this is only ONE projection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9-dimensional object.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flipH="1">
            <a:off x="4572000" y="1463040"/>
            <a:ext cx="1371600" cy="269748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463040"/>
            <a:ext cx="1371600" cy="269748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4160520"/>
            <a:ext cx="27432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143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85436" y="3295360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240884" y="3249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73598" y="3600176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629046" y="35544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82335" y="3788999"/>
            <a:ext cx="128016" cy="12801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037783" y="3743279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9223" y="409651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284671" y="40507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49444" y="3359368"/>
            <a:ext cx="388163" cy="304815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537606" y="3664184"/>
            <a:ext cx="408737" cy="188824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6343" y="3853007"/>
            <a:ext cx="246888" cy="307513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HD-A: S⁸ ⇒ S²   {Fossil} : {Nuclear} : {Renewable}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Variation Matrix: All Pairwise Log-Ratios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D(D−1)/2 = 36 unique pairs ranked by coefficient of variation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73152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ln(xᵢ/xⱼ)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/ OFos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Coupled — co-decline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/ Hydro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Coupled — structural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/ OFos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Coupled — co-decline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/ Hydro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Coupled — structural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/ 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9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Drifting — gas replacing coal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/ 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9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Drifting — both growing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 / 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 — nuclear out, solar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 / 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 — nuclear out, wind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CV &lt; 25%  stable (locked)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CV 25–100%  drifting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CV &gt; 100%  volatile (substituting)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2000–2025. Full variation matrix: 36 pairs.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Cumulative Variance Trajectory V(t)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 CLR dimensions compressed to a single scalar curve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0" cy="4114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V(t) = Σᵢ Var( CLRᵢ, 1…t 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is the heartbeat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compositional system.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 D-dimensional CLR → scalar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Discards: individual carrier identity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Reveals: total system dispersion over time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HD-V: V(t) = 0 → 6.43 over 26 years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Shape Classification — Parabola Fit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 ≈ at² + bt + c    →   System regime diagnosis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/\  DOME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\/ BOWL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≈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 GEODESIC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/\/\  CHAOTIC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DOME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−0.00013, R² = 0.665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846320" y="109728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HD-T: V... ~&gt; (a,b,c)  |&gt;  /\  R²=0.665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Lock Detection — Transcendental Proximity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variance trajectory passes near fundamental constants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certain times t, the cumulative variance V(t)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within δ of transcendental constants: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π, e, ln(2), √2, ln(10), ln(π), φ,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structural addresses on the trajectory.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01168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= 3.142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ln10 = 2.303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ln(π) = 1.145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√2 = 1.414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locks to a different constant.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Japan: δ = 0.000 — exact passage through ln(10)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HD-L: .@.  [@π (0.002)]   lock declaration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Pairwise Log-Ratio Stability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of ln(xᵢ/xⱼ) classifies each pair as stable, drifting, or substituting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CV &lt; 25%        ~  CV 25–100%        #  CV &gt; 100%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stable cluster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7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 = OFos = Hydro = Gas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carriers are structurally coupled.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substitution zone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 # Solar # Wind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is being replaced by Solar and Wind.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drift zone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9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 ~ Gas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gradually replacing coal.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457200"/>
                <a:gridCol w="914400"/>
                <a:gridCol w="457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Stable 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Volatile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= OFos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 # 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= Coal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 # 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= OFos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 # 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 = ORen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#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HD-P: 36 pairs ranked. Projection: D(D−1)/2 ratios → stability list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Amalgamation — Resolution Independence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S⁸ ⇒ S²: Does the diagnosis survive dimensional reduction?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{Coal,Gas,OFos}:{Nuclear}:{Bio,Hyd,ORen,Sol,Wind}  →  Fossil:Nuclear:Renewable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If we coarsen from 9 carriers to 3 groups,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shape classification change?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DOME at S⁸ = DOME at S²: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B7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 AMALGAMATION STABLE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DOME at S⁸ ≠ shape at S²: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 AMALGAMATION SENSITIVE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828800"/>
          <a:ext cx="3474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S⁸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S²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/\ DOME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HD-A: /\ (S⁸) = /\ (S²)  AMALGAMATION STABLE for all countries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Temporal Decimation — EITT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Invariance under Temporal Thinning: is the shape intrinsic?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H(V) ≟ H(V&gt;&gt;2) ≟ H(V&gt;&gt;4) ≟ H(V&gt;&gt;8)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time series by factors of 2, 4, 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Shannon entropy at each resolution.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entropy is invariant: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Shape is intrinsic, not a sampling artifact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entropy changes: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Shape depends on sampling resolution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3736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(original)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(&gt;&gt;2)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(&gt;&gt;4)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8x (&gt;&gt;8)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EITT HOLDS — shape is scale-independent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HD-E: H(V) = H(V&gt;&gt;2) = H(V&gt;&gt;4)  EITT HOLDS — shape is intrinsic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Hˢ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projections through the same compositional object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058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1645920"/>
            <a:ext cx="10058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10058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1892808"/>
            <a:ext cx="2743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892808"/>
            <a:ext cx="2743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097280"/>
            <a:ext cx="100584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1920240"/>
            <a:ext cx="100584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20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2743200"/>
            <a:ext cx="100584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743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0" y="3566160"/>
            <a:ext cx="100584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566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840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0" y="2743200"/>
            <a:ext cx="1005840" cy="502920"/>
          </a:xfrm>
          <a:prstGeom prst="rect">
            <a:avLst/>
          </a:prstGeom>
          <a:solidFill>
            <a:srgbClr val="B0906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743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3017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97680" y="1344168"/>
            <a:ext cx="6400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297680" y="1892808"/>
            <a:ext cx="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297680" y="1344168"/>
            <a:ext cx="548640" cy="5486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297680" y="1892808"/>
            <a:ext cx="548640" cy="27432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297680" y="1892808"/>
            <a:ext cx="548640" cy="109728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297680" y="1892808"/>
            <a:ext cx="548640" cy="19202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943600" y="2990088"/>
            <a:ext cx="6400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x ) → S → C → V → T |&gt; /\   V → L [@π]   V → P [Coal=OFos]   C → A → T   V → E [H=H&gt;&gt;2]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Higgins Diagrams: A Diagrammatic Language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Wordless · International · 7-bit ASCII · Composable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9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Hs( Germany, S⁸ )  |&gt;  /\  @π  Coal=Gas  Nucl#Sol  /\=/\  H=H&gt;&gt;2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/\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 (a &lt;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\/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 (a &gt;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GEODESIC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/\/\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CHAOTIC (low R²)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@π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at 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at 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pair (CV&lt;25%)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pair (CV&gt;100%)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transform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⇒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Approximation (fit)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&gt;&gt;k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 decimation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H( 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Shannon 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line. Any language. Any reader.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Projection Pyramid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of dimensional analysis — from operational to apex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68880" y="1280160"/>
            <a:ext cx="182880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Fingerprint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434840" y="13533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2011680"/>
            <a:ext cx="32918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Portrait · Multi-Country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2084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743200"/>
            <a:ext cx="475488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Shape+Lock · Pairs+Amalg · Traj+EITT · CLR+Pairs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816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474720"/>
            <a:ext cx="6400800" cy="548640"/>
          </a:xfrm>
          <a:prstGeom prst="rect">
            <a:avLst/>
          </a:prstGeom>
          <a:solidFill>
            <a:srgbClr val="B09060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3749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HD-S · HD-C · HD-V · HD-T · HD-L · HD-P · HD-A · HD-E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20840" y="3547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Geometry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1645920"/>
            <a:ext cx="2011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 gᵢⱼ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curvature 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Gauss–Bonnet theorem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∫K·dA = 2πχ(M)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distance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characteristic 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transport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Holonomy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Riemannian manifold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Isoperimetric ratio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is a projection. The pyramid IS the manifold constructor.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— CoDaWork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AA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constructs</a:t>
            </a:r>
            <a:endParaRPr lang="en-US" sz="22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Riemannian manifold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AAA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compositional data.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0" y="2468880"/>
            <a:ext cx="3657600" cy="0"/>
          </a:xfrm>
          <a:prstGeom prst="line">
            <a:avLst/>
          </a:prstGeom>
          <a:noFill/>
          <a:ln w="6350">
            <a:solidFill>
              <a:srgbClr val="B09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  ·  Gaussian curvature  ·  Gauss–Bonnet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distance  ·  Holonomy  ·  Euler characteristic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Hˢ Manifold Projector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Compositional Data Analysis of Global Energy Systems: From Simplex to Manifold</dc:title>
  <dc:subject>PptxGenJS Presentation</dc:subject>
  <dc:creator>Peter Higgins</dc:creator>
  <cp:lastModifiedBy>Peter Higgins</cp:lastModifiedBy>
  <cp:revision>1</cp:revision>
  <dcterms:created xsi:type="dcterms:W3CDTF">2026-04-29T17:01:40Z</dcterms:created>
  <dcterms:modified xsi:type="dcterms:W3CDTF">2026-04-29T17:01:40Z</dcterms:modified>
</cp:coreProperties>
</file>