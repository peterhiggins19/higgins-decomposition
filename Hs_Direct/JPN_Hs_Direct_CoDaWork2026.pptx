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Hˢ Direct — Stage 1 Compositional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Japan EMBER Electricity Generation · 8 Carriers · 26 Years (2000–2025)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9488"/>
                </a:solidFill>
                <a:latin typeface="Calibri"/>
              </a:defRPr>
            </a:pPr>
            <a:r>
              <a:t>Hₛ = 1 − H/ln(D)  ·  Shannon (1948) + Aitchison (1986)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Higgins Scale Ring Classification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3218688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8211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Hs-0 ISOTROPIC  [0.00 – 0.05]</a:t>
            </a:r>
          </a:p>
        </p:txBody>
      </p:sp>
      <p:sp>
        <p:nvSpPr>
          <p:cNvPr id="9" name="Oval 8"/>
          <p:cNvSpPr/>
          <p:nvPr/>
        </p:nvSpPr>
        <p:spPr>
          <a:xfrm>
            <a:off x="859536" y="3419856"/>
            <a:ext cx="109728" cy="109728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Hs-1 TEXTURED  [0.05 – 0.15]</a:t>
            </a:r>
          </a:p>
        </p:txBody>
      </p:sp>
      <p:sp>
        <p:nvSpPr>
          <p:cNvPr id="11" name="Oval 10"/>
          <p:cNvSpPr/>
          <p:nvPr/>
        </p:nvSpPr>
        <p:spPr>
          <a:xfrm>
            <a:off x="859536" y="3621023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8444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Hs-2 STRUCTURED  [0.15 – 0.30]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3822192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8561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Hs-3 POLARISED  [0.30 – 0.50]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" y="4023360"/>
            <a:ext cx="109728" cy="109728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8678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Hs-4 DOMINATED  [0.50 – 0.75]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" y="4224528"/>
            <a:ext cx="109728" cy="109728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8795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Hs-5 COLLAPSED  [0.75 – 0.95]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" y="4425696"/>
            <a:ext cx="109728" cy="109728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Hs-6 SINGULAR  [0.95 – 1.00]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260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Carriers</a:t>
            </a:r>
          </a:p>
        </p:txBody>
      </p:sp>
      <p:sp>
        <p:nvSpPr>
          <p:cNvPr id="22" name="Oval 21"/>
          <p:cNvSpPr/>
          <p:nvPr/>
        </p:nvSpPr>
        <p:spPr>
          <a:xfrm>
            <a:off x="5157216" y="3218688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3182112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Bioenergy</a:t>
            </a:r>
          </a:p>
        </p:txBody>
      </p:sp>
      <p:sp>
        <p:nvSpPr>
          <p:cNvPr id="24" name="Oval 23"/>
          <p:cNvSpPr/>
          <p:nvPr/>
        </p:nvSpPr>
        <p:spPr>
          <a:xfrm>
            <a:off x="5157216" y="341985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338328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6" name="Oval 25"/>
          <p:cNvSpPr/>
          <p:nvPr/>
        </p:nvSpPr>
        <p:spPr>
          <a:xfrm>
            <a:off x="5157216" y="3621023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3584448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8" name="Oval 27"/>
          <p:cNvSpPr/>
          <p:nvPr/>
        </p:nvSpPr>
        <p:spPr>
          <a:xfrm>
            <a:off x="5157216" y="3822192"/>
            <a:ext cx="109728" cy="10972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3785616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30" name="Oval 29"/>
          <p:cNvSpPr/>
          <p:nvPr/>
        </p:nvSpPr>
        <p:spPr>
          <a:xfrm>
            <a:off x="5157216" y="4023360"/>
            <a:ext cx="109728" cy="109728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3986784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Nuclear</a:t>
            </a:r>
          </a:p>
        </p:txBody>
      </p:sp>
      <p:sp>
        <p:nvSpPr>
          <p:cNvPr id="32" name="Oval 31"/>
          <p:cNvSpPr/>
          <p:nvPr/>
        </p:nvSpPr>
        <p:spPr>
          <a:xfrm>
            <a:off x="5157216" y="4224528"/>
            <a:ext cx="109728" cy="109728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4187952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Other Fossil</a:t>
            </a:r>
          </a:p>
        </p:txBody>
      </p:sp>
      <p:sp>
        <p:nvSpPr>
          <p:cNvPr id="34" name="Oval 33"/>
          <p:cNvSpPr/>
          <p:nvPr/>
        </p:nvSpPr>
        <p:spPr>
          <a:xfrm>
            <a:off x="5157216" y="4425696"/>
            <a:ext cx="109728" cy="10972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4389120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6" name="Oval 35"/>
          <p:cNvSpPr/>
          <p:nvPr/>
        </p:nvSpPr>
        <p:spPr>
          <a:xfrm>
            <a:off x="5157216" y="4626864"/>
            <a:ext cx="109728" cy="10972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4590288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0CCDD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CoDaWork 2026  ·  Peter Higgins  ·  Higgins Coordinate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XY Face — Compositional Plane (Plan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CLR(Hydro) vs CLR(Other Fossil)  ·  167° angular spread  ·  Maximum fan-out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Projection selected by largest directional separation across 26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0"/>
                </a:solidFill>
                <a:latin typeface="Calibri"/>
              </a:defRPr>
            </a:pPr>
            <a:r>
              <a:t>Coal-Gas projection rejected: 8.4° spread — informationally locked at 45°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0"/>
                </a:solidFill>
                <a:latin typeface="Calibri"/>
              </a:defRPr>
            </a:pPr>
            <a:r>
              <a:t>Each composition mapped independently  ·  No point-to-point connections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0.2347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8.40  ·  Dom: Nuclear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773" y="2663452"/>
            <a:ext cx="1587" cy="3402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028" y="2629719"/>
            <a:ext cx="4745" cy="3373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165" y="2596574"/>
            <a:ext cx="7863" cy="3314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8253" y="2564304"/>
            <a:ext cx="10912" cy="3227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4386" y="2533190"/>
            <a:ext cx="13867" cy="3111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67684" y="2503500"/>
            <a:ext cx="16702" cy="2969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48293" y="2475493"/>
            <a:ext cx="19391" cy="2800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26380" y="2449412"/>
            <a:ext cx="21913" cy="2608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2136" y="2425482"/>
            <a:ext cx="24244" cy="2393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75770" y="2403912"/>
            <a:ext cx="26366" cy="2157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47513" y="2384888"/>
            <a:ext cx="28257" cy="1902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657600" y="1589208"/>
            <a:ext cx="673323" cy="1108272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276059" y="1534344"/>
            <a:ext cx="109728" cy="109728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47019" y="2314630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58.7°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0651" y="1424616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(1.19, 1.97)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6310" y="2004358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2.30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58.7°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2.301  (projection radius)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8.400  (full 8D Aitchison)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27% of d_A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2.8° to 2001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46.0° (Gas &gt; Coal)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49" name="Oval 48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59" y="2752344"/>
            <a:ext cx="423589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88981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+2.5</a:t>
            </a:r>
          </a:p>
        </p:txBody>
      </p:sp>
      <p:sp>
        <p:nvSpPr>
          <p:cNvPr id="53" name="Oval 52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2926079"/>
            <a:ext cx="388235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53627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+2.3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59" y="3099815"/>
            <a:ext cx="374538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39930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+2.2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59" y="3273552"/>
            <a:ext cx="330067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95459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+1.97</a:t>
            </a:r>
          </a:p>
        </p:txBody>
      </p:sp>
      <p:sp>
        <p:nvSpPr>
          <p:cNvPr id="65" name="Oval 64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3447287"/>
            <a:ext cx="200530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5922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+1.19</a:t>
            </a:r>
          </a:p>
        </p:txBody>
      </p:sp>
      <p:sp>
        <p:nvSpPr>
          <p:cNvPr id="69" name="Oval 68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59" y="3621024"/>
            <a:ext cx="77537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42929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-0.46</a:t>
            </a:r>
          </a:p>
        </p:txBody>
      </p:sp>
      <p:sp>
        <p:nvSpPr>
          <p:cNvPr id="73" name="Oval 72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59" y="3794760"/>
            <a:ext cx="725022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90414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-4.3</a:t>
            </a:r>
          </a:p>
        </p:txBody>
      </p:sp>
      <p:sp>
        <p:nvSpPr>
          <p:cNvPr id="77" name="Oval 76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-5.4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2000 · XY: CLR(Hydro) vs CLR(Other Fossil) · θ = 58.7°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0.2396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7.65  ·  Dom: Nuclear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797" y="2663707"/>
            <a:ext cx="1563" cy="3377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123" y="2630223"/>
            <a:ext cx="4674" cy="3348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377" y="2597314"/>
            <a:ext cx="7746" cy="3290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8625" y="2565261"/>
            <a:ext cx="10752" cy="3205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4960" y="2534337"/>
            <a:ext cx="13665" cy="3092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68498" y="2504807"/>
            <a:ext cx="16462" cy="2953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49379" y="2476924"/>
            <a:ext cx="19119" cy="2788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27768" y="2450924"/>
            <a:ext cx="21611" cy="26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3848" y="2427032"/>
            <a:ext cx="23920" cy="2389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77824" y="2405450"/>
            <a:ext cx="26024" cy="2158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49919" y="2386363"/>
            <a:ext cx="27905" cy="1908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657600" y="1760574"/>
            <a:ext cx="579156" cy="936906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181892" y="1705710"/>
            <a:ext cx="109728" cy="109728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48140" y="2316631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58.3°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6484" y="1595982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(1.03, 1.66)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4179" y="2117251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58.3°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1.955  (projection radius)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7.650  (full 8D Aitchison)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26% of d_A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2.8° from 2000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1.5° to 2002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45.1° (Gas &gt; Coal)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0" name="Oval 49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59" y="2752344"/>
            <a:ext cx="460452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25844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+2.4</a:t>
            </a:r>
          </a:p>
        </p:txBody>
      </p:sp>
      <p:sp>
        <p:nvSpPr>
          <p:cNvPr id="54" name="Oval 53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59" y="2926079"/>
            <a:ext cx="417648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83040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+2.2</a:t>
            </a:r>
          </a:p>
        </p:txBody>
      </p:sp>
      <p:sp>
        <p:nvSpPr>
          <p:cNvPr id="58" name="Oval 57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59" y="3099815"/>
            <a:ext cx="415684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81076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+2.2</a:t>
            </a:r>
          </a:p>
        </p:txBody>
      </p:sp>
      <p:sp>
        <p:nvSpPr>
          <p:cNvPr id="62" name="Oval 61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59" y="3273552"/>
            <a:ext cx="319432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4824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+1.66</a:t>
            </a:r>
          </a:p>
        </p:txBody>
      </p:sp>
      <p:sp>
        <p:nvSpPr>
          <p:cNvPr id="66" name="Oval 65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37959" y="3447287"/>
            <a:ext cx="197460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62852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+1.03</a:t>
            </a:r>
          </a:p>
        </p:txBody>
      </p:sp>
      <p:sp>
        <p:nvSpPr>
          <p:cNvPr id="70" name="Oval 69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59" y="3621024"/>
            <a:ext cx="115044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80436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-0.60</a:t>
            </a:r>
          </a:p>
        </p:txBody>
      </p:sp>
      <p:sp>
        <p:nvSpPr>
          <p:cNvPr id="74" name="Oval 73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37959" y="3794760"/>
            <a:ext cx="781234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46626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-4.1</a:t>
            </a:r>
          </a:p>
        </p:txBody>
      </p:sp>
      <p:sp>
        <p:nvSpPr>
          <p:cNvPr id="78" name="Oval 77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-4.8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2001 · XY: CLR(Hydro) vs CLR(Other Fossil) · θ = 58.3°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0.2348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7.19  ·  Dom: Nuclear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889" y="2664716"/>
            <a:ext cx="1471" cy="3276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490" y="2632215"/>
            <a:ext cx="4399" cy="3250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10197" y="2600239"/>
            <a:ext cx="7293" cy="3197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4000069" y="2569046"/>
            <a:ext cx="10128" cy="3119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7187" y="2538884"/>
            <a:ext cx="12882" cy="3016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71656" y="2509998"/>
            <a:ext cx="15531" cy="2888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53599" y="2482620"/>
            <a:ext cx="18057" cy="2737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33162" y="2456968"/>
            <a:ext cx="20437" cy="2565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10510" y="2433251"/>
            <a:ext cx="22652" cy="2371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85824" y="2411658"/>
            <a:ext cx="24686" cy="2159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59304" y="2392363"/>
            <a:ext cx="26520" cy="1929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31161" y="2375522"/>
            <a:ext cx="28143" cy="1684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657600" y="1763788"/>
            <a:ext cx="503337" cy="933692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106073" y="1708924"/>
            <a:ext cx="109728" cy="109728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9341" y="2301383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61.7°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0665" y="1599196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(0.89, 1.66)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11672" y="2107616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61.7°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1.882  (projection radius)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7.194  (full 8D Aitchison)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26% of d_A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1.5° from 2001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3.8° to 2003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44.4° (Coal &gt; Gas)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1" name="Oval 50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7959" y="2752344"/>
            <a:ext cx="469715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35107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+2.3</a:t>
            </a:r>
          </a:p>
        </p:txBody>
      </p:sp>
      <p:sp>
        <p:nvSpPr>
          <p:cNvPr id="55" name="Oval 54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59" y="2926079"/>
            <a:ext cx="433729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9121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+2.1</a:t>
            </a:r>
          </a:p>
        </p:txBody>
      </p:sp>
      <p:sp>
        <p:nvSpPr>
          <p:cNvPr id="59" name="Oval 58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7959" y="3099815"/>
            <a:ext cx="424331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89723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+2.0</a:t>
            </a:r>
          </a:p>
        </p:txBody>
      </p:sp>
      <p:sp>
        <p:nvSpPr>
          <p:cNvPr id="63" name="Oval 62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37959" y="3273552"/>
            <a:ext cx="345306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10698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+1.66</a:t>
            </a:r>
          </a:p>
        </p:txBody>
      </p:sp>
      <p:sp>
        <p:nvSpPr>
          <p:cNvPr id="67" name="Oval 66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37959" y="3447287"/>
            <a:ext cx="186149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51541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+0.89</a:t>
            </a:r>
          </a:p>
        </p:txBody>
      </p:sp>
      <p:sp>
        <p:nvSpPr>
          <p:cNvPr id="71" name="Oval 70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37959" y="3621024"/>
            <a:ext cx="138908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04300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-0.67</a:t>
            </a:r>
          </a:p>
        </p:txBody>
      </p:sp>
      <p:sp>
        <p:nvSpPr>
          <p:cNvPr id="75" name="Oval 74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59" y="3794760"/>
            <a:ext cx="805923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71315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-3.9</a:t>
            </a:r>
          </a:p>
        </p:txBody>
      </p:sp>
      <p:sp>
        <p:nvSpPr>
          <p:cNvPr id="79" name="Oval 78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-4.4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2002 · XY: CLR(Hydro) vs CLR(Other Fossil) · θ = 61.7°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0.2228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6.59  ·  Dom: Coal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934" y="2665221"/>
            <a:ext cx="1426" cy="3225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670" y="2633215"/>
            <a:ext cx="4264" cy="3200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10599" y="2601709"/>
            <a:ext cx="7071" cy="3150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4000777" y="2570949"/>
            <a:ext cx="9822" cy="3076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8280" y="2541176"/>
            <a:ext cx="12497" cy="2977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73206" y="2512621"/>
            <a:ext cx="15074" cy="2855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55673" y="2485506"/>
            <a:ext cx="17533" cy="2711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35816" y="2460044"/>
            <a:ext cx="19857" cy="2546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13792" y="2436432"/>
            <a:ext cx="22024" cy="2361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89770" y="2414854"/>
            <a:ext cx="24022" cy="2157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63940" y="2395479"/>
            <a:ext cx="25830" cy="1937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36501" y="2378458"/>
            <a:ext cx="27439" cy="1702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657600" y="1806280"/>
            <a:ext cx="499767" cy="89120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102503" y="175141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41861" y="230564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60.7°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7095" y="1641688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(0.89, 1.58)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07517" y="2138573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1.81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60.7°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1.813  (projection radius)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6.587  (full 8D Aitchison)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28% of d_A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3.8° from 2002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3.3° to 2004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44.0° (Coal &gt; Gas)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1" name="Oval 50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7959" y="2752344"/>
            <a:ext cx="486797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52189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+2.0</a:t>
            </a:r>
          </a:p>
        </p:txBody>
      </p:sp>
      <p:sp>
        <p:nvSpPr>
          <p:cNvPr id="55" name="Oval 54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59" y="2926079"/>
            <a:ext cx="470756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36148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+1.97</a:t>
            </a:r>
          </a:p>
        </p:txBody>
      </p:sp>
      <p:sp>
        <p:nvSpPr>
          <p:cNvPr id="59" name="Oval 58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7959" y="3099815"/>
            <a:ext cx="429793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95185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+1.80</a:t>
            </a:r>
          </a:p>
        </p:txBody>
      </p:sp>
      <p:sp>
        <p:nvSpPr>
          <p:cNvPr id="63" name="Oval 62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37959" y="3273552"/>
            <a:ext cx="377962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3354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+1.58</a:t>
            </a:r>
          </a:p>
        </p:txBody>
      </p:sp>
      <p:sp>
        <p:nvSpPr>
          <p:cNvPr id="67" name="Oval 66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37959" y="3447287"/>
            <a:ext cx="211954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77346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+0.89</a:t>
            </a:r>
          </a:p>
        </p:txBody>
      </p:sp>
      <p:sp>
        <p:nvSpPr>
          <p:cNvPr id="71" name="Oval 70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37959" y="3621024"/>
            <a:ext cx="180734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46126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-0.76</a:t>
            </a:r>
          </a:p>
        </p:txBody>
      </p:sp>
      <p:sp>
        <p:nvSpPr>
          <p:cNvPr id="75" name="Oval 74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59" y="3794760"/>
            <a:ext cx="882129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47521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-3.7</a:t>
            </a:r>
          </a:p>
        </p:txBody>
      </p:sp>
      <p:sp>
        <p:nvSpPr>
          <p:cNvPr id="79" name="Oval 78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2003 · XY: CLR(Hydro) vs CLR(Other Fossil) · θ = 60.7°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0.2253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6.14  ·  Dom: Coal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919" y="2665050"/>
            <a:ext cx="1441" cy="3243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609" y="2632875"/>
            <a:ext cx="4310" cy="3217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10463" y="2601210"/>
            <a:ext cx="7146" cy="3166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4000537" y="2570303"/>
            <a:ext cx="9926" cy="3090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7911" y="2540397"/>
            <a:ext cx="12626" cy="2990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72682" y="2511729"/>
            <a:ext cx="15229" cy="2866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54972" y="2484524"/>
            <a:ext cx="17710" cy="2720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34919" y="2458997"/>
            <a:ext cx="20053" cy="2552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12682" y="2435347"/>
            <a:ext cx="22237" cy="2365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88436" y="2413763"/>
            <a:ext cx="24246" cy="2158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62371" y="2394414"/>
            <a:ext cx="26065" cy="1934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34694" y="2377451"/>
            <a:ext cx="27677" cy="1696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657600" y="1920960"/>
            <a:ext cx="429703" cy="77652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032439" y="186609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41009" y="2304195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61.0°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97031" y="1756368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(0.76, 1.38)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2604" y="2211985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61.0°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1.575  (projection radius)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6.137  (full 8D Aitchison)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26% of d_A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3.3° from 2003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2.5° to 2005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42.9° (Coal &gt; Gas)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1" name="Oval 50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7959" y="2752344"/>
            <a:ext cx="502543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67935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+1.93</a:t>
            </a:r>
          </a:p>
        </p:txBody>
      </p:sp>
      <p:sp>
        <p:nvSpPr>
          <p:cNvPr id="55" name="Oval 54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59" y="2926079"/>
            <a:ext cx="494024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9416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+1.90</a:t>
            </a:r>
          </a:p>
        </p:txBody>
      </p:sp>
      <p:sp>
        <p:nvSpPr>
          <p:cNvPr id="59" name="Oval 58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7959" y="3099815"/>
            <a:ext cx="467211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32603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+1.80</a:t>
            </a:r>
          </a:p>
        </p:txBody>
      </p:sp>
      <p:sp>
        <p:nvSpPr>
          <p:cNvPr id="63" name="Oval 62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37959" y="3273552"/>
            <a:ext cx="358329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23721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+1.38</a:t>
            </a:r>
          </a:p>
        </p:txBody>
      </p:sp>
      <p:sp>
        <p:nvSpPr>
          <p:cNvPr id="67" name="Oval 66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37959" y="3447287"/>
            <a:ext cx="198288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63680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+0.76</a:t>
            </a:r>
          </a:p>
        </p:txBody>
      </p:sp>
      <p:sp>
        <p:nvSpPr>
          <p:cNvPr id="71" name="Oval 70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37959" y="3621024"/>
            <a:ext cx="224262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89654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-0.86</a:t>
            </a:r>
          </a:p>
        </p:txBody>
      </p:sp>
      <p:sp>
        <p:nvSpPr>
          <p:cNvPr id="75" name="Oval 74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59" y="3794760"/>
            <a:ext cx="881734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47126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-3.4</a:t>
            </a:r>
          </a:p>
        </p:txBody>
      </p:sp>
      <p:sp>
        <p:nvSpPr>
          <p:cNvPr id="79" name="Oval 78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2004 · XY: CLR(Hydro) vs CLR(Other Fossil) · θ = 61.0°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0.2276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5.84  ·  Dom: Coal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754" y="2663251"/>
            <a:ext cx="1606" cy="3422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6953" y="2629323"/>
            <a:ext cx="4801" cy="3392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8998" y="2595993"/>
            <a:ext cx="7955" cy="3333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7959" y="2563554"/>
            <a:ext cx="11039" cy="3243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3932" y="2532291"/>
            <a:ext cx="14027" cy="3126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67041" y="2502477"/>
            <a:ext cx="16891" cy="2981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47435" y="2474375"/>
            <a:ext cx="19606" cy="2810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25284" y="2448230"/>
            <a:ext cx="22151" cy="2614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0785" y="2424274"/>
            <a:ext cx="24499" cy="2395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74150" y="2402715"/>
            <a:ext cx="26635" cy="2155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45616" y="2383743"/>
            <a:ext cx="28534" cy="1897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15431" y="2367525"/>
            <a:ext cx="30185" cy="1621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783860" y="2354203"/>
            <a:ext cx="31571" cy="1332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657600" y="1922887"/>
            <a:ext cx="284903" cy="774593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887639" y="1868023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6447" y="226595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69.8°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5322" y="1561780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(0.51, 1.37)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3015" y="2181467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1.46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69.8°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1.465  (projection radius)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5.843  (full 8D Aitchison)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25% of d_A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2.5° from 2004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2.7° to 2006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41.3° (Coal &gt; Gas)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2" name="Oval 51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59" y="2752344"/>
            <a:ext cx="523104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88496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+1.92</a:t>
            </a:r>
          </a:p>
        </p:txBody>
      </p:sp>
      <p:sp>
        <p:nvSpPr>
          <p:cNvPr id="56" name="Oval 55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59" y="2926079"/>
            <a:ext cx="499812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65204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+1.83</a:t>
            </a:r>
          </a:p>
        </p:txBody>
      </p:sp>
      <p:sp>
        <p:nvSpPr>
          <p:cNvPr id="60" name="Oval 59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59" y="3099815"/>
            <a:ext cx="459888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25280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+1.69</a:t>
            </a:r>
          </a:p>
        </p:txBody>
      </p:sp>
      <p:sp>
        <p:nvSpPr>
          <p:cNvPr id="64" name="Oval 63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59" y="3273552"/>
            <a:ext cx="374448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39840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+1.37</a:t>
            </a:r>
          </a:p>
        </p:txBody>
      </p:sp>
      <p:sp>
        <p:nvSpPr>
          <p:cNvPr id="68" name="Oval 67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59" y="3447287"/>
            <a:ext cx="137726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03118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+0.51</a:t>
            </a:r>
          </a:p>
        </p:txBody>
      </p:sp>
      <p:sp>
        <p:nvSpPr>
          <p:cNvPr id="72" name="Oval 71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59" y="3621024"/>
            <a:ext cx="209362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74754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-0.77</a:t>
            </a:r>
          </a:p>
        </p:txBody>
      </p:sp>
      <p:sp>
        <p:nvSpPr>
          <p:cNvPr id="76" name="Oval 75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59" y="3794760"/>
            <a:ext cx="871218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36610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-3.2</a:t>
            </a:r>
          </a:p>
        </p:txBody>
      </p:sp>
      <p:sp>
        <p:nvSpPr>
          <p:cNvPr id="80" name="Oval 79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2005 · XY: CLR(Hydro) vs CLR(Other Fossil) · θ = 69.8°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0.2275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5.67  ·  Dom: Coal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845" y="2664228"/>
            <a:ext cx="1515" cy="3325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314" y="2631253"/>
            <a:ext cx="4531" cy="3297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804" y="2598826"/>
            <a:ext cx="7510" cy="3242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9377" y="2567216"/>
            <a:ext cx="10427" cy="3161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6119" y="2536684"/>
            <a:ext cx="13258" cy="3053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70141" y="2507484"/>
            <a:ext cx="15978" cy="292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51575" y="2479858"/>
            <a:ext cx="18566" cy="2762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30573" y="2454034"/>
            <a:ext cx="21002" cy="2582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7312" y="2430226"/>
            <a:ext cx="23261" cy="2380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81982" y="2408632"/>
            <a:ext cx="25330" cy="2159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54794" y="2389430"/>
            <a:ext cx="27188" cy="1920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25973" y="2372778"/>
            <a:ext cx="28821" cy="1665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657600" y="2051640"/>
            <a:ext cx="334898" cy="64584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937634" y="199677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6880" y="2297298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62.6°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6108" y="1736125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(0.59, 1.15)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3902" y="2291477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62.6°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1.291  (projection radius)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5.675  (full 8D Aitchison)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23% of d_A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2.7° from 2005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3.2° to 2007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43.3° (Coal &gt; Gas)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1" name="Oval 50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7959" y="2752344"/>
            <a:ext cx="528433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93825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+1.85</a:t>
            </a:r>
          </a:p>
        </p:txBody>
      </p:sp>
      <p:sp>
        <p:nvSpPr>
          <p:cNvPr id="55" name="Oval 54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59" y="2926079"/>
            <a:ext cx="521886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7278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+1.83</a:t>
            </a:r>
          </a:p>
        </p:txBody>
      </p:sp>
      <p:sp>
        <p:nvSpPr>
          <p:cNvPr id="59" name="Oval 58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7959" y="3099815"/>
            <a:ext cx="498148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63540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+1.74</a:t>
            </a:r>
          </a:p>
        </p:txBody>
      </p:sp>
      <p:sp>
        <p:nvSpPr>
          <p:cNvPr id="63" name="Oval 62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37959" y="3273552"/>
            <a:ext cx="327612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93004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+1.15</a:t>
            </a:r>
          </a:p>
        </p:txBody>
      </p:sp>
      <p:sp>
        <p:nvSpPr>
          <p:cNvPr id="67" name="Oval 66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37959" y="3447287"/>
            <a:ext cx="169882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35274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+0.59</a:t>
            </a:r>
          </a:p>
        </p:txBody>
      </p:sp>
      <p:sp>
        <p:nvSpPr>
          <p:cNvPr id="71" name="Oval 70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37959" y="3621024"/>
            <a:ext cx="235164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00556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-0.82</a:t>
            </a:r>
          </a:p>
        </p:txBody>
      </p:sp>
      <p:sp>
        <p:nvSpPr>
          <p:cNvPr id="75" name="Oval 74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59" y="3794760"/>
            <a:ext cx="896399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61791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-3.1</a:t>
            </a:r>
          </a:p>
        </p:txBody>
      </p:sp>
      <p:sp>
        <p:nvSpPr>
          <p:cNvPr id="79" name="Oval 78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2006 · XY: CLR(Hydro) vs CLR(Other Fossil) · θ = 62.6°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0.2270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5.47  ·  Dom: Coal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804" y="2663781"/>
            <a:ext cx="1556" cy="3369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150" y="2630369"/>
            <a:ext cx="4654" cy="3341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437" y="2597527"/>
            <a:ext cx="7713" cy="3284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8732" y="2565536"/>
            <a:ext cx="10705" cy="3199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5125" y="2534668"/>
            <a:ext cx="13607" cy="3086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68731" y="2505184"/>
            <a:ext cx="16394" cy="2948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49691" y="2477337"/>
            <a:ext cx="19040" cy="2784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28166" y="2451361"/>
            <a:ext cx="21525" cy="2597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4340" y="2427480"/>
            <a:ext cx="23826" cy="2388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78414" y="2405895"/>
            <a:ext cx="25926" cy="2158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50610" y="2386791"/>
            <a:ext cx="27804" cy="1910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21164" y="2370330"/>
            <a:ext cx="29446" cy="1646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790327" y="2356651"/>
            <a:ext cx="30837" cy="1367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3758361" y="2345872"/>
            <a:ext cx="31966" cy="1077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57600" y="1978420"/>
            <a:ext cx="206063" cy="71906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08799" y="192355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3648" y="2248307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74.0°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3268" y="1630850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(0.37, 1.28)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6975" y="2201627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74.0°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1.327  (projection radius)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5.473  (full 8D Aitchison)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24% of d_A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3.2° from 2006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2.0° to 2008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43.9° (Coal &gt; Gas)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3" name="Oval 52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2752344"/>
            <a:ext cx="533883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99275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+1.81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59" y="2926079"/>
            <a:ext cx="514274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79666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+1.75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59" y="3099815"/>
            <a:ext cx="496039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61431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+1.69</a:t>
            </a:r>
          </a:p>
        </p:txBody>
      </p:sp>
      <p:sp>
        <p:nvSpPr>
          <p:cNvPr id="65" name="Oval 64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3273552"/>
            <a:ext cx="375437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0829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+1.28</a:t>
            </a:r>
          </a:p>
        </p:txBody>
      </p:sp>
      <p:sp>
        <p:nvSpPr>
          <p:cNvPr id="69" name="Oval 68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59" y="3447287"/>
            <a:ext cx="107590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2982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+0.37</a:t>
            </a:r>
          </a:p>
        </p:txBody>
      </p:sp>
      <p:sp>
        <p:nvSpPr>
          <p:cNvPr id="73" name="Oval 72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59" y="3621024"/>
            <a:ext cx="248650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14042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-0.85</a:t>
            </a:r>
          </a:p>
        </p:txBody>
      </p:sp>
      <p:sp>
        <p:nvSpPr>
          <p:cNvPr id="77" name="Oval 76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59" y="3794760"/>
            <a:ext cx="864175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29567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-2.9</a:t>
            </a:r>
          </a:p>
        </p:txBody>
      </p:sp>
      <p:sp>
        <p:nvSpPr>
          <p:cNvPr id="81" name="Oval 80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2007 · XY: CLR(Hydro) vs CLR(Other Fossil) · θ = 74.0°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0.2323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5.38  ·  Dom: Coal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842" y="2664200"/>
            <a:ext cx="1518" cy="3328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303" y="2631196"/>
            <a:ext cx="4539" cy="3300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780" y="2598742"/>
            <a:ext cx="7523" cy="3245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9336" y="2567108"/>
            <a:ext cx="10444" cy="3163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6056" y="2536555"/>
            <a:ext cx="13280" cy="3055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70051" y="2507337"/>
            <a:ext cx="16005" cy="2921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51454" y="2479696"/>
            <a:ext cx="18597" cy="2764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30420" y="2453862"/>
            <a:ext cx="21034" cy="2583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7122" y="2430049"/>
            <a:ext cx="23298" cy="2381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81754" y="2408455"/>
            <a:ext cx="25368" cy="2159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54527" y="2389259"/>
            <a:ext cx="27227" cy="1919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25665" y="2372619"/>
            <a:ext cx="28862" cy="1664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795410" y="2358675"/>
            <a:ext cx="30255" cy="139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3764011" y="2347541"/>
            <a:ext cx="31399" cy="1113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57600" y="2029735"/>
            <a:ext cx="203052" cy="667745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05788" y="1974871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6514" y="2252141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73.1°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1472" y="1698185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(0.36, 1.19)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3975" y="2238513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73.1°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1.239  (projection radius)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5.376  (full 8D Aitchison)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23% of d_A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2.0° from 2007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5.3° to 2009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44.6° (Coal &gt; Gas)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3" name="Oval 52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2752344"/>
            <a:ext cx="562748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28140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+1.85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59" y="2926079"/>
            <a:ext cx="554558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19950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+1.82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59" y="3099815"/>
            <a:ext cx="477059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2451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+1.57</a:t>
            </a:r>
          </a:p>
        </p:txBody>
      </p:sp>
      <p:sp>
        <p:nvSpPr>
          <p:cNvPr id="65" name="Oval 64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3273552"/>
            <a:ext cx="360280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25672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+1.19</a:t>
            </a:r>
          </a:p>
        </p:txBody>
      </p:sp>
      <p:sp>
        <p:nvSpPr>
          <p:cNvPr id="69" name="Oval 68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59" y="3447287"/>
            <a:ext cx="109556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4948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+0.36</a:t>
            </a:r>
          </a:p>
        </p:txBody>
      </p:sp>
      <p:sp>
        <p:nvSpPr>
          <p:cNvPr id="73" name="Oval 72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59" y="3621024"/>
            <a:ext cx="273939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39331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-0.90</a:t>
            </a:r>
          </a:p>
        </p:txBody>
      </p:sp>
      <p:sp>
        <p:nvSpPr>
          <p:cNvPr id="77" name="Oval 76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59" y="3794760"/>
            <a:ext cx="875863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41255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-2.9</a:t>
            </a:r>
          </a:p>
        </p:txBody>
      </p:sp>
      <p:sp>
        <p:nvSpPr>
          <p:cNvPr id="81" name="Oval 80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-3.0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2008 · XY: CLR(Hydro) vs CLR(Other Fossil) · θ = 73.1°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0.2471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5.12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934" y="2665223"/>
            <a:ext cx="1426" cy="3225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670" y="2633219"/>
            <a:ext cx="4264" cy="3200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10600" y="2601715"/>
            <a:ext cx="7070" cy="3150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4000779" y="2570957"/>
            <a:ext cx="9821" cy="3075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8284" y="2541185"/>
            <a:ext cx="12495" cy="2977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73212" y="2512631"/>
            <a:ext cx="15072" cy="2855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55681" y="2485518"/>
            <a:ext cx="17531" cy="2711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35827" y="2460056"/>
            <a:ext cx="19854" cy="2546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13804" y="2436444"/>
            <a:ext cx="22023" cy="2361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89786" y="2414867"/>
            <a:ext cx="24018" cy="2157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63958" y="2395492"/>
            <a:ext cx="25828" cy="1937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36521" y="2378470"/>
            <a:ext cx="27437" cy="1702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807691" y="2363934"/>
            <a:ext cx="28830" cy="1453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657600" y="2286112"/>
            <a:ext cx="185110" cy="411368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787846" y="2231248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8112" y="2283317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65.8°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4040" y="1994259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(0.33, 0.73)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12067" y="2432457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0.80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65.8°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0.801  (projection radius)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5.122  (full 8D Aitchison)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16% of d_A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5.3° from 2008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2.4° to 2010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45.6° (Gas &gt; Coal)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2" name="Oval 51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59" y="2752344"/>
            <a:ext cx="603722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69114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+1.86</a:t>
            </a:r>
          </a:p>
        </p:txBody>
      </p:sp>
      <p:sp>
        <p:nvSpPr>
          <p:cNvPr id="56" name="Oval 55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59" y="2926079"/>
            <a:ext cx="590809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56201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+1.82</a:t>
            </a:r>
          </a:p>
        </p:txBody>
      </p:sp>
      <p:sp>
        <p:nvSpPr>
          <p:cNvPr id="60" name="Oval 59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59" y="3099815"/>
            <a:ext cx="549257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14649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+1.69</a:t>
            </a:r>
          </a:p>
        </p:txBody>
      </p:sp>
      <p:sp>
        <p:nvSpPr>
          <p:cNvPr id="64" name="Oval 63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59" y="3273552"/>
            <a:ext cx="237432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02824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+0.73</a:t>
            </a:r>
          </a:p>
        </p:txBody>
      </p:sp>
      <p:sp>
        <p:nvSpPr>
          <p:cNvPr id="68" name="Oval 67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59" y="3447287"/>
            <a:ext cx="106841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2233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+0.33</a:t>
            </a:r>
          </a:p>
        </p:txBody>
      </p:sp>
      <p:sp>
        <p:nvSpPr>
          <p:cNvPr id="72" name="Oval 71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59" y="3621024"/>
            <a:ext cx="297450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62842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-0.91</a:t>
            </a:r>
          </a:p>
        </p:txBody>
      </p:sp>
      <p:sp>
        <p:nvSpPr>
          <p:cNvPr id="76" name="Oval 75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59" y="3794760"/>
            <a:ext cx="876211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41603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-2.7</a:t>
            </a:r>
          </a:p>
        </p:txBody>
      </p:sp>
      <p:sp>
        <p:nvSpPr>
          <p:cNvPr id="80" name="Oval 79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2009 · XY: CLR(Hydro) vs CLR(Other Fossil) · θ = 65.8°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0.2379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4.93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807" y="2663814"/>
            <a:ext cx="1553" cy="3366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162" y="2630434"/>
            <a:ext cx="4645" cy="3338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465" y="2597623"/>
            <a:ext cx="7697" cy="3281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8780" y="2565660"/>
            <a:ext cx="10685" cy="3196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5198" y="2534816"/>
            <a:ext cx="13582" cy="308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68835" y="2505353"/>
            <a:ext cx="16363" cy="2946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49830" y="2477521"/>
            <a:ext cx="19005" cy="2783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28344" y="2451557"/>
            <a:ext cx="21486" cy="2596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4559" y="2427680"/>
            <a:ext cx="23785" cy="2387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78677" y="2406095"/>
            <a:ext cx="25882" cy="2158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657600" y="2354510"/>
            <a:ext cx="260215" cy="34297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862951" y="2299646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61347" y="2341711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52.8°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1258" y="2099549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(0.46, 0.61)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4535" y="2521283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0.76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52.8°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0.764  (projection radius)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4.935  (full 8D Aitchison)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15% of d_A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2.4° from 2009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9.4° to 2011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45.5° (Gas &gt; Coal)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49" name="Oval 48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59" y="2752344"/>
            <a:ext cx="608768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4160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+1.77</a:t>
            </a:r>
          </a:p>
        </p:txBody>
      </p:sp>
      <p:sp>
        <p:nvSpPr>
          <p:cNvPr id="53" name="Oval 52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2926079"/>
            <a:ext cx="598859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64251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+1.74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59" y="3099815"/>
            <a:ext cx="571128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6520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+1.66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59" y="3273552"/>
            <a:ext cx="209817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75209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+0.61</a:t>
            </a:r>
          </a:p>
        </p:txBody>
      </p:sp>
      <p:sp>
        <p:nvSpPr>
          <p:cNvPr id="65" name="Oval 64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3447287"/>
            <a:ext cx="159191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4583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+0.46</a:t>
            </a:r>
          </a:p>
        </p:txBody>
      </p:sp>
      <p:sp>
        <p:nvSpPr>
          <p:cNvPr id="69" name="Oval 68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59" y="3621024"/>
            <a:ext cx="323322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88714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-0.94</a:t>
            </a:r>
          </a:p>
        </p:txBody>
      </p:sp>
      <p:sp>
        <p:nvSpPr>
          <p:cNvPr id="73" name="Oval 72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59" y="3794760"/>
            <a:ext cx="910041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75433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-2.6</a:t>
            </a:r>
          </a:p>
        </p:txBody>
      </p:sp>
      <p:sp>
        <p:nvSpPr>
          <p:cNvPr id="77" name="Oval 76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2010 · XY: CLR(Hydro) vs CLR(Other Fossil) · θ = 52.8°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0.2309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4.64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930" y="2665172"/>
            <a:ext cx="1430" cy="3230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652" y="2633116"/>
            <a:ext cx="4278" cy="3205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10559" y="2601564"/>
            <a:ext cx="7093" cy="3155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4000707" y="2570762"/>
            <a:ext cx="9852" cy="3080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8173" y="2540950"/>
            <a:ext cx="12534" cy="2981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73055" y="2512363"/>
            <a:ext cx="15118" cy="2858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55470" y="2485222"/>
            <a:ext cx="17585" cy="2714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35557" y="2459740"/>
            <a:ext cx="19913" cy="2548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13471" y="2436117"/>
            <a:ext cx="22086" cy="2362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89385" y="2414538"/>
            <a:ext cx="24086" cy="2157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63486" y="2395170"/>
            <a:ext cx="25899" cy="1936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35978" y="2378165"/>
            <a:ext cx="27508" cy="1700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807076" y="2363657"/>
            <a:ext cx="28902" cy="1450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3777005" y="2351759"/>
            <a:ext cx="30071" cy="1189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57600" y="2111909"/>
            <a:ext cx="202244" cy="585571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04980" y="2057045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13040" y="2261121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70.9°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5295" y="1806592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(0.36, 1.04)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814" y="2300047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70.9°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1.099  (projection radius)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4.640  (full 8D Aitchison)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24% of d_A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9.4° from 2010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44336"/>
                </a:solidFill>
                <a:latin typeface="Calibri"/>
              </a:defRPr>
            </a:pPr>
            <a:r>
              <a:t>→ 27.5° to 2012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49.7° (Gas &gt; Coal)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3" name="Oval 52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2752344"/>
            <a:ext cx="674008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39400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+1.89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59" y="2926079"/>
            <a:ext cx="571443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6835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+1.60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59" y="3099815"/>
            <a:ext cx="371519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36911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+1.04</a:t>
            </a:r>
          </a:p>
        </p:txBody>
      </p:sp>
      <p:sp>
        <p:nvSpPr>
          <p:cNvPr id="65" name="Oval 64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3273552"/>
            <a:ext cx="371387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36779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+1.04</a:t>
            </a:r>
          </a:p>
        </p:txBody>
      </p:sp>
      <p:sp>
        <p:nvSpPr>
          <p:cNvPr id="69" name="Oval 68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59" y="3447287"/>
            <a:ext cx="128270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93662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+0.36</a:t>
            </a:r>
          </a:p>
        </p:txBody>
      </p:sp>
      <p:sp>
        <p:nvSpPr>
          <p:cNvPr id="73" name="Oval 72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59" y="3621024"/>
            <a:ext cx="358815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24207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-1.00</a:t>
            </a:r>
          </a:p>
        </p:txBody>
      </p:sp>
      <p:sp>
        <p:nvSpPr>
          <p:cNvPr id="77" name="Oval 76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59" y="3794760"/>
            <a:ext cx="843413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08805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-2.4</a:t>
            </a:r>
          </a:p>
        </p:txBody>
      </p:sp>
      <p:sp>
        <p:nvSpPr>
          <p:cNvPr id="81" name="Oval 80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2011 · XY: CLR(Hydro) vs CLR(Other Fossil) · θ = 70.9°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0.3123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4.63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867" y="2664467"/>
            <a:ext cx="1493" cy="3301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400" y="2631724"/>
            <a:ext cx="4467" cy="3274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997" y="2599518"/>
            <a:ext cx="7403" cy="3220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9717" y="2568111"/>
            <a:ext cx="10280" cy="3140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6644" y="2537760"/>
            <a:ext cx="13073" cy="3035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70885" y="2508714"/>
            <a:ext cx="15759" cy="2904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52569" y="2481208"/>
            <a:ext cx="18316" cy="2750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31845" y="2455467"/>
            <a:ext cx="20724" cy="2574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8882" y="2431702"/>
            <a:ext cx="22963" cy="2376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83868" y="2410107"/>
            <a:ext cx="25014" cy="2159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57007" y="2390858"/>
            <a:ext cx="26861" cy="1924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28518" y="2374111"/>
            <a:ext cx="28489" cy="1674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798634" y="2360004"/>
            <a:ext cx="29884" cy="1410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3767599" y="2348652"/>
            <a:ext cx="31035" cy="1135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57600" y="1881599"/>
            <a:ext cx="257280" cy="815881"/>
          </a:xfrm>
          <a:prstGeom prst="line">
            <a:avLst/>
          </a:prstGeom>
          <a:ln w="190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60016" y="1826735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8325" y="2254598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72.5°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4608" y="1717007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(0.46, 1.45)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8529" y="2144467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9800"/>
                </a:solidFill>
                <a:latin typeface="Calibri"/>
              </a:defRPr>
            </a:pPr>
            <a:r>
              <a:t>r = 1.52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72.5°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1.518  (projection radius)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4.631  (full 8D Aitchison)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33% of d_A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44336"/>
                </a:solidFill>
                <a:latin typeface="Calibri"/>
              </a:defRPr>
            </a:pPr>
            <a:r>
              <a:t>← 27.5° from 2011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7.5° to 2013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48.7° (Gas &gt; Coal)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3" name="Oval 52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2752344"/>
            <a:ext cx="856965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22357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+2.2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59" y="2926079"/>
            <a:ext cx="753394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8786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+1.92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59" y="3099815"/>
            <a:ext cx="567111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503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+1.45</a:t>
            </a:r>
          </a:p>
        </p:txBody>
      </p:sp>
      <p:sp>
        <p:nvSpPr>
          <p:cNvPr id="65" name="Oval 64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3273552"/>
            <a:ext cx="178833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44225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+0.46</a:t>
            </a:r>
          </a:p>
        </p:txBody>
      </p:sp>
      <p:sp>
        <p:nvSpPr>
          <p:cNvPr id="69" name="Oval 68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59" y="3447287"/>
            <a:ext cx="310042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75434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-0.79</a:t>
            </a:r>
          </a:p>
        </p:txBody>
      </p:sp>
      <p:sp>
        <p:nvSpPr>
          <p:cNvPr id="73" name="Oval 72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59" y="3621024"/>
            <a:ext cx="391165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56557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-1.00</a:t>
            </a:r>
          </a:p>
        </p:txBody>
      </p:sp>
      <p:sp>
        <p:nvSpPr>
          <p:cNvPr id="77" name="Oval 76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59" y="3794760"/>
            <a:ext cx="740695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06087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-1.89</a:t>
            </a:r>
          </a:p>
        </p:txBody>
      </p:sp>
      <p:sp>
        <p:nvSpPr>
          <p:cNvPr id="81" name="Oval 80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2012 · XY: CLR(Hydro) vs CLR(Other Fossil) · θ = 72.5°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0.3126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4.39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768" y="2663401"/>
            <a:ext cx="1592" cy="3407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009" y="2629618"/>
            <a:ext cx="4759" cy="3378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123" y="2596426"/>
            <a:ext cx="7886" cy="3319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8178" y="2564113"/>
            <a:ext cx="10945" cy="3231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4271" y="2532961"/>
            <a:ext cx="13907" cy="3115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67521" y="2503240"/>
            <a:ext cx="16750" cy="2972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48075" y="2475208"/>
            <a:ext cx="19446" cy="2803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26102" y="2449111"/>
            <a:ext cx="21973" cy="2609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1793" y="2425174"/>
            <a:ext cx="24309" cy="2393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75359" y="2403607"/>
            <a:ext cx="26434" cy="2156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47031" y="2384596"/>
            <a:ext cx="28328" cy="1901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17054" y="2368307"/>
            <a:ext cx="29977" cy="1628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785691" y="2354882"/>
            <a:ext cx="31363" cy="1342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657600" y="2030369"/>
            <a:ext cx="249421" cy="667111"/>
          </a:xfrm>
          <a:prstGeom prst="line">
            <a:avLst/>
          </a:prstGeom>
          <a:ln w="190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852157" y="1975505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7353" y="226725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69.5°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9882" y="1701761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(0.44, 1.18)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59527" y="2252475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9800"/>
                </a:solidFill>
                <a:latin typeface="Calibri"/>
              </a:defRPr>
            </a:pPr>
            <a:r>
              <a:t>r = 1.26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69.5°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1.264  (projection radius)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4.390  (full 8D Aitchison)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29% of d_A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7.5° from 2012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44336"/>
                </a:solidFill>
                <a:latin typeface="Calibri"/>
              </a:defRPr>
            </a:pPr>
            <a:r>
              <a:t>→ 59.2° to 2014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47.2° (Gas &gt; Coal)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2" name="Oval 51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59" y="2752344"/>
            <a:ext cx="843463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8855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+2.1</a:t>
            </a:r>
          </a:p>
        </p:txBody>
      </p:sp>
      <p:sp>
        <p:nvSpPr>
          <p:cNvPr id="56" name="Oval 55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59" y="2926079"/>
            <a:ext cx="781499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46891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+1.96</a:t>
            </a:r>
          </a:p>
        </p:txBody>
      </p:sp>
      <p:sp>
        <p:nvSpPr>
          <p:cNvPr id="60" name="Oval 59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59" y="3099815"/>
            <a:ext cx="471523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36915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+1.18</a:t>
            </a:r>
          </a:p>
        </p:txBody>
      </p:sp>
      <p:sp>
        <p:nvSpPr>
          <p:cNvPr id="64" name="Oval 63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59" y="3273552"/>
            <a:ext cx="176294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41686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+0.44</a:t>
            </a:r>
          </a:p>
        </p:txBody>
      </p:sp>
      <p:sp>
        <p:nvSpPr>
          <p:cNvPr id="68" name="Oval 67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59" y="3447287"/>
            <a:ext cx="313720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79112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-0.79</a:t>
            </a:r>
          </a:p>
        </p:txBody>
      </p:sp>
      <p:sp>
        <p:nvSpPr>
          <p:cNvPr id="72" name="Oval 71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59" y="3621024"/>
            <a:ext cx="497832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63224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-1.25</a:t>
            </a:r>
          </a:p>
        </p:txBody>
      </p:sp>
      <p:sp>
        <p:nvSpPr>
          <p:cNvPr id="76" name="Oval 75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59" y="3794760"/>
            <a:ext cx="546828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12220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-1.37</a:t>
            </a:r>
          </a:p>
        </p:txBody>
      </p:sp>
      <p:sp>
        <p:nvSpPr>
          <p:cNvPr id="80" name="Oval 79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2013 · XY: CLR(Hydro) vs CLR(Other Fossil) · θ = 69.5°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0.3409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17.28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690" y="2662572"/>
            <a:ext cx="1670" cy="3490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6696" y="2627983"/>
            <a:ext cx="4994" cy="3458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8425" y="2594029"/>
            <a:ext cx="8271" cy="3395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6950" y="2561019"/>
            <a:ext cx="11475" cy="3301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2377" y="2529254"/>
            <a:ext cx="14573" cy="3176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64840" y="2499026"/>
            <a:ext cx="17537" cy="3022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44497" y="2470609"/>
            <a:ext cx="20343" cy="2841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21535" y="2444264"/>
            <a:ext cx="22962" cy="2634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896164" y="2420230"/>
            <a:ext cx="25371" cy="2403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657600" y="1067462"/>
            <a:ext cx="1402578" cy="1630018"/>
          </a:xfrm>
          <a:prstGeom prst="line">
            <a:avLst/>
          </a:prstGeom>
          <a:ln w="190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005314" y="1012598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9221" y="2358199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49.3°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9906" y="902870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(2.49, 2.89)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8237" y="1695631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9800"/>
                </a:solidFill>
                <a:latin typeface="Calibri"/>
              </a:defRPr>
            </a:pPr>
            <a:r>
              <a:t>r = 3.82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49.3°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3.816  (projection radius)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17.277  (full 8D Aitchison)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22% of d_A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44336"/>
                </a:solidFill>
                <a:latin typeface="Calibri"/>
              </a:defRPr>
            </a:pPr>
            <a:r>
              <a:t>← 59.2° from 2013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44336"/>
                </a:solidFill>
                <a:latin typeface="Calibri"/>
              </a:defRPr>
            </a:pPr>
            <a:r>
              <a:t>→ 42.7° to 2015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46.7° (Gas &gt; Coal)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48" name="Oval 47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59" y="2752344"/>
            <a:ext cx="243989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09381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+4.2</a:t>
            </a:r>
          </a:p>
        </p:txBody>
      </p:sp>
      <p:sp>
        <p:nvSpPr>
          <p:cNvPr id="52" name="Oval 51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59" y="2926079"/>
            <a:ext cx="230189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5581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+4.0</a:t>
            </a:r>
          </a:p>
        </p:txBody>
      </p:sp>
      <p:sp>
        <p:nvSpPr>
          <p:cNvPr id="56" name="Oval 55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59" y="3099815"/>
            <a:ext cx="168161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33553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+2.9</a:t>
            </a:r>
          </a:p>
        </p:txBody>
      </p:sp>
      <p:sp>
        <p:nvSpPr>
          <p:cNvPr id="60" name="Oval 59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59" y="3273552"/>
            <a:ext cx="144698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10090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+2.5</a:t>
            </a:r>
          </a:p>
        </p:txBody>
      </p:sp>
      <p:sp>
        <p:nvSpPr>
          <p:cNvPr id="64" name="Oval 63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59" y="3447287"/>
            <a:ext cx="72575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37967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+1.25</a:t>
            </a:r>
          </a:p>
        </p:txBody>
      </p:sp>
      <p:sp>
        <p:nvSpPr>
          <p:cNvPr id="68" name="Oval 67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59" y="3621024"/>
            <a:ext cx="72378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37770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+1.25</a:t>
            </a:r>
          </a:p>
        </p:txBody>
      </p:sp>
      <p:sp>
        <p:nvSpPr>
          <p:cNvPr id="72" name="Oval 71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59" y="3794760"/>
            <a:ext cx="18288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79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-0.30</a:t>
            </a:r>
          </a:p>
        </p:txBody>
      </p:sp>
      <p:sp>
        <p:nvSpPr>
          <p:cNvPr id="76" name="Oval 75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-15.7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2014 · XY: CLR(Hydro) vs CLR(Other Fossil) · θ = 49.3°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0.3097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4.52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774" y="2663462"/>
            <a:ext cx="1586" cy="3401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032" y="2629739"/>
            <a:ext cx="4742" cy="3372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173" y="2596603"/>
            <a:ext cx="7859" cy="3313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8267" y="2564341"/>
            <a:ext cx="10906" cy="3226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4408" y="2533234"/>
            <a:ext cx="13859" cy="3110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67716" y="2503551"/>
            <a:ext cx="16692" cy="2968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48335" y="2475549"/>
            <a:ext cx="19381" cy="2800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26434" y="2449471"/>
            <a:ext cx="21901" cy="2607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2202" y="2425542"/>
            <a:ext cx="24232" cy="2392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75850" y="2403972"/>
            <a:ext cx="26352" cy="2157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657600" y="2264669"/>
            <a:ext cx="321835" cy="432811"/>
          </a:xfrm>
          <a:prstGeom prst="line">
            <a:avLst/>
          </a:prstGeom>
          <a:ln w="190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924571" y="2209805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60064" y="2339141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53.4°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0405" y="2007849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(0.57, 0.77)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5915" y="2461119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9800"/>
                </a:solidFill>
                <a:latin typeface="Calibri"/>
              </a:defRPr>
            </a:pPr>
            <a:r>
              <a:t>r = 0.96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53.4°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0.957  (projection radius)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4.522  (full 8D Aitchison)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21% of d_A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44336"/>
                </a:solidFill>
                <a:latin typeface="Calibri"/>
              </a:defRPr>
            </a:pPr>
            <a:r>
              <a:t>← 42.7° from 2014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9800"/>
                </a:solidFill>
                <a:latin typeface="Calibri"/>
              </a:defRPr>
            </a:pPr>
            <a:r>
              <a:t>→ 16.3° to 2016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47.5° (Gas &gt; Coal)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49" name="Oval 48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59" y="2752344"/>
            <a:ext cx="830268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95660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+2.2</a:t>
            </a:r>
          </a:p>
        </p:txBody>
      </p:sp>
      <p:sp>
        <p:nvSpPr>
          <p:cNvPr id="53" name="Oval 52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2926079"/>
            <a:ext cx="761889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27281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+1.98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59" y="3099815"/>
            <a:ext cx="296097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61489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+0.77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59" y="3273552"/>
            <a:ext cx="220176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85568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+0.57</a:t>
            </a:r>
          </a:p>
        </p:txBody>
      </p:sp>
      <p:sp>
        <p:nvSpPr>
          <p:cNvPr id="65" name="Oval 64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3447287"/>
            <a:ext cx="130452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95844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-0.34</a:t>
            </a:r>
          </a:p>
        </p:txBody>
      </p:sp>
      <p:sp>
        <p:nvSpPr>
          <p:cNvPr id="69" name="Oval 68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59" y="3621024"/>
            <a:ext cx="204685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70077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-0.53</a:t>
            </a:r>
          </a:p>
        </p:txBody>
      </p:sp>
      <p:sp>
        <p:nvSpPr>
          <p:cNvPr id="73" name="Oval 72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59" y="3794760"/>
            <a:ext cx="858894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24286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-2.2</a:t>
            </a:r>
          </a:p>
        </p:txBody>
      </p:sp>
      <p:sp>
        <p:nvSpPr>
          <p:cNvPr id="77" name="Oval 76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2015 · XY: CLR(Hydro) vs CLR(Other Fossil) · θ = 53.4°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0.3030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3.97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021796" y="2663696"/>
            <a:ext cx="1564" cy="3378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017119" y="2630202"/>
            <a:ext cx="4677" cy="3349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009368" y="2597283"/>
            <a:ext cx="7751" cy="3291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98610" y="2565220"/>
            <a:ext cx="10758" cy="3206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84936" y="2534288"/>
            <a:ext cx="13674" cy="3093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68463" y="2504752"/>
            <a:ext cx="16473" cy="2953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49333" y="2476863"/>
            <a:ext cx="19130" cy="2788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27709" y="2450860"/>
            <a:ext cx="21624" cy="2600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3776" y="2426966"/>
            <a:ext cx="23933" cy="2389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77737" y="2405384"/>
            <a:ext cx="26039" cy="2158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49817" y="2386300"/>
            <a:ext cx="27920" cy="1908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657600" y="2399440"/>
            <a:ext cx="184101" cy="298040"/>
          </a:xfrm>
          <a:prstGeom prst="line">
            <a:avLst/>
          </a:prstGeom>
          <a:ln w="190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786837" y="2344576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48092" y="231654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58.3°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9891" y="2127157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(0.33, 0.53)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7433" y="253245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9800"/>
                </a:solidFill>
                <a:latin typeface="Calibri"/>
              </a:defRPr>
            </a:pPr>
            <a:r>
              <a:t>r = 0.62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58.3°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0.622  (projection radius)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3.967  (full 8D Aitchison)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16% of d_A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9800"/>
                </a:solidFill>
                <a:latin typeface="Calibri"/>
              </a:defRPr>
            </a:pPr>
            <a:r>
              <a:t>← 16.3° from 2015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9800"/>
                </a:solidFill>
                <a:latin typeface="Calibri"/>
              </a:defRPr>
            </a:pPr>
            <a:r>
              <a:t>→ 10.9° to 2017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49.5° (Gas &gt; Coal)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0" name="Oval 49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59" y="2752344"/>
            <a:ext cx="801384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66776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+2.1</a:t>
            </a:r>
          </a:p>
        </p:txBody>
      </p:sp>
      <p:sp>
        <p:nvSpPr>
          <p:cNvPr id="54" name="Oval 53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59" y="2926079"/>
            <a:ext cx="684617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50009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+1.78</a:t>
            </a:r>
          </a:p>
        </p:txBody>
      </p:sp>
      <p:sp>
        <p:nvSpPr>
          <p:cNvPr id="58" name="Oval 57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59" y="3099815"/>
            <a:ext cx="203817" cy="914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69209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+0.53</a:t>
            </a:r>
          </a:p>
        </p:txBody>
      </p:sp>
      <p:sp>
        <p:nvSpPr>
          <p:cNvPr id="62" name="Oval 61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59" y="3273552"/>
            <a:ext cx="125899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91291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+0.33</a:t>
            </a:r>
          </a:p>
        </p:txBody>
      </p:sp>
      <p:sp>
        <p:nvSpPr>
          <p:cNvPr id="66" name="Oval 65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37959" y="3447287"/>
            <a:ext cx="107632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3024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-0.28</a:t>
            </a:r>
          </a:p>
        </p:txBody>
      </p:sp>
      <p:sp>
        <p:nvSpPr>
          <p:cNvPr id="70" name="Oval 69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59" y="3621024"/>
            <a:ext cx="340626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06018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-0.88</a:t>
            </a:r>
          </a:p>
        </p:txBody>
      </p:sp>
      <p:sp>
        <p:nvSpPr>
          <p:cNvPr id="74" name="Oval 73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37959" y="3794760"/>
            <a:ext cx="453060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18452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-1.18</a:t>
            </a:r>
          </a:p>
        </p:txBody>
      </p:sp>
      <p:sp>
        <p:nvSpPr>
          <p:cNvPr id="78" name="Oval 77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2016 · XY: CLR(Hydro) vs CLR(Other Fossil) · θ = 58.3°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0.3083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3.75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4014844" y="2736943"/>
            <a:ext cx="6380" cy="3900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021224" y="2697480"/>
            <a:ext cx="2136" cy="3946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697480"/>
            <a:ext cx="153092" cy="33625"/>
          </a:xfrm>
          <a:prstGeom prst="line">
            <a:avLst/>
          </a:prstGeom>
          <a:ln w="190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755828" y="2676241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0902" y="2924407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-12.4°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3281" y="2799763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(0.27, -0.06)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3748" y="2851174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FF9800"/>
                </a:solidFill>
                <a:latin typeface="Calibri"/>
              </a:defRPr>
            </a:pPr>
            <a:r>
              <a:t>r = 0.28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-12.4°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0.278  (projection radius)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3.747  (full 8D Aitchison)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7% of d_A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9800"/>
                </a:solidFill>
                <a:latin typeface="Calibri"/>
              </a:defRPr>
            </a:pPr>
            <a:r>
              <a:t>← 10.9° from 2016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7.2° to 2018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48.6° (Gas &gt; Coal)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41" name="Oval 40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59" y="2752344"/>
            <a:ext cx="820405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85797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+2.0</a:t>
            </a:r>
          </a:p>
        </p:txBody>
      </p:sp>
      <p:sp>
        <p:nvSpPr>
          <p:cNvPr id="45" name="Oval 44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59" y="2926079"/>
            <a:ext cx="722059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87451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+1.79</a:t>
            </a:r>
          </a:p>
        </p:txBody>
      </p:sp>
      <p:sp>
        <p:nvSpPr>
          <p:cNvPr id="49" name="Oval 48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59" y="3099815"/>
            <a:ext cx="109295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4687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+0.27</a:t>
            </a:r>
          </a:p>
        </p:txBody>
      </p:sp>
      <p:sp>
        <p:nvSpPr>
          <p:cNvPr id="53" name="Oval 52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3273552"/>
            <a:ext cx="24005" cy="91440"/>
          </a:xfrm>
          <a:prstGeom prst="rect">
            <a:avLst/>
          </a:prstGeom>
          <a:solidFill>
            <a:srgbClr val="C9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9397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-0.06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59" y="3447287"/>
            <a:ext cx="44681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10073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-0.11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59" y="3621024"/>
            <a:ext cx="294104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9496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-0.73</a:t>
            </a:r>
          </a:p>
        </p:txBody>
      </p:sp>
      <p:sp>
        <p:nvSpPr>
          <p:cNvPr id="65" name="Oval 64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3794760"/>
            <a:ext cx="374569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39961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-0.93</a:t>
            </a:r>
          </a:p>
        </p:txBody>
      </p:sp>
      <p:sp>
        <p:nvSpPr>
          <p:cNvPr id="69" name="Oval 68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2017 · XY: CLR(Hydro) vs CLR(Other Fossil) · θ = -12.4°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0.2800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3.52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886504" y="2961166"/>
            <a:ext cx="24571" cy="2159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911075" y="2937466"/>
            <a:ext cx="22544" cy="237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933619" y="2911846"/>
            <a:ext cx="20337" cy="2562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53956" y="2884512"/>
            <a:ext cx="17967" cy="2733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971923" y="2855682"/>
            <a:ext cx="15452" cy="2883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987375" y="2825587"/>
            <a:ext cx="12816" cy="3009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000191" y="2794468"/>
            <a:ext cx="10075" cy="3111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010266" y="2762573"/>
            <a:ext cx="7255" cy="3189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017521" y="2730157"/>
            <a:ext cx="4376" cy="3241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021897" y="2697480"/>
            <a:ext cx="1463" cy="3267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57600" y="2697480"/>
            <a:ext cx="110168" cy="13730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712904" y="2779916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64885" y="2863119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-51.3°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8059" y="3084398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(0.20, -0.24)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6591" y="283835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0.31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-51.3°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0.312  (projection radius)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3.523  (full 8D Aitchison)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9% of d_A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7.2° from 2017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7.6° to 2019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48.4° (Gas &gt; Coal)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49" name="Oval 48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59" y="2752344"/>
            <a:ext cx="789375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54767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+1.90</a:t>
            </a:r>
          </a:p>
        </p:txBody>
      </p:sp>
      <p:sp>
        <p:nvSpPr>
          <p:cNvPr id="53" name="Oval 52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2926079"/>
            <a:ext cx="701525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6917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+1.69</a:t>
            </a:r>
          </a:p>
        </p:txBody>
      </p:sp>
      <p:sp>
        <p:nvSpPr>
          <p:cNvPr id="57" name="Oval 56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59" y="3099815"/>
            <a:ext cx="81206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46598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+0.20</a:t>
            </a:r>
          </a:p>
        </p:txBody>
      </p:sp>
      <p:sp>
        <p:nvSpPr>
          <p:cNvPr id="61" name="Oval 60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59" y="3273552"/>
            <a:ext cx="35081" cy="91440"/>
          </a:xfrm>
          <a:prstGeom prst="rect">
            <a:avLst/>
          </a:prstGeom>
          <a:solidFill>
            <a:srgbClr val="FF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00473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-0.08</a:t>
            </a:r>
          </a:p>
        </p:txBody>
      </p:sp>
      <p:sp>
        <p:nvSpPr>
          <p:cNvPr id="65" name="Oval 64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3447287"/>
            <a:ext cx="101205" cy="91440"/>
          </a:xfrm>
          <a:prstGeom prst="rect">
            <a:avLst/>
          </a:prstGeom>
          <a:solidFill>
            <a:srgbClr val="C9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66597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-0.24</a:t>
            </a:r>
          </a:p>
        </p:txBody>
      </p:sp>
      <p:sp>
        <p:nvSpPr>
          <p:cNvPr id="69" name="Oval 68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59" y="3621024"/>
            <a:ext cx="126629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92021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-0.30</a:t>
            </a:r>
          </a:p>
        </p:txBody>
      </p:sp>
      <p:sp>
        <p:nvSpPr>
          <p:cNvPr id="73" name="Oval 72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59" y="3794760"/>
            <a:ext cx="394790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60182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-0.95</a:t>
            </a:r>
          </a:p>
        </p:txBody>
      </p:sp>
      <p:sp>
        <p:nvSpPr>
          <p:cNvPr id="77" name="Oval 76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2018 · XY: CLR(Hydro) vs CLR(Other Fossil) · θ = -51.3°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0.2686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3.47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727232" y="3048639"/>
            <a:ext cx="32676" cy="791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759908" y="3037762"/>
            <a:ext cx="31812" cy="1087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91720" y="3024010"/>
            <a:ext cx="30678" cy="1375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22398" y="3007498"/>
            <a:ext cx="29286" cy="1651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51684" y="2988368"/>
            <a:ext cx="27646" cy="1913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79330" y="2966780"/>
            <a:ext cx="25773" cy="2158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905103" y="2942916"/>
            <a:ext cx="23681" cy="2386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928784" y="2916979"/>
            <a:ext cx="21391" cy="2593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950175" y="2889187"/>
            <a:ext cx="18918" cy="2779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69093" y="2859776"/>
            <a:ext cx="16287" cy="2941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85380" y="2828993"/>
            <a:ext cx="13518" cy="3078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998898" y="2797100"/>
            <a:ext cx="10634" cy="3189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009532" y="2764364"/>
            <a:ext cx="7660" cy="3273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17192" y="2731064"/>
            <a:ext cx="4622" cy="333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21814" y="2697480"/>
            <a:ext cx="1546" cy="3358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57600" y="2697480"/>
            <a:ext cx="61796" cy="318659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664532" y="2961275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7539" y="2984200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-79.0°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0324" y="3330326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(0.11, -0.57)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99028" y="2856689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0.58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-79.0°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0.576  (projection radius)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3.468  (full 8D Aitchison)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17% of d_A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7.6° from 2018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9.8° to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47.8° (Gas &gt; Coal)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4" name="Oval 53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59" y="2752344"/>
            <a:ext cx="770311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35703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+1.84</a:t>
            </a:r>
          </a:p>
        </p:txBody>
      </p:sp>
      <p:sp>
        <p:nvSpPr>
          <p:cNvPr id="58" name="Oval 57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59" y="2926079"/>
            <a:ext cx="697940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3332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+1.67</a:t>
            </a:r>
          </a:p>
        </p:txBody>
      </p:sp>
      <p:sp>
        <p:nvSpPr>
          <p:cNvPr id="62" name="Oval 61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59" y="3099815"/>
            <a:ext cx="45920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11312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+0.11</a:t>
            </a:r>
          </a:p>
        </p:txBody>
      </p:sp>
      <p:sp>
        <p:nvSpPr>
          <p:cNvPr id="66" name="Oval 65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37959" y="3273552"/>
            <a:ext cx="18288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79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+0.02</a:t>
            </a:r>
          </a:p>
        </p:txBody>
      </p:sp>
      <p:sp>
        <p:nvSpPr>
          <p:cNvPr id="70" name="Oval 69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59" y="3447287"/>
            <a:ext cx="18288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79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-0.01</a:t>
            </a:r>
          </a:p>
        </p:txBody>
      </p:sp>
      <p:sp>
        <p:nvSpPr>
          <p:cNvPr id="74" name="Oval 73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37959" y="3621024"/>
            <a:ext cx="236796" cy="91440"/>
          </a:xfrm>
          <a:prstGeom prst="rect">
            <a:avLst/>
          </a:prstGeom>
          <a:solidFill>
            <a:srgbClr val="C9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02188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-0.57</a:t>
            </a:r>
          </a:p>
        </p:txBody>
      </p:sp>
      <p:sp>
        <p:nvSpPr>
          <p:cNvPr id="78" name="Oval 77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37959" y="3794760"/>
            <a:ext cx="366595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31987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-0.88</a:t>
            </a:r>
          </a:p>
        </p:txBody>
      </p:sp>
      <p:sp>
        <p:nvSpPr>
          <p:cNvPr id="82" name="Oval 81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2019 · XY: CLR(Hydro) vs CLR(Other Fossil) · θ = -79.0°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0.2801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3.46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746859" y="3042929"/>
            <a:ext cx="30927" cy="925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777786" y="3030987"/>
            <a:ext cx="29990" cy="1194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807776" y="3016447"/>
            <a:ext cx="28820" cy="1454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36596" y="2999423"/>
            <a:ext cx="27427" cy="1702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64023" y="2980047"/>
            <a:ext cx="25818" cy="1937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89841" y="2958470"/>
            <a:ext cx="24009" cy="2157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913850" y="2934860"/>
            <a:ext cx="22014" cy="2361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935864" y="2909401"/>
            <a:ext cx="19846" cy="2545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955710" y="2882291"/>
            <a:ext cx="17524" cy="2711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73234" y="2853742"/>
            <a:ext cx="15066" cy="2854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88300" y="2823975"/>
            <a:ext cx="12489" cy="2976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000789" y="2793224"/>
            <a:ext cx="9817" cy="3075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010606" y="2761726"/>
            <a:ext cx="7067" cy="3149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17673" y="2729729"/>
            <a:ext cx="4262" cy="3199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21935" y="2697480"/>
            <a:ext cx="1425" cy="3224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57600" y="2697480"/>
            <a:ext cx="127988" cy="50860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730724" y="3151216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97761" y="2971453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-75.9°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3690" y="3516444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(0.23, -0.90)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4783" y="2992417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0.93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-75.9°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0.931  (projection radius)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3.463  (full 8D Aitchison)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27% of d_A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9.8° from 2019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4.7° to 2021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48.0° (Gas &gt; Coal)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4" name="Oval 53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59" y="2752344"/>
            <a:ext cx="858114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3506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+1.88</a:t>
            </a:r>
          </a:p>
        </p:txBody>
      </p:sp>
      <p:sp>
        <p:nvSpPr>
          <p:cNvPr id="58" name="Oval 57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59" y="2926079"/>
            <a:ext cx="773667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39059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+1.70</a:t>
            </a:r>
          </a:p>
        </p:txBody>
      </p:sp>
      <p:sp>
        <p:nvSpPr>
          <p:cNvPr id="62" name="Oval 61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59" y="3099815"/>
            <a:ext cx="103619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69011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+0.23</a:t>
            </a:r>
          </a:p>
        </p:txBody>
      </p:sp>
      <p:sp>
        <p:nvSpPr>
          <p:cNvPr id="66" name="Oval 65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37959" y="3273552"/>
            <a:ext cx="89363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4755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+0.20</a:t>
            </a:r>
          </a:p>
        </p:txBody>
      </p:sp>
      <p:sp>
        <p:nvSpPr>
          <p:cNvPr id="70" name="Oval 69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59" y="3447287"/>
            <a:ext cx="169978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35370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-0.37</a:t>
            </a:r>
          </a:p>
        </p:txBody>
      </p:sp>
      <p:sp>
        <p:nvSpPr>
          <p:cNvPr id="74" name="Oval 73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37959" y="3621024"/>
            <a:ext cx="328620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94012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-0.72</a:t>
            </a:r>
          </a:p>
        </p:txBody>
      </p:sp>
      <p:sp>
        <p:nvSpPr>
          <p:cNvPr id="78" name="Oval 77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37959" y="3794760"/>
            <a:ext cx="411766" cy="91440"/>
          </a:xfrm>
          <a:prstGeom prst="rect">
            <a:avLst/>
          </a:prstGeom>
          <a:solidFill>
            <a:srgbClr val="C9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77158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-0.90</a:t>
            </a:r>
          </a:p>
        </p:txBody>
      </p:sp>
      <p:sp>
        <p:nvSpPr>
          <p:cNvPr id="82" name="Oval 81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2020 · XY: CLR(Hydro) vs CLR(Other Fossil) · θ = -75.9°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0.2468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3.27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715841" y="3052041"/>
            <a:ext cx="31574" cy="653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747415" y="3042753"/>
            <a:ext cx="30876" cy="928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78291" y="3030783"/>
            <a:ext cx="29938" cy="1197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08229" y="3016223"/>
            <a:ext cx="28767" cy="1456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36996" y="2999186"/>
            <a:ext cx="27373" cy="1703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64369" y="2979804"/>
            <a:ext cx="25767" cy="1938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90136" y="2958229"/>
            <a:ext cx="23960" cy="2157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914096" y="2934627"/>
            <a:ext cx="21966" cy="2360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936062" y="2909183"/>
            <a:ext cx="19803" cy="254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55865" y="2882093"/>
            <a:ext cx="17485" cy="2709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73350" y="2853569"/>
            <a:ext cx="15031" cy="2852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988381" y="2823832"/>
            <a:ext cx="12461" cy="2973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000842" y="2793113"/>
            <a:ext cx="9794" cy="3071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10636" y="2761651"/>
            <a:ext cx="7050" cy="3146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17686" y="2729690"/>
            <a:ext cx="4252" cy="3196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021938" y="2697480"/>
            <a:ext cx="1422" cy="3221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57600" y="2697480"/>
            <a:ext cx="73155" cy="453553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675891" y="3096169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1501" y="299140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-80.8°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1716" y="3466990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(0.13, -0.80)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5147" y="2937251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0.82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-80.8°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0.815  (projection radius)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3.266  (full 8D Aitchison)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25% of d_A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4.7° from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7.4° to 2022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46.8° (Gas &gt; Coal)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5" name="Oval 54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59" y="2752344"/>
            <a:ext cx="783868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49260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+1.71</a:t>
            </a:r>
          </a:p>
        </p:txBody>
      </p:sp>
      <p:sp>
        <p:nvSpPr>
          <p:cNvPr id="59" name="Oval 58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7959" y="2926079"/>
            <a:ext cx="736902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02294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+1.61</a:t>
            </a:r>
          </a:p>
        </p:txBody>
      </p:sp>
      <p:sp>
        <p:nvSpPr>
          <p:cNvPr id="63" name="Oval 62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37959" y="3099815"/>
            <a:ext cx="85098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50490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+0.19</a:t>
            </a:r>
          </a:p>
        </p:txBody>
      </p:sp>
      <p:sp>
        <p:nvSpPr>
          <p:cNvPr id="67" name="Oval 66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37959" y="3273552"/>
            <a:ext cx="59592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24984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+0.13</a:t>
            </a:r>
          </a:p>
        </p:txBody>
      </p:sp>
      <p:sp>
        <p:nvSpPr>
          <p:cNvPr id="71" name="Oval 70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37959" y="3447287"/>
            <a:ext cx="61091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26483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-0.13</a:t>
            </a:r>
          </a:p>
        </p:txBody>
      </p:sp>
      <p:sp>
        <p:nvSpPr>
          <p:cNvPr id="75" name="Oval 74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59" y="3621024"/>
            <a:ext cx="320503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85895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-0.70</a:t>
            </a:r>
          </a:p>
        </p:txBody>
      </p:sp>
      <p:sp>
        <p:nvSpPr>
          <p:cNvPr id="79" name="Oval 78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37959" y="3794760"/>
            <a:ext cx="369467" cy="91440"/>
          </a:xfrm>
          <a:prstGeom prst="rect">
            <a:avLst/>
          </a:prstGeom>
          <a:solidFill>
            <a:srgbClr val="C9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34859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-0.80</a:t>
            </a:r>
          </a:p>
        </p:txBody>
      </p:sp>
      <p:sp>
        <p:nvSpPr>
          <p:cNvPr id="83" name="Oval 82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-1.99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2021 · XY: CLR(Hydro) vs CLR(Other Fossil) · θ = -80.8°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0.2369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3.19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682795" y="3058725"/>
            <a:ext cx="32096" cy="364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714891" y="3052261"/>
            <a:ext cx="31649" cy="646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46540" y="3043030"/>
            <a:ext cx="30956" cy="923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77496" y="3031104"/>
            <a:ext cx="30020" cy="1192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07516" y="3016576"/>
            <a:ext cx="28851" cy="1452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36367" y="2999559"/>
            <a:ext cx="27456" cy="1701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63823" y="2980186"/>
            <a:ext cx="25848" cy="1937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89671" y="2958608"/>
            <a:ext cx="24038" cy="2157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913709" y="2934993"/>
            <a:ext cx="22041" cy="2361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35750" y="2909526"/>
            <a:ext cx="19871" cy="2546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55621" y="2882404"/>
            <a:ext cx="17546" cy="2712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973167" y="2853841"/>
            <a:ext cx="15086" cy="2856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988253" y="2824058"/>
            <a:ext cx="12506" cy="2978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00759" y="2793287"/>
            <a:ext cx="9830" cy="3077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10589" y="2761770"/>
            <a:ext cx="7076" cy="3151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017665" y="2729750"/>
            <a:ext cx="4268" cy="3202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021933" y="2697480"/>
            <a:ext cx="1427" cy="3227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57600" y="2697480"/>
            <a:ext cx="17903" cy="259279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620639" y="2901895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63510" y="301158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-86.1°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97549" y="3276039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(0.03, -0.46)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66860" y="2790318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0.46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-86.1°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0.461  (projection radius)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3.192  (full 8D Aitchison)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14% of d_A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7.4° from 2021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9800"/>
                </a:solidFill>
                <a:latin typeface="Calibri"/>
              </a:defRPr>
            </a:pPr>
            <a:r>
              <a:t>→ 10.0° to 2023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46.4° (Gas &gt; Coal)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6" name="Oval 55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59" y="2752344"/>
            <a:ext cx="740576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05968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+1.65</a:t>
            </a:r>
          </a:p>
        </p:txBody>
      </p:sp>
      <p:sp>
        <p:nvSpPr>
          <p:cNvPr id="60" name="Oval 59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59" y="2926079"/>
            <a:ext cx="706370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71762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+1.58</a:t>
            </a:r>
          </a:p>
        </p:txBody>
      </p:sp>
      <p:sp>
        <p:nvSpPr>
          <p:cNvPr id="64" name="Oval 63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59" y="3099815"/>
            <a:ext cx="101982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67374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+0.23</a:t>
            </a:r>
          </a:p>
        </p:txBody>
      </p:sp>
      <p:sp>
        <p:nvSpPr>
          <p:cNvPr id="68" name="Oval 67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59" y="3273552"/>
            <a:ext cx="18288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79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+0.03</a:t>
            </a:r>
          </a:p>
        </p:txBody>
      </p:sp>
      <p:sp>
        <p:nvSpPr>
          <p:cNvPr id="72" name="Oval 71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59" y="3447287"/>
            <a:ext cx="151046" cy="91440"/>
          </a:xfrm>
          <a:prstGeom prst="rect">
            <a:avLst/>
          </a:prstGeom>
          <a:solidFill>
            <a:srgbClr val="FF9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16438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-0.34</a:t>
            </a:r>
          </a:p>
        </p:txBody>
      </p:sp>
      <p:sp>
        <p:nvSpPr>
          <p:cNvPr id="76" name="Oval 75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59" y="3621024"/>
            <a:ext cx="206132" cy="91440"/>
          </a:xfrm>
          <a:prstGeom prst="rect">
            <a:avLst/>
          </a:prstGeom>
          <a:solidFill>
            <a:srgbClr val="C9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71524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-0.46</a:t>
            </a:r>
          </a:p>
        </p:txBody>
      </p:sp>
      <p:sp>
        <p:nvSpPr>
          <p:cNvPr id="80" name="Oval 79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59" y="3794760"/>
            <a:ext cx="291582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56974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-0.65</a:t>
            </a:r>
          </a:p>
        </p:txBody>
      </p:sp>
      <p:sp>
        <p:nvSpPr>
          <p:cNvPr id="84" name="Oval 83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2022 · XY: CLR(Hydro) vs CLR(Other Fossil) · θ = -86.1°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0.2132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3.11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663409" y="3061134"/>
            <a:ext cx="33379" cy="205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696788" y="3056035"/>
            <a:ext cx="33052" cy="509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29840" y="3047937"/>
            <a:ext cx="32447" cy="809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62287" y="3036911"/>
            <a:ext cx="31573" cy="1102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93860" y="3023046"/>
            <a:ext cx="30433" cy="1386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24293" y="3006460"/>
            <a:ext cx="29040" cy="1658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53333" y="2987290"/>
            <a:ext cx="27404" cy="1917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80737" y="2965698"/>
            <a:ext cx="25538" cy="2159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906275" y="2941863"/>
            <a:ext cx="23459" cy="2383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29734" y="2915985"/>
            <a:ext cx="21184" cy="2587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50918" y="2888281"/>
            <a:ext cx="18731" cy="2770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969649" y="2858981"/>
            <a:ext cx="16123" cy="293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985772" y="2828332"/>
            <a:ext cx="13380" cy="3064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999152" y="2796588"/>
            <a:ext cx="10524" cy="317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09676" y="2764016"/>
            <a:ext cx="7581" cy="3257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017257" y="2730887"/>
            <a:ext cx="4574" cy="3312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021831" y="2697480"/>
            <a:ext cx="1529" cy="3340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57600" y="2697480"/>
            <a:ext cx="7312" cy="460359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610048" y="3102975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2600" y="3022965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-89.1°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69995" y="3477839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(0.01, -0.82)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9462" y="2908904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0.82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-89.1°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0.817  (projection radius)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3.112  (full 8D Aitchison)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26% of d_A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9800"/>
                </a:solidFill>
                <a:latin typeface="Calibri"/>
              </a:defRPr>
            </a:pPr>
            <a:r>
              <a:t>← 10.0° from 2022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6.0° to 2024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46.1° (Gas &gt; Coal)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6" name="Oval 55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59" y="2752344"/>
            <a:ext cx="709262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4654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+1.55</a:t>
            </a:r>
          </a:p>
        </p:txBody>
      </p:sp>
      <p:sp>
        <p:nvSpPr>
          <p:cNvPr id="60" name="Oval 59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59" y="2926079"/>
            <a:ext cx="682044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47436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+1.49</a:t>
            </a:r>
          </a:p>
        </p:txBody>
      </p:sp>
      <p:sp>
        <p:nvSpPr>
          <p:cNvPr id="64" name="Oval 63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59" y="3099815"/>
            <a:ext cx="12340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88797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+0.27</a:t>
            </a:r>
          </a:p>
        </p:txBody>
      </p:sp>
      <p:sp>
        <p:nvSpPr>
          <p:cNvPr id="68" name="Oval 67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59" y="3273552"/>
            <a:ext cx="23567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8959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+0.05</a:t>
            </a:r>
          </a:p>
        </p:txBody>
      </p:sp>
      <p:sp>
        <p:nvSpPr>
          <p:cNvPr id="72" name="Oval 71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59" y="3447287"/>
            <a:ext cx="18288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79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+0.01</a:t>
            </a:r>
          </a:p>
        </p:txBody>
      </p:sp>
      <p:sp>
        <p:nvSpPr>
          <p:cNvPr id="76" name="Oval 75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59" y="3621024"/>
            <a:ext cx="256221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21613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-0.56</a:t>
            </a:r>
          </a:p>
        </p:txBody>
      </p:sp>
      <p:sp>
        <p:nvSpPr>
          <p:cNvPr id="80" name="Oval 79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59" y="3794760"/>
            <a:ext cx="373591" cy="91440"/>
          </a:xfrm>
          <a:prstGeom prst="rect">
            <a:avLst/>
          </a:prstGeom>
          <a:solidFill>
            <a:srgbClr val="C9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38983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-0.82</a:t>
            </a:r>
          </a:p>
        </p:txBody>
      </p:sp>
      <p:sp>
        <p:nvSpPr>
          <p:cNvPr id="84" name="Oval 83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-2.00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2023 · XY: CLR(Hydro) vs CLR(Other Fossil) · θ = -89.1°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0.2099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3.09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678227" y="3059374"/>
            <a:ext cx="32405" cy="328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710632" y="3053222"/>
            <a:ext cx="31985" cy="615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42617" y="3044248"/>
            <a:ext cx="31311" cy="897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73928" y="3032524"/>
            <a:ext cx="30388" cy="1172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04316" y="3018143"/>
            <a:ext cx="29225" cy="1438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33541" y="3001219"/>
            <a:ext cx="27829" cy="1692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61370" y="2981887"/>
            <a:ext cx="26214" cy="1933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87584" y="2960299"/>
            <a:ext cx="24390" cy="2158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911974" y="2936627"/>
            <a:ext cx="22372" cy="2367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34346" y="2911059"/>
            <a:ext cx="20178" cy="25568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54524" y="2883797"/>
            <a:ext cx="17824" cy="2726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972348" y="2855057"/>
            <a:ext cx="15327" cy="2874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987675" y="2825068"/>
            <a:ext cx="12710" cy="2998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00385" y="2794067"/>
            <a:ext cx="9991" cy="3100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10376" y="2762300"/>
            <a:ext cx="7194" cy="3176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017570" y="2730019"/>
            <a:ext cx="4339" cy="3228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021909" y="2697480"/>
            <a:ext cx="1451" cy="3253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57600" y="2697480"/>
            <a:ext cx="34834" cy="616698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637570" y="3259314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60964" y="3014293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-86.8°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10619" y="3636129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(0.06, -1.09)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77686" y="3019785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-86.8°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1.096  (projection radius)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3.091  (full 8D Aitchison)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35% of d_A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6.0° from 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212140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→ 3.8° to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46.1° (Gas &gt; Coal)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6" name="Oval 55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59" y="2752344"/>
            <a:ext cx="751023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6415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+1.53</a:t>
            </a:r>
          </a:p>
        </p:txBody>
      </p:sp>
      <p:sp>
        <p:nvSpPr>
          <p:cNvPr id="60" name="Oval 59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59" y="2926079"/>
            <a:ext cx="723224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88616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+1.48</a:t>
            </a:r>
          </a:p>
        </p:txBody>
      </p:sp>
      <p:sp>
        <p:nvSpPr>
          <p:cNvPr id="64" name="Oval 63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59" y="3099815"/>
            <a:ext cx="126476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91868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+0.26</a:t>
            </a:r>
          </a:p>
        </p:txBody>
      </p:sp>
      <p:sp>
        <p:nvSpPr>
          <p:cNvPr id="68" name="Oval 67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59" y="3273552"/>
            <a:ext cx="62812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28204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+0.13</a:t>
            </a:r>
          </a:p>
        </p:txBody>
      </p:sp>
      <p:sp>
        <p:nvSpPr>
          <p:cNvPr id="72" name="Oval 71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59" y="3447287"/>
            <a:ext cx="30269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95661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+0.06</a:t>
            </a:r>
          </a:p>
        </p:txBody>
      </p:sp>
      <p:sp>
        <p:nvSpPr>
          <p:cNvPr id="76" name="Oval 75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59" y="3621024"/>
            <a:ext cx="243526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08918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-0.50</a:t>
            </a:r>
          </a:p>
        </p:txBody>
      </p:sp>
      <p:sp>
        <p:nvSpPr>
          <p:cNvPr id="80" name="Oval 79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59" y="3794760"/>
            <a:ext cx="535879" cy="91440"/>
          </a:xfrm>
          <a:prstGeom prst="rect">
            <a:avLst/>
          </a:prstGeom>
          <a:solidFill>
            <a:srgbClr val="C9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01271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-1.09</a:t>
            </a:r>
          </a:p>
        </p:txBody>
      </p:sp>
      <p:sp>
        <p:nvSpPr>
          <p:cNvPr id="84" name="Oval 83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-1.87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2024 · XY: CLR(Hydro) vs CLR(Other Fossil) · θ = -86.8°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XY Face —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731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0.1978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2.99  ·  Dom: Gas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777240"/>
            <a:ext cx="3840479" cy="3840479"/>
          </a:xfrm>
          <a:prstGeom prst="ellipse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83080" y="2697480"/>
            <a:ext cx="3749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822960"/>
            <a:ext cx="0" cy="374904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375856" y="2415736"/>
            <a:ext cx="563486" cy="56348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362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087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12" name="Oval 11"/>
          <p:cNvSpPr/>
          <p:nvPr/>
        </p:nvSpPr>
        <p:spPr>
          <a:xfrm>
            <a:off x="3094113" y="2133993"/>
            <a:ext cx="1126973" cy="1126973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366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79129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15" name="Oval 14"/>
          <p:cNvSpPr/>
          <p:nvPr/>
        </p:nvSpPr>
        <p:spPr>
          <a:xfrm>
            <a:off x="2812369" y="1852249"/>
            <a:ext cx="1690460" cy="1690460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10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7385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8" name="Oval 17"/>
          <p:cNvSpPr/>
          <p:nvPr/>
        </p:nvSpPr>
        <p:spPr>
          <a:xfrm>
            <a:off x="2530626" y="1570506"/>
            <a:ext cx="2253946" cy="2253946"/>
          </a:xfrm>
          <a:prstGeom prst="ellipse">
            <a:avLst/>
          </a:prstGeom>
          <a:noFill/>
          <a:ln w="3810"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8853" y="2743200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515642"/>
            <a:ext cx="457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B0B0B0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21" name="Oval 20"/>
          <p:cNvSpPr/>
          <p:nvPr/>
        </p:nvSpPr>
        <p:spPr>
          <a:xfrm>
            <a:off x="3621024" y="266090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639110" y="3062772"/>
            <a:ext cx="32935" cy="18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672045" y="3060173"/>
            <a:ext cx="32817" cy="278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04862" y="3054451"/>
            <a:ext cx="32434" cy="5722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37296" y="3045835"/>
            <a:ext cx="31789" cy="8616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69085" y="3034394"/>
            <a:ext cx="30884" cy="1144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99969" y="3020221"/>
            <a:ext cx="29729" cy="14173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29698" y="3003432"/>
            <a:ext cx="28335" cy="1678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58033" y="2984162"/>
            <a:ext cx="26709" cy="1927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884742" y="2962567"/>
            <a:ext cx="24867" cy="2159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09609" y="2938823"/>
            <a:ext cx="22824" cy="237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32433" y="2913122"/>
            <a:ext cx="20596" cy="2570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953029" y="2885673"/>
            <a:ext cx="18200" cy="27449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971229" y="2856698"/>
            <a:ext cx="15658" cy="2897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986887" y="2826431"/>
            <a:ext cx="12987" cy="30267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99874" y="2795120"/>
            <a:ext cx="10212" cy="3131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010086" y="2763016"/>
            <a:ext cx="7354" cy="3210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017440" y="2730381"/>
            <a:ext cx="4437" cy="32635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021877" y="2697480"/>
            <a:ext cx="1483" cy="32901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625505" y="2697480"/>
            <a:ext cx="32095" cy="63410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570641" y="3276716"/>
            <a:ext cx="109728" cy="10972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38515" y="3036807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606060"/>
                </a:solidFill>
                <a:latin typeface="Calibri"/>
              </a:defRPr>
            </a:pPr>
            <a:r>
              <a:t>θ = -92.9°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8943" y="3658794"/>
            <a:ext cx="1280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(-0.06, -1.13)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27706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2196F3"/>
                </a:solidFill>
                <a:latin typeface="Calibri"/>
              </a:defRPr>
            </a:pPr>
            <a:r>
              <a:t>CLR(Hydro)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0752" y="68580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95548"/>
                </a:solidFill>
                <a:latin typeface="Calibri"/>
              </a:defRPr>
            </a:pPr>
            <a:r>
              <a:t>↑ CLR(Other Fossil)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34110" y="3006649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2196F3"/>
                </a:solidFill>
                <a:latin typeface="Calibri"/>
              </a:defRPr>
            </a:pPr>
            <a:r>
              <a:t>r = 1.13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5943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Polar Decomposition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86868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θ  = -92.9°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051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r  = 1.127  (projection radius)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123444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d_A = 2.995  (full 8D Aitchison)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14173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1E293B"/>
                </a:solidFill>
                <a:latin typeface="Calibri"/>
              </a:defRPr>
            </a:pPr>
            <a:r>
              <a:t>Projection covers 38% of d_A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17373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Angular Velocity (8D CLR)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1938528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← 3.8° from 2024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23317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Coal-Gas Lock: θ_CG = 45.4° (Gas &gt; Coal)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25603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293B"/>
                </a:solidFill>
                <a:latin typeface="Calibri"/>
              </a:defRPr>
            </a:pPr>
            <a:r>
              <a:t>CLR Components</a:t>
            </a:r>
          </a:p>
        </p:txBody>
      </p:sp>
      <p:sp>
        <p:nvSpPr>
          <p:cNvPr id="56" name="Oval 55"/>
          <p:cNvSpPr/>
          <p:nvPr/>
        </p:nvSpPr>
        <p:spPr>
          <a:xfrm>
            <a:off x="6053327" y="2770632"/>
            <a:ext cx="54864" cy="54864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5" y="273405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59" y="2752344"/>
            <a:ext cx="740146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05538" y="273405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+1.46</a:t>
            </a:r>
          </a:p>
        </p:txBody>
      </p:sp>
      <p:sp>
        <p:nvSpPr>
          <p:cNvPr id="60" name="Oval 59"/>
          <p:cNvSpPr/>
          <p:nvPr/>
        </p:nvSpPr>
        <p:spPr>
          <a:xfrm>
            <a:off x="6053327" y="2944368"/>
            <a:ext cx="54864" cy="54864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5" y="290779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59" y="2926079"/>
            <a:ext cx="728788" cy="914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94180" y="290779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+1.44</a:t>
            </a:r>
          </a:p>
        </p:txBody>
      </p:sp>
      <p:sp>
        <p:nvSpPr>
          <p:cNvPr id="64" name="Oval 63"/>
          <p:cNvSpPr/>
          <p:nvPr/>
        </p:nvSpPr>
        <p:spPr>
          <a:xfrm>
            <a:off x="6053327" y="3118104"/>
            <a:ext cx="54864" cy="54864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3055" y="308152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59" y="3099815"/>
            <a:ext cx="129614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95006" y="308152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+0.26</a:t>
            </a:r>
          </a:p>
        </p:txBody>
      </p:sp>
      <p:sp>
        <p:nvSpPr>
          <p:cNvPr id="68" name="Oval 67"/>
          <p:cNvSpPr/>
          <p:nvPr/>
        </p:nvSpPr>
        <p:spPr>
          <a:xfrm>
            <a:off x="6053327" y="3291840"/>
            <a:ext cx="54864" cy="54864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63055" y="3255264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59" y="3273552"/>
            <a:ext cx="93438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8830" y="3255264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+0.18</a:t>
            </a:r>
          </a:p>
        </p:txBody>
      </p:sp>
      <p:sp>
        <p:nvSpPr>
          <p:cNvPr id="72" name="Oval 71"/>
          <p:cNvSpPr/>
          <p:nvPr/>
        </p:nvSpPr>
        <p:spPr>
          <a:xfrm>
            <a:off x="6053327" y="3465576"/>
            <a:ext cx="54864" cy="5486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3429000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59" y="3447287"/>
            <a:ext cx="28833" cy="91440"/>
          </a:xfrm>
          <a:prstGeom prst="rect">
            <a:avLst/>
          </a:prstGeom>
          <a:solidFill>
            <a:srgbClr val="71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94225" y="3429000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-0.06</a:t>
            </a:r>
          </a:p>
        </p:txBody>
      </p:sp>
      <p:sp>
        <p:nvSpPr>
          <p:cNvPr id="76" name="Oval 75"/>
          <p:cNvSpPr/>
          <p:nvPr/>
        </p:nvSpPr>
        <p:spPr>
          <a:xfrm>
            <a:off x="6053327" y="3639312"/>
            <a:ext cx="54864" cy="5486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63055" y="3602736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59" y="3621024"/>
            <a:ext cx="179097" cy="91440"/>
          </a:xfrm>
          <a:prstGeom prst="rect">
            <a:avLst/>
          </a:prstGeom>
          <a:solidFill>
            <a:srgbClr val="9C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44489" y="3602736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-0.35</a:t>
            </a:r>
          </a:p>
        </p:txBody>
      </p:sp>
      <p:sp>
        <p:nvSpPr>
          <p:cNvPr id="80" name="Oval 79"/>
          <p:cNvSpPr/>
          <p:nvPr/>
        </p:nvSpPr>
        <p:spPr>
          <a:xfrm>
            <a:off x="6053327" y="3813048"/>
            <a:ext cx="54864" cy="54864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5" y="3776472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59" y="3794760"/>
            <a:ext cx="569657" cy="91440"/>
          </a:xfrm>
          <a:prstGeom prst="rect">
            <a:avLst/>
          </a:prstGeom>
          <a:solidFill>
            <a:srgbClr val="C9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5049" y="3776472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-1.13</a:t>
            </a:r>
          </a:p>
        </p:txBody>
      </p:sp>
      <p:sp>
        <p:nvSpPr>
          <p:cNvPr id="84" name="Oval 83"/>
          <p:cNvSpPr/>
          <p:nvPr/>
        </p:nvSpPr>
        <p:spPr>
          <a:xfrm>
            <a:off x="6053327" y="3986783"/>
            <a:ext cx="54864" cy="54864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5" y="3950208"/>
            <a:ext cx="3474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37959" y="3968496"/>
            <a:ext cx="914400" cy="91440"/>
          </a:xfrm>
          <a:prstGeom prst="rect">
            <a:avLst/>
          </a:prstGeom>
          <a:solidFill>
            <a:srgbClr val="5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79791" y="3950208"/>
            <a:ext cx="5029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-1.81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489204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2025 · XY: CLR(Hydro) vs CLR(Other Fossil) · θ = -92.9°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XZ Face — Front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CLR values per carrier  ·  Higgins Scale zone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26 annual profiles  ·  Each composition presented as CLR bar chart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0.2347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8.40  ·  Dom: Nuclear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117307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025867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5736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16592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82935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73791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40134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330990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97333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288189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4531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245387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168929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" y="159785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126128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8600" y="116984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83327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00" y="74183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880" y="2117307"/>
            <a:ext cx="426720" cy="19775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720" y="233335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-0.46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1162068"/>
            <a:ext cx="426720" cy="95523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99747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4080" y="1127135"/>
            <a:ext cx="426720" cy="9901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6920" y="96254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3680" y="1605866"/>
            <a:ext cx="426720" cy="511441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36520" y="144127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1036965"/>
            <a:ext cx="426720" cy="1080341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87237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2.52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92879" y="1275489"/>
            <a:ext cx="426720" cy="841817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55720" y="111089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1.97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2479" y="2117307"/>
            <a:ext cx="426720" cy="184913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5320" y="398472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-4.32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79" y="2117307"/>
            <a:ext cx="426720" cy="233212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446772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-5.45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3272279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3290567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0.2347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8.400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4.91 / 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0.0848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Nuclear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0.290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2000 · XZ Face · CLR zero-sum 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0.2396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7.65  ·  Dom: Nuclear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186911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095471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54121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44977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07035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97891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59949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350805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12863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303719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5777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256633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171605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" y="162461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124519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8600" y="115375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4880" y="2186911"/>
            <a:ext cx="426720" cy="28196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720" y="248716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1168113"/>
            <a:ext cx="426720" cy="101879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100352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4080" y="1163298"/>
            <a:ext cx="426720" cy="1023613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6920" y="99870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73680" y="1702957"/>
            <a:ext cx="426720" cy="48395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36520" y="153836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1058390"/>
            <a:ext cx="426720" cy="1128521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89379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92879" y="1404015"/>
            <a:ext cx="426720" cy="782896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55720" y="123942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02479" y="2186911"/>
            <a:ext cx="426720" cy="191472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5320" y="411992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-4.07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79" y="2186911"/>
            <a:ext cx="426720" cy="224109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444629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-4.76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325666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06640" y="327495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0.2396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7.650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4.86 / 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0.1258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Nuclear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0.296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2001 · XZ Face · CLR zero-sum verified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0.2348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7.19  ·  Dom: Nuclear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207001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115561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1724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12580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71468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62324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21212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312068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70956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261812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70444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161300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120187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" y="111043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4880" y="2207001"/>
            <a:ext cx="426720" cy="33498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20" y="256027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-0.67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1161023"/>
            <a:ext cx="426720" cy="1045977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99643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2.08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4080" y="1183688"/>
            <a:ext cx="426720" cy="1023313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6920" y="101909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3680" y="1758086"/>
            <a:ext cx="426720" cy="448915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6520" y="159349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0.89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074240"/>
            <a:ext cx="426720" cy="11327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90964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92879" y="1374262"/>
            <a:ext cx="426720" cy="832738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5720" y="120967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02479" y="2207001"/>
            <a:ext cx="426720" cy="1943557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5320" y="416884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-3.87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79" y="2207001"/>
            <a:ext cx="426720" cy="220515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443044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-4.39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327181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329009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0.2348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7.194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4.91 /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0.1519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Nuclear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2002 · XZ Face · CLR zero-sum verified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0.2228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6.59  ·  Dom: Coal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242582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151142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48085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38941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92128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82984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36171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327027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80215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271071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68301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159157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112344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" y="103200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4880" y="2242582"/>
            <a:ext cx="426720" cy="423191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20" y="268406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-0.76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1102744"/>
            <a:ext cx="426720" cy="113983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93815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4080" y="1140303"/>
            <a:ext cx="426720" cy="110227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6920" y="97571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3680" y="1746289"/>
            <a:ext cx="426720" cy="4962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6520" y="158169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0.89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236219"/>
            <a:ext cx="426720" cy="1006363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107162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92879" y="1357580"/>
            <a:ext cx="426720" cy="88500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5720" y="119298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1.58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02479" y="2242582"/>
            <a:ext cx="426720" cy="2065511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5320" y="432638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-3.69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79" y="2242582"/>
            <a:ext cx="426720" cy="2141073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440194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3310154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332844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0.2228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6.587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5.03 /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0.1977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Coal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0.267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2003 · XZ Face · CLR zero-sum verified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0.2253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6.14  ·  Dom: Coal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271596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180156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65355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56211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05806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96662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46257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337113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86708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277564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67610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158466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108061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" y="98917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4880" y="2271596"/>
            <a:ext cx="426720" cy="513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20" y="280347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-0.86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1120704"/>
            <a:ext cx="426720" cy="1150891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95611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1.93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4080" y="1201619"/>
            <a:ext cx="426720" cy="10699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6920" y="103702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3680" y="1817488"/>
            <a:ext cx="426720" cy="454107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6520" y="165289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0.76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140212"/>
            <a:ext cx="426720" cy="1131383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97562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92879" y="1450974"/>
            <a:ext cx="426720" cy="820621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5720" y="128638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1.38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02479" y="2271596"/>
            <a:ext cx="426720" cy="209409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5320" y="438398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-3.52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79" y="2271596"/>
            <a:ext cx="426720" cy="2019289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430917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330246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332075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0.2253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6.137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5.01 /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0.2169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Coal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0.263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2004 · XZ Face · CLR zero-sum verified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0.2276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5.84  ·  Dom: Coal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303770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212330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13920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04776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52739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43595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91558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282414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69196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60052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08014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98870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880" y="2303770"/>
            <a:ext cx="426720" cy="4702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" y="279229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-0.77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128865"/>
            <a:ext cx="426720" cy="1174905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96427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4080" y="1270849"/>
            <a:ext cx="426720" cy="1032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6920" y="110625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3680" y="1994433"/>
            <a:ext cx="426720" cy="30933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6520" y="182984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0.51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181180"/>
            <a:ext cx="426720" cy="112259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101658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2879" y="1462750"/>
            <a:ext cx="426720" cy="84102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5720" y="129815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2479" y="2303770"/>
            <a:ext cx="426720" cy="20537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5320" y="437582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2303770"/>
            <a:ext cx="426720" cy="1956777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27883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295089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313377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0.2276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5.843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4.98 /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0.1506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Coal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0.277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2005 · XZ Face · CLR zero-sum verified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0.2275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5.67  ·  Dom: Coal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314461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223021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1954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12810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58451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49307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949488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2858048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67943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58799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04440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95296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880" y="2314461"/>
            <a:ext cx="426720" cy="52244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" y="285519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140473"/>
            <a:ext cx="426720" cy="1173987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97588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4080" y="1207756"/>
            <a:ext cx="426720" cy="110670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6920" y="104316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1.74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3680" y="1937043"/>
            <a:ext cx="426720" cy="377417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6520" y="177245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0.59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155018"/>
            <a:ext cx="426720" cy="115944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99042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2879" y="1586625"/>
            <a:ext cx="426720" cy="727836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5720" y="142203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2479" y="2314461"/>
            <a:ext cx="426720" cy="203146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5320" y="436421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2314461"/>
            <a:ext cx="426720" cy="199147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32422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295342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31363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0.2275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5.675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4.98 /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0.1858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Coal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0.267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2006 · XZ Face · CLR zero-sum verified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0.2270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5.47  ·  Dom: Coal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323868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232428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6919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17775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62075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52931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97231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288087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67542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58398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02698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93554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880" y="2323868"/>
            <a:ext cx="426720" cy="5480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" y="289018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-0.85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147180"/>
            <a:ext cx="426720" cy="1176687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98258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4080" y="1190400"/>
            <a:ext cx="426720" cy="1133467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6920" y="102580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3680" y="2086737"/>
            <a:ext cx="426720" cy="237131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6520" y="192214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230590"/>
            <a:ext cx="426720" cy="1093277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106599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2879" y="1496399"/>
            <a:ext cx="426720" cy="827469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5720" y="133180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2479" y="2323868"/>
            <a:ext cx="426720" cy="201535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5320" y="435750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2323868"/>
            <a:ext cx="426720" cy="190465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24681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296791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315079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0.2270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5.473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4.99 /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0.1177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Coal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0.269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2007 · XZ Face · CLR zero-sum verified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0.2323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5.38  ·  Dom: Coal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364094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272654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33068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23924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67515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58371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01962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292818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70856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61712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05303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96159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880" y="2364094"/>
            <a:ext cx="426720" cy="590653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" y="297303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150725"/>
            <a:ext cx="426720" cy="121336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98613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4080" y="1168385"/>
            <a:ext cx="426720" cy="119570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6920" y="100379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3680" y="2127873"/>
            <a:ext cx="426720" cy="2362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6520" y="196328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335483"/>
            <a:ext cx="426720" cy="102861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117089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1.57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2879" y="1587276"/>
            <a:ext cx="426720" cy="776817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5720" y="142268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2479" y="2364094"/>
            <a:ext cx="426720" cy="19715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5320" y="435396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-3.01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2364094"/>
            <a:ext cx="426720" cy="1888491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27087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2800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29833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0.2323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5.376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4.94 /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0.1198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Coal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0.282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2008 · XZ Face · CLR zero-sum verified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0.2471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5.12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419563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328123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45234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36090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77475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68331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09715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300571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74197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65053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06437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97293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880" y="2419563"/>
            <a:ext cx="426720" cy="619713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" y="305756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188659"/>
            <a:ext cx="426720" cy="123090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102406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4080" y="1161756"/>
            <a:ext cx="426720" cy="125780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6920" y="99716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3680" y="2196968"/>
            <a:ext cx="426720" cy="222595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6520" y="203237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275230"/>
            <a:ext cx="426720" cy="1144333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111063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2879" y="1924893"/>
            <a:ext cx="426720" cy="49467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5720" y="176030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0.73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2479" y="2419563"/>
            <a:ext cx="426720" cy="1905079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5320" y="434293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-2.81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2419563"/>
            <a:ext cx="426720" cy="1825517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26336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232556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25084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0.2471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5.122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4.79 /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0.1168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0.291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2009 · XZ Face · CLR zero-sum verified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0.2379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4.93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429002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337562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55530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46386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84653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75509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13777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304633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72023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62879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01146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92002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880" y="2429002"/>
            <a:ext cx="426720" cy="6647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" y="311205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-0.94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197717"/>
            <a:ext cx="426720" cy="1231285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103312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1.74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4080" y="1177343"/>
            <a:ext cx="426720" cy="125165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6920" y="101275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1.77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3680" y="2101697"/>
            <a:ext cx="426720" cy="327305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6520" y="193710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0.46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254732"/>
            <a:ext cx="426720" cy="117427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109014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2879" y="1997607"/>
            <a:ext cx="426720" cy="431395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5720" y="183301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0.61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2479" y="2429002"/>
            <a:ext cx="426720" cy="1871093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5320" y="431838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-2.64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2429002"/>
            <a:ext cx="426720" cy="1880053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32734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262034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28032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0.2379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4.935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4.88 /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0.1741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0.282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2010 · XZ Face · CLR zero-sum verified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0.2309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4.64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505964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414524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62209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53065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91671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82527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21134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311990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80058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70914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109520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100376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880" y="2505964"/>
            <a:ext cx="426720" cy="7082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" y="323246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378084"/>
            <a:ext cx="426720" cy="112788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121349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4080" y="1175648"/>
            <a:ext cx="426720" cy="133031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6920" y="101105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73680" y="2252792"/>
            <a:ext cx="426720" cy="253171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6520" y="208820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772682"/>
            <a:ext cx="426720" cy="73328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160809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2879" y="1772942"/>
            <a:ext cx="426720" cy="73302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5720" y="160835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2479" y="2505964"/>
            <a:ext cx="426720" cy="1664677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5320" y="418893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2505964"/>
            <a:ext cx="426720" cy="180478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32903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328428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30257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0.2309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4.640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4.95 /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0.1403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0.344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2011 · XZ Face · CLR zero-sum 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0.3123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4.63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692212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600772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08304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399160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38763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29619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99679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90535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30137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20993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692212"/>
            <a:ext cx="426720" cy="550481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26098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-0.79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354560"/>
            <a:ext cx="426720" cy="133765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8996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170669"/>
            <a:ext cx="426720" cy="1521543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0607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374694"/>
            <a:ext cx="426720" cy="31751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21010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0.46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692212"/>
            <a:ext cx="426720" cy="694515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40501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1685306"/>
            <a:ext cx="426720" cy="1006906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152071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692212"/>
            <a:ext cx="426720" cy="131510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402560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692212"/>
            <a:ext cx="426720" cy="162351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33401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023905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042193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9800"/>
                </a:solidFill>
                <a:latin typeface="Calibri"/>
              </a:defRPr>
            </a:pPr>
            <a:r>
              <a:t>← 0.3123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4.631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4.18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0.1956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0.393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2012 · XZ Face · CLR zero-sum 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0.3126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4.39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680025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588585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09884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00740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38943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29799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97061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87917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261208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169768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680025"/>
            <a:ext cx="426720" cy="558791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25710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-0.79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288034"/>
            <a:ext cx="426720" cy="1391991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2344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1.96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177664"/>
            <a:ext cx="426720" cy="15023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1307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366012"/>
            <a:ext cx="426720" cy="31401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20142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680025"/>
            <a:ext cx="426720" cy="886729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58504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1840157"/>
            <a:ext cx="426720" cy="839867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167556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680025"/>
            <a:ext cx="426720" cy="973999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367231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680025"/>
            <a:ext cx="426720" cy="162871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32702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02296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04125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9800"/>
                </a:solidFill>
                <a:latin typeface="Calibri"/>
              </a:defRPr>
            </a:pPr>
            <a:r>
              <a:t>← 0.3126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4.390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4.18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0.1928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0.389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2013 · XZ Face · CLR zero-sum verified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0.3409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17.28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1684979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1593539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62130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52986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43778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434634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25426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416282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07074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397930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88722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379578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370370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" y="361226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52018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8600" y="342874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33666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00" y="324522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15314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8600" y="306170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296962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8600" y="287818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278610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269466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260258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8600" y="251114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241906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8600" y="232762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223554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28600" y="214410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205202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28600" y="196058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186850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28600" y="177706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150145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28600" y="141001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1317938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8600" y="1226498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1134418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8600" y="1042978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95089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28600" y="85945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4880" y="1455864"/>
            <a:ext cx="426720" cy="22911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" y="129127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54480" y="958287"/>
            <a:ext cx="426720" cy="7266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17320" y="79369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3.96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64080" y="914720"/>
            <a:ext cx="426720" cy="77025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6920" y="75012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4.20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73680" y="1228177"/>
            <a:ext cx="426720" cy="45680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36520" y="106358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2.49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1684979"/>
            <a:ext cx="426720" cy="2886699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46120" y="458996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-15.73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92879" y="1154103"/>
            <a:ext cx="426720" cy="530875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55720" y="98951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2.89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02479" y="1456486"/>
            <a:ext cx="426720" cy="228493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65320" y="129189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1.25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12079" y="1684979"/>
            <a:ext cx="426720" cy="55539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74920" y="175880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55080" y="293226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06640" y="295054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9800"/>
                </a:solidFill>
                <a:latin typeface="Calibri"/>
              </a:defRPr>
            </a:pPr>
            <a:r>
              <a:t>← 0.3409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17.277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3.94 / 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0.0192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0.424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2014 · XZ Face · CLR zero-sum verified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0.3097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4.52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667359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575919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05738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396594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36237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27093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97234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88090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27733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18589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667359"/>
            <a:ext cx="426720" cy="36902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05467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-0.53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293747"/>
            <a:ext cx="426720" cy="137361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2915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170466"/>
            <a:ext cx="426720" cy="1496893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0587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270403"/>
            <a:ext cx="426720" cy="39695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10581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0.57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667359"/>
            <a:ext cx="426720" cy="164857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433422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2133525"/>
            <a:ext cx="426720" cy="533834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196893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0.77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667359"/>
            <a:ext cx="426720" cy="2351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292084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667359"/>
            <a:ext cx="426720" cy="154850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23415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032273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050561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9800"/>
                </a:solidFill>
                <a:latin typeface="Calibri"/>
              </a:defRPr>
            </a:pPr>
            <a:r>
              <a:t>← 0.3097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4.522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4.20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0.1427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0.405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2015 · XZ Face · CLR zero-sum verified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0.3030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3.97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639914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548474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04859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395715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34425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25281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93557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84413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23123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13979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639914"/>
            <a:ext cx="426720" cy="62260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28080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-0.88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388558"/>
            <a:ext cx="426720" cy="1251355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22396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175130"/>
            <a:ext cx="426720" cy="1464783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1053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409793"/>
            <a:ext cx="426720" cy="230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24520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0.33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639914"/>
            <a:ext cx="426720" cy="828111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48631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2267373"/>
            <a:ext cx="426720" cy="372541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210278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0.53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639914"/>
            <a:ext cx="426720" cy="196731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285493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639914"/>
            <a:ext cx="426720" cy="1671355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32955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053533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071821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9800"/>
                </a:solidFill>
                <a:latin typeface="Calibri"/>
              </a:defRPr>
            </a:pPr>
            <a:r>
              <a:t>← 0.3030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3.967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4.26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0.1177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0.431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2016 · XZ Face · CLR zero-sum verified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0.3083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3.75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658742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567302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10459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01315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38167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29023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93581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84437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21288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12144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658742"/>
            <a:ext cx="426720" cy="67312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35015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-0.93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361156"/>
            <a:ext cx="426720" cy="1297586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9656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1.79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184424"/>
            <a:ext cx="426720" cy="147431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1983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2.04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462332"/>
            <a:ext cx="426720" cy="19641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29774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658742"/>
            <a:ext cx="426720" cy="528523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20555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-0.73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2658742"/>
            <a:ext cx="426720" cy="431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272017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658742"/>
            <a:ext cx="426720" cy="8029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275732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658742"/>
            <a:ext cx="426720" cy="16432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32026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03673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05501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F9800"/>
                </a:solidFill>
                <a:latin typeface="Calibri"/>
              </a:defRPr>
            </a:pPr>
            <a:r>
              <a:t>← 0.3083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3.747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4.21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0.0263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0.431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2017 · XZ Face · CLR zero-sum verified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0.2800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3.52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629909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538469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13538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04394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38264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29120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87717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78573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12443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03299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629909"/>
            <a:ext cx="426720" cy="715477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36367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358538"/>
            <a:ext cx="426720" cy="127137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9394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199328"/>
            <a:ext cx="426720" cy="14305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3473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482739"/>
            <a:ext cx="426720" cy="14716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31814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629909"/>
            <a:ext cx="426720" cy="229489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87768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2629909"/>
            <a:ext cx="426720" cy="183413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283161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629909"/>
            <a:ext cx="426720" cy="6357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271177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629909"/>
            <a:ext cx="426720" cy="165716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30535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127343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145631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0.2800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3.523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4.47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0.0384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0.411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2018 · XZ Face · CLR zero-sum verified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0.2686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3.47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611660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520220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14069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04925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37617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28473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84714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75570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082628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991188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611660"/>
            <a:ext cx="426720" cy="66933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29928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-0.88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337353"/>
            <a:ext cx="426720" cy="1274307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7276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205218"/>
            <a:ext cx="426720" cy="140644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4062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527818"/>
            <a:ext cx="426720" cy="8384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36322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263692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92879" y="2611660"/>
            <a:ext cx="426720" cy="432345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5720" y="306229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02479" y="2598072"/>
            <a:ext cx="426720" cy="135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5320" y="243348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2611660"/>
            <a:ext cx="426720" cy="16695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429946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163635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3181923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0.2686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3.468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4.58 / 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0.0042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0.398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2019 · XZ Face · CLR zero-sum verified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0.2801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3.46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694705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603265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6694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17550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48082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38938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90858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81714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112246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103102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694705"/>
            <a:ext cx="426720" cy="5662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27926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-0.72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361537"/>
            <a:ext cx="426720" cy="1333167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9694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216019"/>
            <a:ext cx="426720" cy="147868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5142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516149"/>
            <a:ext cx="426720" cy="178555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35155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694705"/>
            <a:ext cx="426720" cy="292903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00589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2694705"/>
            <a:ext cx="426720" cy="709547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342254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540716"/>
            <a:ext cx="426720" cy="153989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237612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694705"/>
            <a:ext cx="426720" cy="1575675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28866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126779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145067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0.2801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3.463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4.47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0.0977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0.405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2020 · XZ Face · CLR zero-sum verified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0.2468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3.27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627011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535571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6133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16989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44417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35273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80984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71840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99268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90124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627011"/>
            <a:ext cx="426720" cy="570571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21587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315151"/>
            <a:ext cx="426720" cy="13118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5055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231541"/>
            <a:ext cx="426720" cy="139547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6694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520923"/>
            <a:ext cx="426720" cy="1060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35633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627011"/>
            <a:ext cx="426720" cy="108757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75405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2627011"/>
            <a:ext cx="426720" cy="657739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330303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475516"/>
            <a:ext cx="426720" cy="15149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231092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627011"/>
            <a:ext cx="426720" cy="162784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27314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233392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2516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0.2468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3.266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4.79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0.0652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0.373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2021 · XZ Face · CLR zero-sum verified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0.2369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3.19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584479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493039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2071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12927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402598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311158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76636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67492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94824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85680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584479"/>
            <a:ext cx="426720" cy="53249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13526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294488"/>
            <a:ext cx="426720" cy="1289991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2989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1.58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232019"/>
            <a:ext cx="426720" cy="135245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6742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558486"/>
            <a:ext cx="426720" cy="25993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39389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584479"/>
            <a:ext cx="426720" cy="275845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87861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-0.34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2584479"/>
            <a:ext cx="426720" cy="376444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297921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-0.46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398236"/>
            <a:ext cx="426720" cy="18624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223364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584479"/>
            <a:ext cx="426720" cy="16699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27266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265122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28341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0.2369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3.192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4.89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0.0156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0.364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2022 · XZ Face · CLR zero-sum verified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0.2132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3.11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553904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462464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4177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15033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39783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30639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709970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618530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866036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774596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553904"/>
            <a:ext cx="426720" cy="47286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04506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295158"/>
            <a:ext cx="426720" cy="1258745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3056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1.49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244926"/>
            <a:ext cx="426720" cy="1308977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8033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542951"/>
            <a:ext cx="426720" cy="109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37835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510409"/>
            <a:ext cx="426720" cy="4349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34581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2553904"/>
            <a:ext cx="426720" cy="68948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326167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326154"/>
            <a:ext cx="426720" cy="227749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2161562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553904"/>
            <a:ext cx="426720" cy="1687569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25976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-2.00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34098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35927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0.2132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3.112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5.13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0.0065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0.345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2023 · XZ Face · CLR zero-sum verified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0.2099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3.09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597625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506185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342777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251337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470201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378761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725049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633609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852473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761033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80" y="2597625"/>
            <a:ext cx="426720" cy="433981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3049894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308788"/>
            <a:ext cx="426720" cy="1288837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14419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4080" y="1259247"/>
            <a:ext cx="426720" cy="1338377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920" y="1094655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1.53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3680" y="2543683"/>
            <a:ext cx="426720" cy="53941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379091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485688"/>
            <a:ext cx="426720" cy="111936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32109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2879" y="2597625"/>
            <a:ext cx="426720" cy="954975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3570889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2479" y="2372235"/>
            <a:ext cx="426720" cy="22539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5320" y="220764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2597625"/>
            <a:ext cx="426720" cy="162952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245440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351686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36997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0.2099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3.091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5.17 / 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0.0331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0.341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2024 · XZ Face · CLR zero-sum verified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XZ Face —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0.1978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2.99  ·  Dom: 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54864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588343"/>
            <a:ext cx="5486400" cy="0"/>
          </a:xfrm>
          <a:prstGeom prst="line">
            <a:avLst/>
          </a:prstGeom>
          <a:ln w="1270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496903"/>
            <a:ext cx="274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387825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" y="4296385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488084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8600" y="3396644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-1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688602"/>
            <a:ext cx="5486400" cy="0"/>
          </a:xfrm>
          <a:prstGeom prst="line">
            <a:avLst/>
          </a:prstGeom>
          <a:ln w="381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" y="159716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880" y="2588343"/>
            <a:ext cx="426720" cy="318321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720" y="292495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1293018"/>
            <a:ext cx="426720" cy="1295325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112842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1.44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4080" y="1272830"/>
            <a:ext cx="426720" cy="1315513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26920" y="110823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1.46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3680" y="2588343"/>
            <a:ext cx="426720" cy="51247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36520" y="265787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-0.06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422268"/>
            <a:ext cx="426720" cy="166075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2257676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2879" y="2588343"/>
            <a:ext cx="426720" cy="1012491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5720" y="3619123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02479" y="2357970"/>
            <a:ext cx="426720" cy="230373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5320" y="2193378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0.26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79" y="2588343"/>
            <a:ext cx="426720" cy="1625225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4231857"/>
            <a:ext cx="701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1E293B"/>
                </a:solidFill>
                <a:latin typeface="Calibri"/>
              </a:defRPr>
            </a:pPr>
            <a:r>
              <a:t>-1.81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811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0799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OFo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96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709160"/>
            <a:ext cx="792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40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Higgins Scale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954779"/>
            <a:ext cx="32004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3961637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634740"/>
            <a:ext cx="32004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7216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154679"/>
            <a:ext cx="32004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3215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2514600"/>
            <a:ext cx="32004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276148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1714500"/>
            <a:ext cx="32004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04139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074420"/>
            <a:ext cx="32004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132130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914400"/>
            <a:ext cx="32004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921258"/>
            <a:ext cx="13716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Hs-6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3390241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3408529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196F3"/>
                </a:solidFill>
                <a:latin typeface="Calibri"/>
              </a:defRPr>
            </a:pPr>
            <a:r>
              <a:t>← 0.1978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38912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d_A = 2.995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57200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N_eff = 5.30 /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7548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ρ = 0.0315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9377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Dominant: Gas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51206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Fraction: 0.328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2025 · XZ Face · CLR zero-sum verified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YZ Face — Side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Compositional fractions  ·  Metric tensor sensitivity  ·  Higgins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26 annual profiles  ·  Each composition's simplex fractions and g_jj values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0.2347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8.40  ·  Dom: Nuclear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50904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984" y="1097280"/>
            <a:ext cx="752787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3771" y="1097280"/>
            <a:ext cx="816804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60575" y="1097280"/>
            <a:ext cx="266906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27482" y="1097280"/>
            <a:ext cx="1008350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5832" y="1097280"/>
            <a:ext cx="577545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19" y="1828800"/>
            <a:ext cx="115403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7043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19" y="2157984"/>
            <a:ext cx="1706620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8260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0.2166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19" y="2487168"/>
            <a:ext cx="1851751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3391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0.2351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19" y="2816352"/>
            <a:ext cx="605096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96736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19" y="3145536"/>
            <a:ext cx="2286000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0.2902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19" y="3474720"/>
            <a:ext cx="1309335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00975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0.1662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4075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2427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1097280"/>
            <a:ext cx="650706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98778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2331720"/>
            <a:ext cx="289639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37711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20640" y="3154680"/>
            <a:ext cx="121437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69509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0" y="3566160"/>
            <a:ext cx="1491456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39528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3234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9997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2901:1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0" y="3272279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80" y="3290567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0.2347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2000 · YZ Face · Metric tensor g_jj = 1/x_j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0.2396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7.65  ·  Dom: Nuclear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51424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1504" y="1097280"/>
            <a:ext cx="814544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06049" y="1097280"/>
            <a:ext cx="822917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28967" y="1097280"/>
            <a:ext cx="26158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0547" y="1097280"/>
            <a:ext cx="1028294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8842" y="1097280"/>
            <a:ext cx="493551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19" y="1828800"/>
            <a:ext cx="114321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5961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19" y="2157984"/>
            <a:ext cx="1810813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2453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0.2344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19" y="2487168"/>
            <a:ext cx="1829427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1067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0.2368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19" y="2816352"/>
            <a:ext cx="581520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73160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19" y="3145536"/>
            <a:ext cx="2286000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0.2959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19" y="3474720"/>
            <a:ext cx="1097214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854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19" y="3803904"/>
            <a:ext cx="3565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95205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3422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1097280"/>
            <a:ext cx="727238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5310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2331720"/>
            <a:ext cx="332335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0407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3154680"/>
            <a:ext cx="178202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26274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566160"/>
            <a:ext cx="1569082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17154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2166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4333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1282:1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0" y="325666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80" y="327495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0.2396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2001 · YZ Face · Metric tensor g_jj = 1/x_j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0.2348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7.19  ·  Dom: Nuclear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53361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3441" y="1097280"/>
            <a:ext cx="832934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26376" y="1097280"/>
            <a:ext cx="796205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22581" y="1097280"/>
            <a:ext cx="253893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76475" y="1097280"/>
            <a:ext cx="989933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408" y="1097280"/>
            <a:ext cx="544926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19" y="1828800"/>
            <a:ext cx="123225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4865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19" y="2157984"/>
            <a:ext cx="19234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5092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0.2397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19" y="2487168"/>
            <a:ext cx="1838634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0274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0.2291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19" y="2816352"/>
            <a:ext cx="586303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77943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19" y="3145536"/>
            <a:ext cx="2286000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0.2849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19" y="3474720"/>
            <a:ext cx="1258369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0009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0.1568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19" y="3803904"/>
            <a:ext cx="5019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96659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19" y="4133087"/>
            <a:ext cx="2982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4622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1097280"/>
            <a:ext cx="763952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12024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2331720"/>
            <a:ext cx="355936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04008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3154680"/>
            <a:ext cx="156159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4231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3566160"/>
            <a:ext cx="1601199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49271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1599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2690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766:1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0" y="327181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80" y="329009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0.2348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2002 · YZ Face · Metric tensor g_jj = 1/x_j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0.2228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6.59  ·  Dom: Coal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56863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943" y="1097280"/>
            <a:ext cx="928826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769" y="1097280"/>
            <a:ext cx="868528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94298" y="1097280"/>
            <a:ext cx="294078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377" y="1097280"/>
            <a:ext cx="731714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091" y="1097280"/>
            <a:ext cx="589047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19" y="1828800"/>
            <a:ext cx="139949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1589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19" y="2157984"/>
            <a:ext cx="2286000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0.2673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19" y="2487168"/>
            <a:ext cx="2137597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9237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19" y="2816352"/>
            <a:ext cx="723777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15417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0.0846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19" y="3145536"/>
            <a:ext cx="180087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2512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0.2106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19" y="3474720"/>
            <a:ext cx="1449746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1386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0.1695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19" y="3803904"/>
            <a:ext cx="7435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99075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19" y="4133087"/>
            <a:ext cx="649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8136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1097280"/>
            <a:ext cx="827679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75751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2331720"/>
            <a:ext cx="340780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8852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3154680"/>
            <a:ext cx="134944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83016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3566160"/>
            <a:ext cx="1697347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45419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1150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352:1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0" y="3310154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80" y="332844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0.2228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2003 · YZ Face · Metric tensor g_jj = 1/x_j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0.2253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6.14  ·  Dom: Coal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55939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019" y="1097280"/>
            <a:ext cx="915453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1473" y="1097280"/>
            <a:ext cx="799143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10616" y="1097280"/>
            <a:ext cx="284097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4714" y="1097280"/>
            <a:ext cx="885949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0663" y="1097280"/>
            <a:ext cx="525737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19" y="1828800"/>
            <a:ext cx="139687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1327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19" y="2157984"/>
            <a:ext cx="2286000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0.2635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19" y="2487168"/>
            <a:ext cx="1995558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7198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19" y="2816352"/>
            <a:ext cx="709426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01066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0.0818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19" y="3145536"/>
            <a:ext cx="2212325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03965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0.2550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19" y="3474720"/>
            <a:ext cx="1312830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04470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0.1513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19" y="3803904"/>
            <a:ext cx="9828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01468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19" y="4133087"/>
            <a:ext cx="11144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02784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1097280"/>
            <a:ext cx="891160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9232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2331720"/>
            <a:ext cx="373056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21128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3154680"/>
            <a:ext cx="176825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24897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3566160"/>
            <a:ext cx="173736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85432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883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3977639"/>
            <a:ext cx="1697307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45379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779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233:1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0" y="330246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80" y="332075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0.2253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2004 · YZ Face · Metric tensor g_jj = 1/x_j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0.2276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5.84  ·  Dom: Coal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65361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5441" y="1097280"/>
            <a:ext cx="961893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67335" y="1097280"/>
            <a:ext cx="762674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30009" y="1097280"/>
            <a:ext cx="233723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63732" y="1097280"/>
            <a:ext cx="883061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6794" y="1097280"/>
            <a:ext cx="557337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04132" y="1097280"/>
            <a:ext cx="4911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09044" y="1097280"/>
            <a:ext cx="5755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55336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6976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286000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0.2768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1812543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4183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0.2195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555457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7097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0.0673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2098651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0291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0.2541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1324547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6187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0.1604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11673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03313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13678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05318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885255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3327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640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447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465765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13837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179664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27736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173736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5432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707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685171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33243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196:1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295089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313377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0.2276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2005 · YZ Face · Metric tensor g_jj = 1/x_j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0.2275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5.67  ·  Dom: Coal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64251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331" y="1097280"/>
            <a:ext cx="929118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33449" y="1097280"/>
            <a:ext cx="835711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9161" y="1097280"/>
            <a:ext cx="265031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4193" y="1097280"/>
            <a:ext cx="908079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42272" y="1097280"/>
            <a:ext cx="460202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02475" y="1097280"/>
            <a:ext cx="5968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08443" y="1097280"/>
            <a:ext cx="6356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58083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9723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285999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0.2674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056181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7821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0.2405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652083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43723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2234235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25875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0.2613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1132280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23920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0.1324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14684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06324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15639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07279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919471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67543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431741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79813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241814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89886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173736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5432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582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15684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63756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547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156:1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295342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31363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0.2275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2006 · YZ Face · Metric tensor g_jj = 1/x_j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0.2270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5.47  ·  Dom: Coal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65365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5445" y="1097280"/>
            <a:ext cx="934288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39734" y="1097280"/>
            <a:ext cx="874046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3780" y="1097280"/>
            <a:ext cx="219387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3168" y="1097280"/>
            <a:ext cx="821518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54686" y="1097280"/>
            <a:ext cx="545244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99930" y="1097280"/>
            <a:ext cx="6801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06732" y="1097280"/>
            <a:ext cx="8067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59935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51575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286000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0.2689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138599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02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0.2515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536793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28433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0.0631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2010074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1714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0.2364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1334094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5734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0.1569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16641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08281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19739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1379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938727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6799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511381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59453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190072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38144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173736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5432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67711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2518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137:1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296791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315079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0.2270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2007 · YZ Face · Metric tensor g_jj = 1/x_j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0.2323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5.38  ·  Dom: Coal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62496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2576" y="1097280"/>
            <a:ext cx="979567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143" y="1097280"/>
            <a:ext cx="953529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5673" y="1097280"/>
            <a:ext cx="22063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6303" y="1097280"/>
            <a:ext cx="738976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95279" y="1097280"/>
            <a:ext cx="503286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98566" y="1097280"/>
            <a:ext cx="7602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06169" y="1097280"/>
            <a:ext cx="8630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45846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7486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286000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0.2819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25236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6876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0.2744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514880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06520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0.0635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1724535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6175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0.2127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1174512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66152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0.1448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17742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09382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2014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1780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984077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2149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533025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81097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100783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48855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238134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86206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173736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5432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457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692035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40107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129:1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28004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29833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0.2323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2008 · YZ Face · Metric tensor g_jj = 1/x_j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0.2471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5.12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6341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3490" y="1097280"/>
            <a:ext cx="973403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76894" y="1097280"/>
            <a:ext cx="1012828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9722" y="1097280"/>
            <a:ext cx="219801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9524" y="1097280"/>
            <a:ext cx="856655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6180" y="1097280"/>
            <a:ext cx="328408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94588" y="1097280"/>
            <a:ext cx="9513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04101" y="1097280"/>
            <a:ext cx="1069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43121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4761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197015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8655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0.2801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0.2915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96102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87742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0.0633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1933511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5151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0.2465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741232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32872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0.0945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21471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13111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2414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5786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031314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9386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568637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6709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419187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67259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173736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5432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365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69365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41728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106:1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232556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25084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0.2471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2009 · YZ Face · Metric tensor g_jj = 1/x_j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0.2379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4.93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65614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5694" y="1097280"/>
            <a:ext cx="952358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58053" y="1097280"/>
            <a:ext cx="980131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8185" y="1097280"/>
            <a:ext cx="266005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4190" y="1097280"/>
            <a:ext cx="878749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82939" y="1097280"/>
            <a:ext cx="308085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91024" y="1097280"/>
            <a:ext cx="11962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02987" y="1097280"/>
            <a:ext cx="11812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53035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4675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221224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2864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0.2741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0.2821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620414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12054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2049541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1181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0.2529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718559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10199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0.0887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27901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19541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2755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9190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063164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1236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512797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869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7315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2122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455052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03124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1732389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0461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290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294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83:1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262034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28032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0.2379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2010 · YZ Face · Metric tensor g_jj = 1/x_j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0.2309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4.64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66429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509" y="1097280"/>
            <a:ext cx="897064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03573" y="1097280"/>
            <a:ext cx="1195257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8830" y="1097280"/>
            <a:ext cx="259581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58412" y="1097280"/>
            <a:ext cx="512711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71123" y="1097280"/>
            <a:ext cx="512522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83646" y="1097280"/>
            <a:ext cx="17118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00765" y="1097280"/>
            <a:ext cx="14034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27050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8690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1715688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7328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0.2582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0.3440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96464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88104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980591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2231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0.1476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980230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1870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0.1475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3274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24380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26842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8482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129676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7748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11218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6025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596914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44986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330854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78926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330998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79070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1659716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07788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248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85:1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28428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30257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0.2309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2011 · YZ Face · Metric tensor g_jj = 1/x_j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0.3123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4.63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6947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9550" y="1097280"/>
            <a:ext cx="1049435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58985" y="1097280"/>
            <a:ext cx="1367091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6076" y="1097280"/>
            <a:ext cx="242032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8109" y="1097280"/>
            <a:ext cx="56474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4583" y="1097280"/>
            <a:ext cx="652232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76815" y="1097280"/>
            <a:ext cx="23135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9951" y="1097280"/>
            <a:ext cx="1484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16166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7806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1754827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6467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0.3934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04717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96357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0.0697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94434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6074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1090638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2278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0.1877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38687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0327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24828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6468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144605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2677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101583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49655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665114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13186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1224170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72242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284290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32362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156699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15062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234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Anisotropy: 92:1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023905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042193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0.3123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2012 · YZ Face · Metric tensor g_jj = 1/x_j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0.3126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4.39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4045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25" y="1097280"/>
            <a:ext cx="1158122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2248" y="1097280"/>
            <a:ext cx="1353075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25324" y="1097280"/>
            <a:ext cx="25341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8734" y="1097280"/>
            <a:ext cx="46637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5372" y="1097280"/>
            <a:ext cx="531800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57173" y="1097280"/>
            <a:ext cx="41239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8412" y="1097280"/>
            <a:ext cx="16387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25099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6739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1956629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269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0.3333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0.3894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28132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19772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78794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70434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898468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90108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0.1530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69673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61313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27685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9325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143686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758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659387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07459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1325651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73723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367602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5674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1374076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22148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Anisotropy: 83:1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02296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04125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0.3126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2013 · YZ Face · Metric tensor g_jj = 1/x_j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0.3409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17.28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7261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341" y="1097280"/>
            <a:ext cx="1162686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80028" y="1097280"/>
            <a:ext cx="1474218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4247" y="1097280"/>
            <a:ext cx="267162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21410" y="1097280"/>
            <a:ext cx="400008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1418" y="1097280"/>
            <a:ext cx="7700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98419" y="1097280"/>
            <a:ext cx="16380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19" y="1828800"/>
            <a:ext cx="119806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11446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19" y="2157984"/>
            <a:ext cx="180292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4562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0.3346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0.4243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19" y="2816352"/>
            <a:ext cx="414276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5916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19" y="3474720"/>
            <a:ext cx="620274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11914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0.1151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19" y="3803904"/>
            <a:ext cx="11940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11040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19" y="4133087"/>
            <a:ext cx="25401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17041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1097280"/>
            <a:ext cx="1138487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6559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1508760"/>
            <a:ext cx="91658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9730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2331720"/>
            <a:ext cx="659468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7540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743200"/>
            <a:ext cx="1737360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85432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1e+09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3154680"/>
            <a:ext cx="503627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51699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3566160"/>
            <a:ext cx="1139796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87868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Anisotropy: 4.51e+08:1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0" y="293226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80" y="295054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0.3409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2014 · YZ Face · Metric tensor g_jj = 1/x_j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0.3097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4.52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9610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180" y="1097280"/>
            <a:ext cx="1179378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15558" y="1097280"/>
            <a:ext cx="1408278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3836" y="1097280"/>
            <a:ext cx="289312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3149" y="1097280"/>
            <a:ext cx="15246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28395" y="1097280"/>
            <a:ext cx="352288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80684" y="1097280"/>
            <a:ext cx="116507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7192" y="1097280"/>
            <a:ext cx="17607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55995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635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1914436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6076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0.3394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0.4053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69629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61269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0.0833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24749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16389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571855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63495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0.1014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189122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80762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0.0335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28581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20221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030618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8690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607536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55608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1737360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85432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531933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80005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956696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04768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68208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30158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197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Anisotropy: 92:1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032273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050561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0.3097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2015 · YZ Face · Metric tensor g_jj = 1/x_j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0.3030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3.97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7321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401" y="1097280"/>
            <a:ext cx="1106050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3451" y="1097280"/>
            <a:ext cx="1497523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0974" y="1097280"/>
            <a:ext cx="259468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80443" y="1097280"/>
            <a:ext cx="57754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8197" y="1097280"/>
            <a:ext cx="317614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5812" y="1097280"/>
            <a:ext cx="141543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7356" y="1097280"/>
            <a:ext cx="17443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18032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9672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1688407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0047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0.3183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0.4310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396084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7724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8816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79802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0.0166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484845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76485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0.0914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216068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7708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0.0407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26628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8268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156371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4443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118234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66306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683979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32051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1270219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8291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605081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53153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920447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68519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199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Anisotropy: 86:1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053533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071821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0.3030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2016 · YZ Face · Metric tensor g_jj = 1/x_j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0.3083  ·  Hs-3 POLARISED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3.75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6795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6875" y="1097280"/>
            <a:ext cx="1172813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89689" y="1097280"/>
            <a:ext cx="1497615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7304" y="1097280"/>
            <a:ext cx="255684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42989" y="1097280"/>
            <a:ext cx="93800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36790" y="1097280"/>
            <a:ext cx="183567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20358" y="1097280"/>
            <a:ext cx="174371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4729" y="1097280"/>
            <a:ext cx="20070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17223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8863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1790214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1854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0.3375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0.4310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390284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1924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143179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34819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280202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71842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0.0528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266165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57805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30635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22275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0.0058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196734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4806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98490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46562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712157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60229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1116150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4222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845654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93726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86636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14432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173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Anisotropy: 75:1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03673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980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055018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9800"/>
                </a:solidFill>
                <a:latin typeface="Calibri"/>
              </a:defRPr>
            </a:pPr>
            <a:r>
              <a:t>0.3083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2017 · YZ Face · Metric tensor g_jj = 1/x_j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0.2800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3.52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82622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702" y="1097280"/>
            <a:ext cx="1157223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9926" y="1097280"/>
            <a:ext cx="1429796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9723" y="1097280"/>
            <a:ext cx="259898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9621" y="1097280"/>
            <a:ext cx="157575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27197" y="1097280"/>
            <a:ext cx="167522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4720" y="1097280"/>
            <a:ext cx="196432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1152" y="1097280"/>
            <a:ext cx="23647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32098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3738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185020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1842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0.3330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0.4115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15533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7173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251936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43576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0.0453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267839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59479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0.0482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314061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05701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0.0565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37808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29448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207508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580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89581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7653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722128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70200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934060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2132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908135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56207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840708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88780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60:1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127343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145631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0.2800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2018 · YZ Face · Metric tensor g_jj = 1/x_j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0.2686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3.47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91562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642" y="1097280"/>
            <a:ext cx="1163669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5311" y="1097280"/>
            <a:ext cx="1383219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8531" y="1097280"/>
            <a:ext cx="245227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3759" y="1097280"/>
            <a:ext cx="217758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1518" y="1097280"/>
            <a:ext cx="124836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6354" y="1097280"/>
            <a:ext cx="223697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0051" y="1097280"/>
            <a:ext cx="2474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51321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2961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1923156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4796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0.3349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0.3981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05279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96919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35988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1522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0.0627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206312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97952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0.0359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369696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61336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0.0644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4090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2540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0.0071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172436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0508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463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270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747028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5100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798327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6399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1038580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86652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786709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34781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56:1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163635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181923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0.2686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2019 · YZ Face · Metric tensor g_jj = 1/x_j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0.2801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3.46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104375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4455" y="1097280"/>
            <a:ext cx="1169375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13831" y="1097280"/>
            <a:ext cx="1407168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0999" y="1097280"/>
            <a:ext cx="269205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90205" y="1097280"/>
            <a:ext cx="147782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37987" y="1097280"/>
            <a:ext cx="86985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24973" y="1097280"/>
            <a:ext cx="260922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5896" y="1097280"/>
            <a:ext cx="28903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169562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1202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1899695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335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0.3365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0.4050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37334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28974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240079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31719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0.0425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141311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32951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423879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15519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46955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8595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0.0083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163198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1270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8277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084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739530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87602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1007702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55774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1244695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92767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753504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01576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49:1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126779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145067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0.2801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2020 · YZ Face · Metric tensor g_jj = 1/x_j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0.2468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3.27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116834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914" y="1097280"/>
            <a:ext cx="1169557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6472" y="1097280"/>
            <a:ext cx="1295560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22032" y="1097280"/>
            <a:ext cx="26742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9453" y="1097280"/>
            <a:ext cx="205594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95047" y="1097280"/>
            <a:ext cx="105013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00061" y="1097280"/>
            <a:ext cx="28270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2761" y="1097280"/>
            <a:ext cx="3203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206153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97793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0.0336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063669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5309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0.3366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0.3729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71860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63500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362768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4408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0.0592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185295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6935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0.0302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498821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0461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0.0814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5653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48170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129793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7865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740947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89019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864409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12481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1179884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956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714854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62926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40:1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233392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2516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0.2468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2021 · YZ Face · Metric tensor g_jj = 1/x_j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0.2369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3.19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126323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6403" y="1097280"/>
            <a:ext cx="1172042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38445" y="1097280"/>
            <a:ext cx="1265040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3486" y="1097280"/>
            <a:ext cx="250009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3495" y="1097280"/>
            <a:ext cx="172872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26368" y="1097280"/>
            <a:ext cx="152870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9239" y="1097280"/>
            <a:ext cx="304105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3344" y="1097280"/>
            <a:ext cx="31455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228274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9914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0.0364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117947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9587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0.3373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0.3641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51781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3421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312391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04031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0.0498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276246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7886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0.0440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549535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1175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0.0875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56842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48482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0.0091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083539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1611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762499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10571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936007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4079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993835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1907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670382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18454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40:1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265122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28341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0.2369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2022 · YZ Face · Metric tensor g_jj = 1/x_j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0.2132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3.11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144997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5077" y="1097280"/>
            <a:ext cx="1128396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13473" y="1097280"/>
            <a:ext cx="1197598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11071" y="1097280"/>
            <a:ext cx="257239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8311" y="1097280"/>
            <a:ext cx="267352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5663" y="1097280"/>
            <a:ext cx="112173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7837" y="1097280"/>
            <a:ext cx="332585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0423" y="1097280"/>
            <a:ext cx="34376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276773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8413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0.0417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153905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5545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0.3247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0.3447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491024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82664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510327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01967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214118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5758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0.0323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634846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26486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0.0957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65619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57259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0.0099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033092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1164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752578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00650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733711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81783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1158680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6752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626882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74954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35:1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34098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35927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0.2132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2023 · YZ Face · Metric tensor g_jj = 1/x_j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0.2099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3.09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155276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356" y="1097280"/>
            <a:ext cx="1118355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13712" y="1097280"/>
            <a:ext cx="1183686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7398" y="1097280"/>
            <a:ext cx="271614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9013" y="1097280"/>
            <a:ext cx="290280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9294" y="1097280"/>
            <a:ext cx="85467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4761" y="1097280"/>
            <a:ext cx="330587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75348" y="1097280"/>
            <a:ext cx="39451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299879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1519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0.0447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159828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1468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0.3219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0.3407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524557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16197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560606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52246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0.0835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165058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56698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0.0246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638447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30087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0.0951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76191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67831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1037508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5580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751886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9958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717937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66009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1342489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0561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651523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99595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88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30:1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351686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369974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0.2099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2024 · YZ Face · Metric tensor g_jj = 1/x_j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YZ Face —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Hₛ = 0.1978  ·  Hs-2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731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0BED0"/>
                </a:solidFill>
                <a:latin typeface="Calibri"/>
              </a:defRPr>
            </a:pPr>
            <a:r>
              <a:t>d_A = 2.99  ·  Dom: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Simplex Fractions  x̃ = C(x)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365760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185298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5378" y="1097280"/>
            <a:ext cx="1113681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39059" y="1097280"/>
            <a:ext cx="1138952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8011" y="1097280"/>
            <a:ext cx="249336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7348" y="1097280"/>
            <a:ext cx="317457" cy="457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44805" y="1097280"/>
            <a:ext cx="85665" cy="4572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30470" y="1097280"/>
            <a:ext cx="340973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71444" y="1097280"/>
            <a:ext cx="43355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1051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19" y="1828800"/>
            <a:ext cx="371914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3554" y="18105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0.0533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3969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2157984"/>
            <a:ext cx="2235278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6918" y="213969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0.3205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6887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487168"/>
            <a:ext cx="2286000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468879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0.3278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98064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2816352"/>
            <a:ext cx="500445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2085" y="279806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0.0718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19" y="3145536"/>
            <a:ext cx="637170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8810" y="31272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0.0914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56432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OFoss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3474720"/>
            <a:ext cx="171939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63579" y="3456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0.0247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6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19" y="3803904"/>
            <a:ext cx="684371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6011" y="37856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0.0981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19" y="4133087"/>
            <a:ext cx="87019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78659" y="41148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0.0125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Metric Tensor  g_jj = 1/x_j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22960"/>
            <a:ext cx="210312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0789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Bio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1097280"/>
            <a:ext cx="965253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13325" y="10789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14904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508760"/>
            <a:ext cx="73152" cy="1645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1224" y="14904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9019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Gas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1920240"/>
            <a:ext cx="7315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1224" y="1901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231343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Hyd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331720"/>
            <a:ext cx="807468" cy="1645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55540" y="231343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72491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Nuc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743200"/>
            <a:ext cx="679076" cy="16459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27148" y="272491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13639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Oth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3154680"/>
            <a:ext cx="1375362" cy="164592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23434" y="313639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354787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3566160"/>
            <a:ext cx="641090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89162" y="354787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959352"/>
            <a:ext cx="548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1E293B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3977639"/>
            <a:ext cx="17373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39593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64748B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206240"/>
            <a:ext cx="19202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Anisotropy: 26:1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640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Hₛ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54779"/>
            <a:ext cx="274320" cy="1600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0" y="3634740"/>
            <a:ext cx="274320" cy="32004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0" y="3154679"/>
            <a:ext cx="274320" cy="4800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514600"/>
            <a:ext cx="27432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1714500"/>
            <a:ext cx="274320" cy="800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0" y="1074420"/>
            <a:ext cx="274320" cy="64007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0" y="914400"/>
            <a:ext cx="274320" cy="1600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390241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196F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0" y="3408529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196F3"/>
                </a:solidFill>
                <a:latin typeface="Calibri"/>
              </a:defRPr>
            </a:pPr>
            <a:r>
              <a:t>0.1978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846320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Japan EMBER · 2025 · YZ Face · Metric tensor g_jj = 1/x_j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Japan EMBER — 26-Year Trajectory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solidFill>
            <a:srgbClr val="252540"/>
          </a:solidFill>
          <a:ln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1520" y="2412598"/>
            <a:ext cx="7680960" cy="0"/>
          </a:xfrm>
          <a:prstGeom prst="line">
            <a:avLst/>
          </a:prstGeom>
          <a:ln w="63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0" y="2302870"/>
            <a:ext cx="6400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00" b="0">
                <a:solidFill>
                  <a:srgbClr val="2196F3"/>
                </a:solidFill>
                <a:latin typeface="Calibri"/>
              </a:defRPr>
            </a:pPr>
            <a:r>
              <a:t>0.30 Hs-2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412598"/>
            <a:ext cx="7680960" cy="0"/>
          </a:xfrm>
          <a:prstGeom prst="line">
            <a:avLst/>
          </a:prstGeom>
          <a:ln w="63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0" y="2302870"/>
            <a:ext cx="640080" cy="1371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00" b="0">
                <a:solidFill>
                  <a:srgbClr val="FF9800"/>
                </a:solidFill>
                <a:latin typeface="Calibri"/>
              </a:defRPr>
            </a:pPr>
            <a:r>
              <a:t>0.30 Hs-3</a:t>
            </a:r>
          </a:p>
        </p:txBody>
      </p:sp>
      <p:sp>
        <p:nvSpPr>
          <p:cNvPr id="9" name="Oval 8"/>
          <p:cNvSpPr/>
          <p:nvPr/>
        </p:nvSpPr>
        <p:spPr>
          <a:xfrm>
            <a:off x="882396" y="3183220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50207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FFFFFF"/>
                </a:solidFill>
                <a:latin typeface="Calibri"/>
              </a:defRPr>
            </a:pPr>
            <a:r>
              <a:t>2000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14400" y="3155284"/>
            <a:ext cx="292608" cy="59940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75004" y="3123280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207008" y="3155284"/>
            <a:ext cx="292608" cy="58141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467612" y="3181421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499616" y="3213425"/>
            <a:ext cx="292608" cy="147222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760220" y="3328643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1792224" y="3331138"/>
            <a:ext cx="292608" cy="29509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052828" y="3299134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2084832" y="3302804"/>
            <a:ext cx="292608" cy="28334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345436" y="3270800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950207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FFFFFF"/>
                </a:solidFill>
                <a:latin typeface="Calibri"/>
              </a:defRPr>
            </a:pPr>
            <a:r>
              <a:t>2005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3302804"/>
            <a:ext cx="292608" cy="973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638044" y="3271773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670048" y="3303777"/>
            <a:ext cx="292608" cy="5564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930652" y="3277337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2962656" y="3245053"/>
            <a:ext cx="292608" cy="64288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223260" y="3213049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3255264" y="3062704"/>
            <a:ext cx="292608" cy="182349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515868" y="3030700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547872" y="3062704"/>
            <a:ext cx="292608" cy="113185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808476" y="3143885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950207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FFFFFF"/>
                </a:solidFill>
                <a:latin typeface="Calibri"/>
              </a:defRPr>
            </a:pPr>
            <a:r>
              <a:t>2010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40480" y="3175889"/>
            <a:ext cx="292607" cy="85445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101083" y="3229330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4133087" y="2261568"/>
            <a:ext cx="292609" cy="999766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393692" y="2229564"/>
            <a:ext cx="64008" cy="6400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25696" y="2257972"/>
            <a:ext cx="292608" cy="3596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686300" y="2225968"/>
            <a:ext cx="64008" cy="6400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4718304" y="1909689"/>
            <a:ext cx="292608" cy="348283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978908" y="1877685"/>
            <a:ext cx="64008" cy="6400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5010912" y="1909689"/>
            <a:ext cx="292608" cy="384009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271516" y="2261694"/>
            <a:ext cx="64008" cy="6400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3950207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FFFFFF"/>
                </a:solidFill>
                <a:latin typeface="Calibri"/>
              </a:defRPr>
            </a:pPr>
            <a:r>
              <a:t>2015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03520" y="2293698"/>
            <a:ext cx="292608" cy="81631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564124" y="2343325"/>
            <a:ext cx="64008" cy="6400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5596128" y="2310811"/>
            <a:ext cx="292608" cy="64518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856732" y="2278807"/>
            <a:ext cx="64008" cy="6400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888736" y="2310811"/>
            <a:ext cx="292608" cy="347918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149340" y="2626725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6181344" y="2658729"/>
            <a:ext cx="292608" cy="139346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441948" y="2766071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6473952" y="2656565"/>
            <a:ext cx="292608" cy="141510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734556" y="2624561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3950207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FFFFFF"/>
                </a:solidFill>
                <a:latin typeface="Calibri"/>
              </a:defRPr>
            </a:pPr>
            <a:r>
              <a:t>2020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66560" y="2656565"/>
            <a:ext cx="292608" cy="409349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027164" y="3033910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059168" y="3065914"/>
            <a:ext cx="292607" cy="121832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319771" y="3155742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7351775" y="3187746"/>
            <a:ext cx="292608" cy="291293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612379" y="3447035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7644383" y="3479039"/>
            <a:ext cx="292609" cy="41075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904988" y="3488110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7936992" y="3520114"/>
            <a:ext cx="292608" cy="148036"/>
          </a:xfrm>
          <a:prstGeom prst="line">
            <a:avLst/>
          </a:prstGeom>
          <a:ln w="12700">
            <a:solidFill>
              <a:srgbClr val="809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197596" y="3636146"/>
            <a:ext cx="64008" cy="6400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0" y="3950207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0BED0"/>
                </a:solidFill>
                <a:latin typeface="Calibri"/>
              </a:defRPr>
            </a:pPr>
            <a:r>
              <a:t>Hₛ range: 0.1978 – 0.3409  ·  Ring transitions: Hs-2 → Hs-3 → Hs-2  ·  d_A range: 2.99 – 8.40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2014 anomaly: Nuclear → 0, d_A = 17.28, anisotropy 450,880,000:1  ·  Post-Fukushima Gas dominance → gradual diversification (Hₛ declining toward 0.20)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800600"/>
            <a:ext cx="7680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Hˢ Direct · Stage 1 Compositional Analysis · CoDaWork 2026 · Peter Higgins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